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e5eccd3a114721" /><Relationship Type="http://schemas.openxmlformats.org/officeDocument/2006/relationships/extended-properties" Target="/docProps/app.xml" Id="Rb3070936515a474f" /><Relationship Type="http://schemas.openxmlformats.org/officeDocument/2006/relationships/officeDocument" Target="/ppt/presentation.xml" Id="Raf73fdd85ed34e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a712e257544355"/>
  </p:sldMasterIdLst>
  <p:notesMasterIdLst>
    <p:notesMasterId xmlns:r="http://schemas.openxmlformats.org/officeDocument/2006/relationships" r:id="Re4a88c6871714d6f"/>
  </p:notesMasterIdLst>
  <p:sldIdLst>
    <p:sldId xmlns:r="http://schemas.openxmlformats.org/officeDocument/2006/relationships" id="256" r:id="Rdab4acc15a2f4dff"/>
    <p:sldId xmlns:r="http://schemas.openxmlformats.org/officeDocument/2006/relationships" id="257" r:id="R90f407ef30af4b8e"/>
    <p:sldId xmlns:r="http://schemas.openxmlformats.org/officeDocument/2006/relationships" id="258" r:id="Rccd15630b6824d87"/>
    <p:sldId xmlns:r="http://schemas.openxmlformats.org/officeDocument/2006/relationships" id="259" r:id="Rbbc27118d94e4b9d"/>
    <p:sldId xmlns:r="http://schemas.openxmlformats.org/officeDocument/2006/relationships" id="260" r:id="R9620ab07d7364b0f"/>
    <p:sldId xmlns:r="http://schemas.openxmlformats.org/officeDocument/2006/relationships" id="261" r:id="R67e4f14079b44196"/>
    <p:sldId xmlns:r="http://schemas.openxmlformats.org/officeDocument/2006/relationships" id="262" r:id="R702ba6bf1d264b70"/>
    <p:sldId xmlns:r="http://schemas.openxmlformats.org/officeDocument/2006/relationships" id="263" r:id="R91c99920a73f4b9f"/>
    <p:sldId xmlns:r="http://schemas.openxmlformats.org/officeDocument/2006/relationships" id="264" r:id="R357a1109c67e46a4"/>
    <p:sldId xmlns:r="http://schemas.openxmlformats.org/officeDocument/2006/relationships" id="265" r:id="Rc24dc74aa5804380"/>
    <p:sldId xmlns:r="http://schemas.openxmlformats.org/officeDocument/2006/relationships" id="266" r:id="Rba527e5739f244f0"/>
    <p:sldId xmlns:r="http://schemas.openxmlformats.org/officeDocument/2006/relationships" id="267" r:id="Rd547a3e0514442f4"/>
    <p:sldId xmlns:r="http://schemas.openxmlformats.org/officeDocument/2006/relationships" id="268" r:id="R95c11a458af54964"/>
    <p:sldId xmlns:r="http://schemas.openxmlformats.org/officeDocument/2006/relationships" id="269" r:id="Ra6a46aa43976449f"/>
    <p:sldId xmlns:r="http://schemas.openxmlformats.org/officeDocument/2006/relationships" id="270" r:id="R105ef85e0fbb4779"/>
    <p:sldId xmlns:r="http://schemas.openxmlformats.org/officeDocument/2006/relationships" id="271" r:id="R65e5f34801f54ac8"/>
    <p:sldId xmlns:r="http://schemas.openxmlformats.org/officeDocument/2006/relationships" id="272" r:id="R1c9d5582608f44b0"/>
    <p:sldId xmlns:r="http://schemas.openxmlformats.org/officeDocument/2006/relationships" id="273" r:id="R476300bebea84f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195e5a6026421a" /><Relationship Type="http://schemas.openxmlformats.org/officeDocument/2006/relationships/slideMaster" Target="/ppt/slideMasters/slideMaster1.xml" Id="R79a712e257544355" /><Relationship Type="http://schemas.openxmlformats.org/officeDocument/2006/relationships/notesMaster" Target="/ppt/notesMasters/notesMaster1.xml" Id="Re4a88c6871714d6f" /><Relationship Type="http://schemas.openxmlformats.org/officeDocument/2006/relationships/presProps" Target="/ppt/presProps.xml" Id="R97e5e5ec5e344a28" /><Relationship Type="http://schemas.openxmlformats.org/officeDocument/2006/relationships/tableStyles" Target="/ppt/tableStyles.xml" Id="R94650baf88fb422f" /><Relationship Type="http://schemas.openxmlformats.org/officeDocument/2006/relationships/slide" Target="/ppt/slides/slide1.xml" Id="Rdab4acc15a2f4dff" /><Relationship Type="http://schemas.openxmlformats.org/officeDocument/2006/relationships/slide" Target="/ppt/slides/slide2.xml" Id="R90f407ef30af4b8e" /><Relationship Type="http://schemas.openxmlformats.org/officeDocument/2006/relationships/slide" Target="/ppt/slides/slide3.xml" Id="Rccd15630b6824d87" /><Relationship Type="http://schemas.openxmlformats.org/officeDocument/2006/relationships/slide" Target="/ppt/slides/slide4.xml" Id="Rbbc27118d94e4b9d" /><Relationship Type="http://schemas.openxmlformats.org/officeDocument/2006/relationships/slide" Target="/ppt/slides/slide5.xml" Id="R9620ab07d7364b0f" /><Relationship Type="http://schemas.openxmlformats.org/officeDocument/2006/relationships/slide" Target="/ppt/slides/slide6.xml" Id="R67e4f14079b44196" /><Relationship Type="http://schemas.openxmlformats.org/officeDocument/2006/relationships/slide" Target="/ppt/slides/slide7.xml" Id="R702ba6bf1d264b70" /><Relationship Type="http://schemas.openxmlformats.org/officeDocument/2006/relationships/slide" Target="/ppt/slides/slide8.xml" Id="R91c99920a73f4b9f" /><Relationship Type="http://schemas.openxmlformats.org/officeDocument/2006/relationships/slide" Target="/ppt/slides/slide9.xml" Id="R357a1109c67e46a4" /><Relationship Type="http://schemas.openxmlformats.org/officeDocument/2006/relationships/slide" Target="/ppt/slides/slide10.xml" Id="Rc24dc74aa5804380" /><Relationship Type="http://schemas.openxmlformats.org/officeDocument/2006/relationships/slide" Target="/ppt/slides/slide11.xml" Id="Rba527e5739f244f0" /><Relationship Type="http://schemas.openxmlformats.org/officeDocument/2006/relationships/slide" Target="/ppt/slides/slide12.xml" Id="Rd547a3e0514442f4" /><Relationship Type="http://schemas.openxmlformats.org/officeDocument/2006/relationships/slide" Target="/ppt/slides/slide13.xml" Id="R95c11a458af54964" /><Relationship Type="http://schemas.openxmlformats.org/officeDocument/2006/relationships/slide" Target="/ppt/slides/slide14.xml" Id="Ra6a46aa43976449f" /><Relationship Type="http://schemas.openxmlformats.org/officeDocument/2006/relationships/slide" Target="/ppt/slides/slide15.xml" Id="R105ef85e0fbb4779" /><Relationship Type="http://schemas.openxmlformats.org/officeDocument/2006/relationships/slide" Target="/ppt/slides/slide16.xml" Id="R65e5f34801f54ac8" /><Relationship Type="http://schemas.openxmlformats.org/officeDocument/2006/relationships/slide" Target="/ppt/slides/slide17.xml" Id="R1c9d5582608f44b0" /><Relationship Type="http://schemas.openxmlformats.org/officeDocument/2006/relationships/slide" Target="/ppt/slides/slide18.xml" Id="R476300bebea84f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addabba74545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186ad8de304f84" /><Relationship Type="http://schemas.openxmlformats.org/officeDocument/2006/relationships/notesMaster" Target="/ppt/notesMasters/notesMaster1.xml" Id="Rf019795db8d64c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9825311c9e48b4" /><Relationship Type="http://schemas.openxmlformats.org/officeDocument/2006/relationships/notesMaster" Target="/ppt/notesMasters/notesMaster1.xml" Id="Rde9dc303bd934e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62060b7fcc4836" /><Relationship Type="http://schemas.openxmlformats.org/officeDocument/2006/relationships/notesMaster" Target="/ppt/notesMasters/notesMaster1.xml" Id="R447a7581d8b641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3cdcd57fba4d6e" /><Relationship Type="http://schemas.openxmlformats.org/officeDocument/2006/relationships/notesMaster" Target="/ppt/notesMasters/notesMaster1.xml" Id="Re739de3fb99c4c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934aa2510a4693" /><Relationship Type="http://schemas.openxmlformats.org/officeDocument/2006/relationships/notesMaster" Target="/ppt/notesMasters/notesMaster1.xml" Id="R472eef1a56aa4d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7fdda2bc114a74" /><Relationship Type="http://schemas.openxmlformats.org/officeDocument/2006/relationships/notesMaster" Target="/ppt/notesMasters/notesMaster1.xml" Id="R4c45df67df4647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803b3f5a6944fa" /><Relationship Type="http://schemas.openxmlformats.org/officeDocument/2006/relationships/notesMaster" Target="/ppt/notesMasters/notesMaster1.xml" Id="R7fec326847574f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fd382bc87d43dd" /><Relationship Type="http://schemas.openxmlformats.org/officeDocument/2006/relationships/notesMaster" Target="/ppt/notesMasters/notesMaster1.xml" Id="Rce9da34dc0434c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529ee3e98346f8" /><Relationship Type="http://schemas.openxmlformats.org/officeDocument/2006/relationships/notesMaster" Target="/ppt/notesMasters/notesMaster1.xml" Id="R9d83c1c333ef4f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8aa16b95d24197" /><Relationship Type="http://schemas.openxmlformats.org/officeDocument/2006/relationships/notesMaster" Target="/ppt/notesMasters/notesMaster1.xml" Id="R18f416a5ba9742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ae7a2a162d414f" /><Relationship Type="http://schemas.openxmlformats.org/officeDocument/2006/relationships/notesMaster" Target="/ppt/notesMasters/notesMaster1.xml" Id="Rd5e3097c381146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f49e6bfdb74432" /><Relationship Type="http://schemas.openxmlformats.org/officeDocument/2006/relationships/notesMaster" Target="/ppt/notesMasters/notesMaster1.xml" Id="R62fa79fca23042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fbd10900374e8d" /><Relationship Type="http://schemas.openxmlformats.org/officeDocument/2006/relationships/notesMaster" Target="/ppt/notesMasters/notesMaster1.xml" Id="Re4bd890bb2164d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b47af1632a4d3b" /><Relationship Type="http://schemas.openxmlformats.org/officeDocument/2006/relationships/notesMaster" Target="/ppt/notesMasters/notesMaster1.xml" Id="R9b0266407ae640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e29fc0ccac413d" /><Relationship Type="http://schemas.openxmlformats.org/officeDocument/2006/relationships/notesMaster" Target="/ppt/notesMasters/notesMaster1.xml" Id="R18e5efcdae6f473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42e3dfae8a4452" /><Relationship Type="http://schemas.openxmlformats.org/officeDocument/2006/relationships/notesMaster" Target="/ppt/notesMasters/notesMaster1.xml" Id="Rc16157df73174bd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9ecc6380a14d75" /><Relationship Type="http://schemas.openxmlformats.org/officeDocument/2006/relationships/notesMaster" Target="/ppt/notesMasters/notesMaster1.xml" Id="Rfc98f5e866cf4a8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cfb14261ee482c" /><Relationship Type="http://schemas.openxmlformats.org/officeDocument/2006/relationships/notesMaster" Target="/ppt/notesMasters/notesMaster1.xml" Id="Ree5dbffb2f5144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README.md. Opening slide. Present the platform as a compact SOC that turns real honeypot activity into usable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Overview and Security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Feature highlights, Reports &amp; compliance,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Feature highlights; docker-compose.yml sensor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Architecture and docker-compose.yml.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docker-compose.yml security model comments; README.md Architecture and Security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Feature highlights and Project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Feature highlights, Reports &amp; compliance; backend/detections/*.yml.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Dashboard and Reports &amp; compliance.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Feature highlights; backend/app/ai_engine/gnn_profiler.py; backend/ai_engine/mitre_map.py.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Feature highlights and Reports &amp; compliance.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Analysis tools and Tech stack; backend/requirements.txt.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Analysis tools and Tech stack; docker-compose.yml VM Lab comments.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Dashboard and Quick start; frontend/*.html.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docker-compose.yml Security model; README.md Security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Tech stack and Project structure; backend/requirements.txt.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Quick start, Local mode vs AWS mode, docker-compose.yml.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Quick start, Feature highlights,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557b1b7b24b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053be90a4441ed" /><Relationship Type="http://schemas.openxmlformats.org/officeDocument/2006/relationships/slideLayout" Target="/ppt/slideLayouts/slideLayout1.xml" Id="R254418629f834a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4418629f834a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72a534ad34d2a" /><Relationship Type="http://schemas.openxmlformats.org/officeDocument/2006/relationships/image" Target="/ppt/media/image.jpeg" Id="Rf29875d8311845b8" /><Relationship Type="http://schemas.openxmlformats.org/officeDocument/2006/relationships/notesSlide" Target="/ppt/notesSlides/notesSlide1.xml" Id="R79bc57fa8e7142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3b7722b0e4014" /><Relationship Type="http://schemas.openxmlformats.org/officeDocument/2006/relationships/image" Target="/ppt/media/image.png" Id="Rd82f6f52b4fd46e2" /><Relationship Type="http://schemas.openxmlformats.org/officeDocument/2006/relationships/notesSlide" Target="/ppt/notesSlides/notesSlide2.xml" Id="Re2b8eb6cc39a46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4ce6f11b74e5d" /><Relationship Type="http://schemas.openxmlformats.org/officeDocument/2006/relationships/notesSlide" Target="/ppt/notesSlides/notesSlide3.xml" Id="R4a4a6ec380314b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ecae213f94e22" /><Relationship Type="http://schemas.openxmlformats.org/officeDocument/2006/relationships/notesSlide" Target="/ppt/notesSlides/notesSlide4.xml" Id="R0cb0188e27d34a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c1d49a86c472c" /><Relationship Type="http://schemas.openxmlformats.org/officeDocument/2006/relationships/image" Target="/ppt/media/image2.jpeg" Id="Rbdf832f8e1a34656" /><Relationship Type="http://schemas.openxmlformats.org/officeDocument/2006/relationships/notesSlide" Target="/ppt/notesSlides/notesSlide5.xml" Id="Re69a481abdd641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eab3f9afc4cc7" /><Relationship Type="http://schemas.openxmlformats.org/officeDocument/2006/relationships/notesSlide" Target="/ppt/notesSlides/notesSlide6.xml" Id="Rf207c5057de245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81903e90a42dc" /><Relationship Type="http://schemas.openxmlformats.org/officeDocument/2006/relationships/notesSlide" Target="/ppt/notesSlides/notesSlide7.xml" Id="R9e4591e47d4547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d62bbbba2412a" /><Relationship Type="http://schemas.openxmlformats.org/officeDocument/2006/relationships/notesSlide" Target="/ppt/notesSlides/notesSlide8.xml" Id="Rb5100e68f9414d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d28e1b06b4d40" /><Relationship Type="http://schemas.openxmlformats.org/officeDocument/2006/relationships/notesSlide" Target="/ppt/notesSlides/notesSlide9.xml" Id="R5c61a4978b0e4b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c6e74dcdc467f" /><Relationship Type="http://schemas.openxmlformats.org/officeDocument/2006/relationships/notesSlide" Target="/ppt/notesSlides/notesSlide10.xml" Id="Re273b55ae76743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c16dc2a1e45ee" /><Relationship Type="http://schemas.openxmlformats.org/officeDocument/2006/relationships/notesSlide" Target="/ppt/notesSlides/notesSlide11.xml" Id="R5297985b9c034b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af7494cb04743" /><Relationship Type="http://schemas.openxmlformats.org/officeDocument/2006/relationships/image" Target="/ppt/media/image3.jpeg" Id="R98ba4e83f6464caa" /><Relationship Type="http://schemas.openxmlformats.org/officeDocument/2006/relationships/notesSlide" Target="/ppt/notesSlides/notesSlide12.xml" Id="R130044e6657749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6474bb4754b90" /><Relationship Type="http://schemas.openxmlformats.org/officeDocument/2006/relationships/notesSlide" Target="/ppt/notesSlides/notesSlide13.xml" Id="Raeb550d4da1a49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72ae8c6674f45" /><Relationship Type="http://schemas.openxmlformats.org/officeDocument/2006/relationships/image" Target="/ppt/media/image2.png" Id="Ra0d8ae0733d14aec" /><Relationship Type="http://schemas.openxmlformats.org/officeDocument/2006/relationships/notesSlide" Target="/ppt/notesSlides/notesSlide14.xml" Id="R093ce08bb1f440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aa2675db1486b" /><Relationship Type="http://schemas.openxmlformats.org/officeDocument/2006/relationships/notesSlide" Target="/ppt/notesSlides/notesSlide15.xml" Id="Re8ee215fb78040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8ec0f86984ed6" /><Relationship Type="http://schemas.openxmlformats.org/officeDocument/2006/relationships/notesSlide" Target="/ppt/notesSlides/notesSlide16.xml" Id="R4eb480cae464465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a17c3987c4a5b" /><Relationship Type="http://schemas.openxmlformats.org/officeDocument/2006/relationships/notesSlide" Target="/ppt/notesSlides/notesSlide17.xml" Id="Rb46b5c1d6a534dd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c9c76260845c9" /><Relationship Type="http://schemas.openxmlformats.org/officeDocument/2006/relationships/notesSlide" Target="/ppt/notesSlides/notesSlide18.xml" Id="R2fcb993e77b54c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875d8311845b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D1021-D018-42D8-B3CC-122F0696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827">
                  <a:alpha val="96000"/>
                </a:srgbClr>
              </a:gs>
              <a:gs pos="70000">
                <a:srgbClr val="061827">
                  <a:alpha val="64000"/>
                </a:srgbClr>
              </a:gs>
              <a:gs pos="100000">
                <a:srgbClr val="061827">
                  <a:alpha val="6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E3F51-7BE9-4563-A562-22DC9800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2714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36D1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AECFE-33A7-45F7-A2A4-E3952E66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5350"/>
            <a:ext cx="2562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HONEYPOT-DRIVEN SOC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D6207-2997-4A0B-BB28-D5E19C1B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500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Shadow Trust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21A99-3284-4AC9-BE4D-E82E53B3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0">
                <a:solidFill>
                  <a:srgbClr val="8FD0E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FD0EA"/>
                </a:solidFill>
                <a:latin typeface="Arial"/>
                <a:ea typeface="Arial"/>
                <a:cs typeface="Arial"/>
              </a:rPr>
              <a:t>Deception, detection, investigation and compliance in one local-first security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247A9-4086-4154-A8C0-A8235DE9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8FDC7-AFD2-42B1-A047-6F8F87C5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Project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DA13A-C403-4253-A50D-9C999D2A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561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Real telemetry. Explainable detections. Evidence-ready operations.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F0F8C-4802-4182-83D5-12F5D103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2293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77895506"/>
      </p:ext>
    </p:extLst>
  </p:cSld>
  <p:transition spd="med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C19745-90BE-48C9-B269-89223219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Why Shadow 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8CCE2-99D0-44B0-ADD2-CAB04B9D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36A0A-2E6D-4318-9DAC-2ABBB9CE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Security teams need actionable evidence from attack activity, not a dashboard built on simulated numbers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08711-4A22-4919-8732-052F3BB9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0301A-D52D-417F-8872-3F3ACDC7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F7615-FD38-446F-8B0B-40855F4D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f6f52b4fd46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1752600"/>
            <a:ext cx="3086100" cy="308610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D094D-5480-405E-87D2-0CDA3D8D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476750" cy="19431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C2A38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1A7B0-A191-43DB-B186-997E8453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50443-D8AB-4095-8DE3-3D44CBEB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13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The operational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F36A7-3BFF-4D02-872F-52FBBC16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41338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Internet-facing services receive noisy scans, password attacks and payload attempts. Teams need a safe way to observe attacker behavior and turn it into cases they can investigate.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508FD-492E-4D9B-A974-123A3439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47675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9F109-5CF3-43E2-A733-BB139954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F4441-3041-4C37-A5EA-13C075BD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13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The platform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2F5BA-591F-44DD-B344-B0DF8439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4133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runs real honeypots, normalizes their logs, applies rules and correlations, then exposes incident evidence, ATT&amp;CK coverage and reports to analysts.</a:t>
            </a:r>
          </a:p>
        </p:txBody>
      </p: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H="1">
            <a:off x="381000" y="2819400"/>
            <a:ext cx="4933950" cy="21431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5318B-CD6A-4DCD-A383-13117A4F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Design principle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E29405-2505-4814-8C7B-B7DE4438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Every metric traces to a real query or a real engine. When an external capability has not been configured, the interface reports that state instead of fabricating output.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C08C7-0866-450C-A2D2-FA47FD0A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8625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1CB6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6D226-64C4-40EA-81E2-7D6697A9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434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LOCAL-FIRST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AB9036-9814-4BCF-80E7-F381BA8E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CB6C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264425-4F52-494C-8D94-DC2A00B1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4340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EVIDENCE-READY</a:t>
            </a:r>
          </a:p>
        </p:txBody>
      </p:sp>
    </p:spTree>
    <p:extLst>
      <p:ext uri="{BB962C8B-B14F-4D97-AF65-F5344CB8AC3E}">
        <p14:creationId xmlns:p14="http://schemas.microsoft.com/office/powerpoint/2010/main" val="1672377009"/>
      </p:ext>
    </p:extLst>
  </p:cSld>
  <p:transition spd="med" advClick="1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A40C85-ADB2-4289-B87C-52610BE3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Platform at a glance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F24BD-04C0-4F29-904F-D479D4F5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67BB0-B59C-4B02-BFB2-11CCE7C0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 single laptop deployment combines deception, detection, investigation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1A735-E9D0-47FC-8707-054E7FE3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20015-5E3D-487F-BF83-28862BE1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C0373-5DDE-48C8-A3CC-EA6ED8C1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FA143-A96B-40D5-AB48-D62774C7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E6A7D-DB74-49C3-995C-773293F2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attack-facing sensors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EBFBC-E415-4B20-A723-5BE1476D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9FE87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9FE870"/>
                </a:solidFill>
                <a:latin typeface="Arial"/>
                <a:ea typeface="Arial"/>
                <a:cs typeface="Arial"/>
              </a:rPr>
              <a:t>133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674B6-E7EC-47C4-B745-FE2F930B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automated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960D0-80F7-4D08-A82B-A0CCEE52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CB6CE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CB6CE6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EA81D-6E7E-4177-B4B1-5D14D9D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860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SOC 2 criteria mapped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BB3DA-B2FC-46A4-B1E4-723435EC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D68718-B54D-4E4C-991D-066E5BAC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live evidence collectors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D121B-6C48-4236-B261-2E1CBB2D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74E733-25AD-4A57-BE3A-EA9E5259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04800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28CB2F-2087-49BD-B07A-2BEBAFA0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7F2DD-830D-4A27-BFF2-3D21F915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Deception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5F1B1-FB06-4338-A2E7-B386E346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705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Cowrie, Dionaea and Honeytrap capture session activity, credentials, payloads and connection attempts.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36DC4-5987-42AE-BA03-E24C733F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76625"/>
            <a:ext cx="304800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2CB373-8C7E-4024-8E6D-420AF02B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76625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5A7A37-6081-46F5-B205-1037F5AF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4807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E22B0A-DEEB-4954-B00F-1CE50D61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2705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YAML and Sigma-compatible rules generate explainable detections, incidents and validation results.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9FA43-75AD-4AFB-8686-78541B09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304800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02C41E-1F8E-49AC-A6A1-D54ADA15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E0BFEA-306A-467D-B3F3-B8388308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4807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Investigation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127EA5-0F5D-4716-9A12-469CC24E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2705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Behavior profiling, MITRE mapping, malware tools, labs, reports and compliance evidence support analysts.</a:t>
            </a:r>
          </a:p>
        </p:txBody>
      </p:sp>
      <p:cxnSp>
        <p:nvCxnSpPr>
          <p:cNvPr id="57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657600" y="44196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467600" y="44196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</p:spTree>
    <p:extLst>
      <p:ext uri="{BB962C8B-B14F-4D97-AF65-F5344CB8AC3E}">
        <p14:creationId xmlns:p14="http://schemas.microsoft.com/office/powerpoint/2010/main" val="71099507"/>
      </p:ext>
    </p:extLst>
  </p:cSld>
  <p:transition spd="med" advClick="1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F98330-3029-4561-8196-E7E18F47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Attack-facing sensor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D7A38-36C2-4DF7-AA82-1B276C54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883FA-2AF1-425E-8D1E-CAC84447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Three specialized honeypots receive attacker traffic while keeping the application network out of reach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43D90-917D-44A6-BDBC-BFCB4A59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5A4E1-1F3B-4CEB-9B7A-71BB82D3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034B2-2C77-4EE3-936F-3CD3BE2E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576EE-4A58-42AB-82C8-145025FC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400050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222834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9ADBD-5CA5-40A6-866E-C254438C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D12BA-A593-484B-88D0-65A4C97A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90700"/>
            <a:ext cx="3657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Internet / controlled test traffic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E4871-7DB0-4A23-BF1E-A6E55949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3657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Scans, brute-force attempts, service probes and payload delivery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B6764-9F1A-4945-B0C4-FB1CCBE8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857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81EAF-B7CD-4070-A522-BEF5C239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AC755-249E-4929-84BA-FB199A06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2514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Cowrie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2AFDC-B659-4809-A8AE-837F93A3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2514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SSH / Telnet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Commands, sessions and captured credentials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F7A0A-BA68-48A7-B737-0E14A61B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857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72A07-9F79-486E-87FC-8F478BFD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AD2CC5-F4F5-479E-BBC0-89CAA7E8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2514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Dionaea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F6772-B0F3-4D1D-865F-B49CD6E8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48125"/>
            <a:ext cx="2514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SMB / FTP / MSSQL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Malware-capture and connection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CB7BB-8BBE-4C10-B81D-24087933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24250"/>
            <a:ext cx="2857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E128E-9AF8-4207-98D0-56CB8EFF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242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C44EF2-014E-41CA-80B4-41971C13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95700"/>
            <a:ext cx="2514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Honeytrap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E89B3B-E9A3-4EE3-AD68-5393B54F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48125"/>
            <a:ext cx="2514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Multi-port services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Additional reconnaissance and probe coverage</a:t>
            </a:r>
          </a:p>
        </p:txBody>
      </p:sp>
      <p:cxnSp>
        <p:nvCxnSpPr>
          <p:cNvPr id="49" name=""/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2038350" y="2428875"/>
            <a:ext cx="405765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6B"/>
            </a:solidFill>
            <a:prstDash val="solid"/>
            <a:head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7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096000" y="242887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6B"/>
            </a:solidFill>
            <a:prstDash val="solid"/>
            <a:head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096000" y="2428875"/>
            <a:ext cx="405765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6B"/>
            </a:solidFill>
            <a:prstDash val="solid"/>
            <a:head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59CE1C-D402-4229-AF11-0CCB7CF8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9117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3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8FD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FD0EA"/>
                </a:solidFill>
                <a:latin typeface="Arial"/>
                <a:ea typeface="Arial"/>
                <a:cs typeface="Arial"/>
              </a:rPr>
              <a:t>Sensor outputs are written as newline-delimited JSON for collection. The sensors live only on the isolated honeynet_edge network.</a:t>
            </a:r>
          </a:p>
        </p:txBody>
      </p:sp>
    </p:spTree>
    <p:extLst>
      <p:ext uri="{BB962C8B-B14F-4D97-AF65-F5344CB8AC3E}">
        <p14:creationId xmlns:p14="http://schemas.microsoft.com/office/powerpoint/2010/main" val="124879809"/>
      </p:ext>
    </p:extLst>
  </p:cSld>
  <p:transition spd="med" advClick="1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BABCAE-87E9-4562-ADBF-46A94B89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A26CC-699C-4ADA-BA02-F0A077CD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3BB9B-23D5-437C-9AC3-B4E2EDAC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The local-first path moves from isolated telemetry to an authenticated analyst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DF650-EC76-47D9-A627-D43BAC1A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72D7A-D19E-44EC-9011-DAB6C515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FCA1E-22BF-4FE6-9D07-CFABBBB2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832f8e1a346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53450" y="1714500"/>
            <a:ext cx="2428875" cy="2428875"/>
          </a:xfrm>
          <a:prstGeom xmlns:a="http://schemas.openxmlformats.org/drawingml/2006/main" prst="roundRect">
            <a:avLst>
              <a:gd name="adj" fmla="val 627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05C74-0564-4877-A6A5-9C617647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7BA06-71F7-4239-8346-677F2527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5B125-9F9C-4272-A045-045028D2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4575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Honeynet 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135F7-8FE2-4E24-864E-D73648B3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Cowrie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Dionaea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Honeytrap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4F96A-EC9E-4A3E-936D-5F6A7C8B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43125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F8194-97EB-457D-849F-FE28A56D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431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6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BD5DE-C87E-4EBA-8083-276EE8FB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14575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Raw telemetry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7A260-E55B-4ED3-AF0D-F31A8D0D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67000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Read-only log mount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telemetry/raw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16B51-6608-48B8-AA80-E0085222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52625"/>
            <a:ext cx="2190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DBA0D-129E-400A-8753-FE199166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5262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6CA80D-09A6-4EAB-BDE6-B2F32B67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24075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FastAPI backend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360F25-E65D-4907-8458-4B55425D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76500"/>
            <a:ext cx="18478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Collector, normalizer, detection engine, incidents, reports and APIs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5EBEA-35D3-45AE-95B4-CA10411D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762500"/>
            <a:ext cx="2190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98D6B-F175-47D1-A313-CE5936B6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7625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D8DAB6-5E7E-43FB-ADFA-AD6BD380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33950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MariaDB 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BFCB5A-ED5D-478F-9B2E-6ADB5AC8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86375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4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Application data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Events, sessions, evidence and users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199767-3A8A-4B0D-93C6-7C4B4903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19625"/>
            <a:ext cx="238125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6D92A-3FA7-4BD3-B4BB-D8DBB5A6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19625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B5623B-3C52-4D44-9190-ED139050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91075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Operator UI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18A3F3-1094-4434-8B70-676E1ED4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43500"/>
            <a:ext cx="2038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Nginx-served dashboard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Authenticated REST + SSE</a:t>
            </a:r>
          </a:p>
        </p:txBody>
      </p:sp>
      <p:cxnSp>
        <p:nvCxnSpPr>
          <p:cNvPr id="60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419350" y="29527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010150" y="29527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6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886575" y="395287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C857"/>
            </a:solidFill>
            <a:prstDash val="solid"/>
            <a:head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6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981950" y="2952750"/>
            <a:ext cx="838200" cy="22621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E870"/>
            </a:solidFill>
            <a:prstDash val="solid"/>
            <a:head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05FA9D-EB14-4D9C-85A1-9BD2C489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Optional services add APK analysis, remote desktop labs and AWS telemetry / VM orchestration.</a:t>
            </a:r>
          </a:p>
        </p:txBody>
      </p:sp>
    </p:spTree>
    <p:extLst>
      <p:ext uri="{BB962C8B-B14F-4D97-AF65-F5344CB8AC3E}">
        <p14:creationId xmlns:p14="http://schemas.microsoft.com/office/powerpoint/2010/main" val="1317780378"/>
      </p:ext>
    </p:extLst>
  </p:cSld>
  <p:transition spd="med" advClick="1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73A50-8837-4529-9762-51564BAC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Trust boundaries and containment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4F2AA-5284-48AD-82F2-DF724FDD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B60F0-93B8-423C-B4E2-0409D2BD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The edge network and application network do not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3DEEF-78CF-4551-9975-671151B2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C7904-A3D5-4280-A620-3DB79952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2D686-40F5-4A86-B89D-AC8C4285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780D4-DA56-425E-8DE4-EDDAEB07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4714875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0A2736"/>
          </a:solidFill>
          <a:ln xmlns:a="http://schemas.openxmlformats.org/drawingml/2006/main" w="19050">
            <a:solidFill>
              <a:srgbClr val="36D1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DC74B-2211-49FD-B256-0FEA4DF7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honeynet_edge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9686B-7CED-4B2A-BF63-95F3046F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Attack-facing sensors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Cowrie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Dionaea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Honeytrap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Compromise is assumed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C17C6-4525-4489-BA05-21283ADD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762125"/>
            <a:ext cx="4714875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102635"/>
          </a:solidFill>
          <a:ln xmlns:a="http://schemas.openxmlformats.org/drawingml/2006/main" w="19050">
            <a:solidFill>
              <a:srgbClr val="9FE8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8A5E4-A891-4173-BECE-480D7D84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383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9FE8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FE870"/>
                </a:solidFill>
                <a:latin typeface="Arial"/>
                <a:ea typeface="Arial"/>
                <a:cs typeface="Arial"/>
              </a:rPr>
              <a:t>honeynet_app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1CEDF-20E7-435B-83AA-9B487FB3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66700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Backend and database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Frontend / Nginx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MariaDB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Guacamole stack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MobSF / lab 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A2A56-617D-41BE-8C46-59D8273A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62300"/>
            <a:ext cx="1447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61D27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ACB30-4B95-4929-8F70-426C5FCF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2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NO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B2D8D-5CE1-4FF9-B94B-27F76A07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86450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8FD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FD0EA"/>
                </a:solidFill>
                <a:latin typeface="Arial"/>
                <a:ea typeface="Arial"/>
                <a:cs typeface="Arial"/>
              </a:rPr>
              <a:t>Permitted channel: sensors write log files; the backend reads them through a read-only mount</a:t>
            </a:r>
          </a:p>
        </p:txBody>
      </p:sp>
    </p:spTree>
    <p:extLst>
      <p:ext uri="{BB962C8B-B14F-4D97-AF65-F5344CB8AC3E}">
        <p14:creationId xmlns:p14="http://schemas.microsoft.com/office/powerpoint/2010/main" val="343612858"/>
      </p:ext>
    </p:extLst>
  </p:cSld>
  <p:transition spd="med" advClick="1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955583-F8F9-4DF9-9B3A-EB0408E1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Telemetry ingestion and normalization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8D393-67C1-411A-AF61-41249364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FC151-B772-4988-AC41-58595233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 cursor-based collector turns sensor-specific logs into a shared investigation schema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95ECA-DBB4-4716-BD8E-BDDA64DA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D577D-936E-4B4D-8BB3-4848AE2B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B4023-570E-4758-B63F-8D1BA3D4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EBCC8-5120-4375-958B-49648456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19375"/>
            <a:ext cx="185737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1EA98-6983-455E-A2C4-513F21B5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74697-616C-48E4-B459-28D8CF65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Sensor 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D7F5F-49AE-4F36-8BFA-A30CFDFB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43250"/>
            <a:ext cx="15144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Cowrie, Dionaea or Honeytrap writes raw 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C2EA7-C8D4-40F6-A44E-69015D33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60A84-5D84-42C8-BA86-8BF05BE5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076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90AF5-9385-496A-BA16-D81C15E3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19375"/>
            <a:ext cx="185737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2588F-E54F-4B7C-8AEB-50EFAFCA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6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0E7BC-06FC-4BA6-A2CF-B3C4BADF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Tail + cursor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5329FA-7B7A-4CB6-92B4-799AAEAD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43250"/>
            <a:ext cx="15144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Collector reads only new records every few seconds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1697C-BC11-40FD-A87A-7E9DCD26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B6A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0B1E0-983D-4A55-A659-48355685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076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5A89A-CD54-4E4F-8FA4-E5D7A5C1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619375"/>
            <a:ext cx="185737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AC76A-45C8-4737-80A1-30554765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C6138A-7273-4EBA-97CC-F696F1F7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4839CE-DCAB-4C63-BB8F-EA17CB6D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43250"/>
            <a:ext cx="15144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Map fields into a sensor-agnostic event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9FD07-4A6D-43E9-ADB9-9440BFA5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F1C95C-9A0E-48FA-8856-4BFEC3E6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076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D8F408-9F9B-4314-A033-E34A36BD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619375"/>
            <a:ext cx="185737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802484-61F4-40AC-B9F9-495F1C8E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DB5BF3-3E2A-49DC-8D07-3D33FA9A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Deduplicate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3726B3-FF56-4E96-B254-F4CC81A4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143250"/>
            <a:ext cx="15144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Content hash blocks duplicate records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4EF000-29A6-4C53-B1DE-EED67A9F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551743-752A-427A-9441-8AACC0FC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76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044227-9C9E-4F6C-8985-F1432F83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619375"/>
            <a:ext cx="185737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C467F7-2E0F-4BDE-B0C5-8BC82CF3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C0DC09-6051-4E35-84D6-F4542D03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Persist + stream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4BD914-2C90-4DB8-B07B-6A33E1B0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143250"/>
            <a:ext cx="15144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Store for queries and publish live updates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680895-44C5-4DBF-A371-0326FC4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F35D24-C8A4-4AA9-8471-5DF673EA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076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78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381250" y="35242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686300" y="35242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991350" y="35242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296400" y="35242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EC28DC-C101-410C-86C3-20FAE420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95875"/>
            <a:ext cx="923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8FD0E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FD0EA"/>
                </a:solidFill>
                <a:latin typeface="Arial"/>
                <a:ea typeface="Arial"/>
                <a:cs typeface="Arial"/>
              </a:rPr>
              <a:t>The system retains raw telemetry while also building structured events, sessions and correlated evidence for the analyst workflow.</a:t>
            </a:r>
          </a:p>
        </p:txBody>
      </p:sp>
    </p:spTree>
    <p:extLst>
      <p:ext uri="{BB962C8B-B14F-4D97-AF65-F5344CB8AC3E}">
        <p14:creationId xmlns:p14="http://schemas.microsoft.com/office/powerpoint/2010/main" val="1439589149"/>
      </p:ext>
    </p:extLst>
  </p:cSld>
  <p:transition spd="med" advClick="1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953DA9-404E-4ED4-9CC2-BF2B8BF0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Detection to incident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257AC-382D-4C25-BAD5-DBF4EAA4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B4F5E-858C-4105-9F5D-6FE7A467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Rules, correlation and evidence explain why an alert exists and how it relates to the attack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0EF0E-95B0-4CA1-9439-07CE9C4D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D86F1-2337-4297-AA0A-53C4DDDE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35183-F2B7-4FAC-9164-D935EAEB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0BD54-19DD-4DF6-892B-DAC5F281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1E9E9-34B5-4DCE-AA9F-9B97B1AF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3DB7C-A5C2-4F4D-BD01-84A3EDBD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9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Normalized event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49AAF-AC88-4D9E-B3D1-37CAFCA2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Protocol, source, session, command or payload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FD610-B2CC-48FE-8069-9DFC3E21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B6E00-CD6E-4814-964B-E428E44C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0858C-CD04-456C-9AD5-BF3A2B68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4795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Rule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47785-7A93-4948-B944-63E3DCA9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00375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YAML detections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Sigma support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Correlation 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C0119-8580-4FBB-A9B3-7E945190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765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5CEC1-008E-4C20-98AC-9302CC37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76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B4A17-1EAB-4053-81AA-13EE99EE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4795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B4968-74EF-4074-AD2A-40B45C8E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0375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Risk breakdown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Technique candidates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Linked indicators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6C1D9-F6F1-45CE-8B26-618ED689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F29CF-4E5B-472E-9983-4D13D428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0FCC94-A039-48EE-84DD-1A8C09BA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Incident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DDF963-7C22-4CEA-90C0-101039A9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Timeline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Evidence chain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Analyst audit trail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851F10-A6FB-4181-99DF-E7A89B16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765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F64D86-1442-4B06-ABEB-4B971DD4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76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9A9EE1-99F0-45A0-8264-634C8DED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4795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3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Response record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61CFEB-3C10-4BB6-9675-41633D58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0375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Report download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Validation result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GRC evidence</a:t>
            </a:r>
          </a:p>
        </p:txBody>
      </p:sp>
      <p:cxnSp>
        <p:nvCxnSpPr>
          <p:cNvPr id="5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19350" y="32861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572000" y="32861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724650" y="32861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877300" y="32861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51E279-FEB0-4E22-859F-3E25A7A2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The incident view preserves the reconstruction path rather than reducing an attack to a single unexplained severity score.</a:t>
            </a:r>
          </a:p>
        </p:txBody>
      </p:sp>
    </p:spTree>
    <p:extLst>
      <p:ext uri="{BB962C8B-B14F-4D97-AF65-F5344CB8AC3E}">
        <p14:creationId xmlns:p14="http://schemas.microsoft.com/office/powerpoint/2010/main" val="927654381"/>
      </p:ext>
    </p:extLst>
  </p:cSld>
  <p:transition spd="med" advClick="1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0E8BD0-4087-45A3-A88C-7C93F620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Analyst investigation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092C4-D469-4CF4-96C5-670E32BD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88DA0-EDBD-4ED2-8E81-D61CD493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The operator can move from an alert to a defensible case without leaving the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66131-C3DB-406E-B20B-51F34D34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B1948-292C-41A3-8475-1BDC0C56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352F8-DC4A-42BE-86D2-99FB7B94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8CBD3-EB6D-49F1-9125-C56CBB24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857375" cy="1857375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D5A0A-7403-488E-B564-739B142F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80030-CE50-41E8-BE53-C96B36ED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6A384-B03E-4E19-B834-CF004156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15144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Open live events, health and dashboard signals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B6660-2421-4138-A139-D4FE1EE5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CFA66-5783-4811-99E6-572D44C3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857375" cy="1857375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C0F3F-F9CE-4A4C-A2B0-841B022E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6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AACEC-B730-4226-AE21-4A7936F3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52700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3930F-9BD9-4FB1-883D-2AEA4E0E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05125"/>
            <a:ext cx="15144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Pivot into session, source IP, credentials and IOCs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72257-1374-49FC-8D89-4B59DFC6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526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CB6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CB6A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CFA1D-8142-45B7-A94B-BAF64A11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1857375" cy="1857375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1EE56A-5441-4862-97D4-02EC5772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028C7-F6C2-41CE-A20B-2AA984DB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52700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A1A1F4-ECE5-4AC6-B22D-489CD70B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05125"/>
            <a:ext cx="15144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Read timeline, risk breakdown and MITRE coverage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5B9000-8CD0-48C8-987E-14D694DB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526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CB6C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B6CE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4EDCE4-58DF-44F4-BB7B-569C8E19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1857375" cy="1857375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AB5E6-5E80-48F0-AC6E-BF806B7D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68DC4B-C99D-40B1-8911-ABDD6193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52700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E10481-48DD-44D7-B56D-805FD8EC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05125"/>
            <a:ext cx="15144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Run an authorized local scenario to measure detections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A5FAE8-FE71-48E1-8511-0747BFA0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526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34FDB0-4210-4C73-B6EE-CDFDD03B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1857375" cy="1857375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659A91-336D-4FEF-9FCD-CF6E927D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40A24D-7D0C-4B83-9004-15C50807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52700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Document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BE0E2A-B289-414E-9683-DF8745F8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05125"/>
            <a:ext cx="15144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Generate evidence-backed report and audit record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B8C45D-3C37-432A-A3FD-6E06E6F4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526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9FE87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FE87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68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428875" y="330993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714875" y="330993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000875" y="330993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286875" y="330993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834EEA-67F9-47FD-94CE-ADA03367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91125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9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8FD0E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FD0EA"/>
                </a:solidFill>
                <a:latin typeface="Arial"/>
                <a:ea typeface="Arial"/>
                <a:cs typeface="Arial"/>
              </a:rPr>
              <a:t>Outcome: analysts can connect attack activity with evidence, coverage and an auditable action trail.</a:t>
            </a:r>
          </a:p>
        </p:txBody>
      </p:sp>
    </p:spTree>
    <p:extLst>
      <p:ext uri="{BB962C8B-B14F-4D97-AF65-F5344CB8AC3E}">
        <p14:creationId xmlns:p14="http://schemas.microsoft.com/office/powerpoint/2010/main" val="1092360006"/>
      </p:ext>
    </p:extLst>
  </p:cSld>
  <p:transition spd="med" advClick="1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9E5519-B27F-46EF-A289-40F585D8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Behavior profiling and MITRE mapping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5EA70-896D-435F-B040-49DD0E2F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07C25-C9EB-4472-BE02-8E29AEB2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The platform describes what the attacker did from observed signals without claiming named-APT attribution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38F37-230A-453B-8209-E6FBFD79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26227-F9CB-4BED-9C0E-75D3DAB0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CA545-2C74-4912-8085-35807B88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78929-A73C-461B-B5DA-6DC34FF2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238500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F1DD7-C89B-41D5-8BC3-F3695119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F2F81-58E8-4AE5-8499-D9D1D939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2895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Observed interaction 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B15C8-E132-4CA6-B1ED-3FB383DB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8956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Nodes represent sessions, sources, commands or targets. Edges capture observed relationships across attacker activity.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8BBB4-656C-417E-A778-D1445A37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2381250" cy="25241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B23AA-36AC-4269-823B-A51CE5E5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ECA80-6704-4FA2-9D4E-B49EEEC6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24075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Measured 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EA940-1E64-458E-8003-DF589C86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203835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Centrality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Command patterns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Credential behavior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Session timing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851B4-2705-433B-84EF-834D64AF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52625"/>
            <a:ext cx="347662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3F5F2-923C-4DA3-832D-7BA24BBA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52625"/>
            <a:ext cx="3476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4B3C29-7A16-47B7-A93C-4475F03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24075"/>
            <a:ext cx="3133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Actionable classification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A6A7F-726E-4072-A01F-8EFAF8F3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76500"/>
            <a:ext cx="3133725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Automated scanner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Credential-stuffing bot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Hands-on-keyboard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Mapped ATT&amp;CK techniques</a:t>
            </a:r>
          </a:p>
        </p:txBody>
      </p: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48100" y="321468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858000" y="321468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1D52F-4D16-455D-BD56-85E85264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6730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Classification remains evidence-led: observed behavior supports operational triage, while attribution requires separate intelligence and validation.</a:t>
            </a:r>
          </a:p>
        </p:txBody>
      </p:sp>
    </p:spTree>
    <p:extLst>
      <p:ext uri="{BB962C8B-B14F-4D97-AF65-F5344CB8AC3E}">
        <p14:creationId xmlns:p14="http://schemas.microsoft.com/office/powerpoint/2010/main" val="1226772606"/>
      </p:ext>
    </p:extLst>
  </p:cSld>
  <p:transition spd="med" advClick="1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A1CD1-7B8B-4C2A-9447-5F931194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Detection validation and SOC 2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D6748-7B73-435A-8FF6-5F77471E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9ED83-49FE-48DB-94AA-84977287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Security controls are tested against controlled scenarios and tied to live evidence collectors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8F653-8EEE-4042-AE14-6FD72268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00AB7-FE4C-4160-AE07-C4B10E0C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B6328-53F2-4C74-9C74-17D9EE7B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8D487-B6ED-4EF3-9706-D72BA49D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61937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9FBB4-0AD6-4CC7-81F3-DF419EBD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619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8F9C8-C124-44F0-96A7-76E70ABF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276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Controlled 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9AC47-8F7C-4E3E-A715-D1F95122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22764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Authorized local attack scenario targets 127.0.0.1 and exercises a known detection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9FE3D-48FF-4578-A9A2-D775BFA3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90750"/>
            <a:ext cx="261937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D9E1F-66F5-4771-84E8-C919CAF4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90750"/>
            <a:ext cx="2619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DEFD9-2F54-43C6-BC4D-C9E9689E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62200"/>
            <a:ext cx="2276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Detection grade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79E67-8BB1-43E1-8484-CD07B02C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14625"/>
            <a:ext cx="22764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After one detection cycle, the system reports PASS, PARTIAL or FAIL with rate and ATT&amp;CK coverage.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336D0-E84B-46DC-845F-DA44B09B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328612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DF40B-1AA9-4674-833F-DEAB48C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3286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EAC8A-4FFE-4DA2-8455-B38C2438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62200"/>
            <a:ext cx="2943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Readiness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0AAD3-DC9F-4417-BF0A-8FE3C687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14625"/>
            <a:ext cx="29432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49 Trust Services Criteria map to 25 live collectors. Controls may score met, partial, gap or manual.</a:t>
            </a:r>
          </a:p>
        </p:txBody>
      </p: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28975" y="3238500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638925" y="3238500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25F96-CF0B-4F91-A014-0976F7E8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8FD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FD0EA"/>
                </a:solidFill>
                <a:latin typeface="Arial"/>
                <a:ea typeface="Arial"/>
                <a:cs typeface="Arial"/>
              </a:rPr>
              <a:t>The readiness assessment helps identify gaps. It does not replace an independent SOC 2 examination by a licensed CPA firm.</a:t>
            </a:r>
          </a:p>
        </p:txBody>
      </p:sp>
    </p:spTree>
    <p:extLst>
      <p:ext uri="{BB962C8B-B14F-4D97-AF65-F5344CB8AC3E}">
        <p14:creationId xmlns:p14="http://schemas.microsoft.com/office/powerpoint/2010/main" val="1550742184"/>
      </p:ext>
    </p:extLst>
  </p:cSld>
  <p:transition spd="med" advClick="1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B3D1A9-7457-41FA-9E6A-7A312556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Threat analysis toolkit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8C7A1-AA59-4CA7-8E98-E6AE7DB6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37F1B-CD2C-400B-92CC-40592764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Static and dynamic workflows share the same investigation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FAA3F-4F5D-44B9-85FF-51FA59E1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05995-69EE-4DD3-9BC5-7F445431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189DE-4DCD-4EF3-9BE3-977AB673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a4e83f6464c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850" y="1666875"/>
            <a:ext cx="2667000" cy="26670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C5D46-A390-4194-BAD9-B1B568B9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47662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E03EE-07BF-4860-8C4D-60F8FD87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476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381CE-434A-4793-8164-FADCB3F8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3133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Binary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B8363-3B02-4920-8C1D-58AF0703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31337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Static parsing, YARA, ClamAV and secret-pattern checks. CAPE detonation becomes available when configured.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12155-640A-478A-B534-8924C740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7662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9629B-0BEF-4653-A461-225DCEB7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76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7CABA-D28B-44DB-B970-3DC4DEEC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133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APK inspector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A2E6C-D8B2-4D75-9858-0E297236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31337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MobSF-backed Android analysis with a locally hosted service endpoint.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AB9BA-176E-4E52-8476-CB9E3C88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9087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DB46F-F137-48FB-9741-1CDEB977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BF1142-CDBC-402D-A54E-82068162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33575"/>
            <a:ext cx="2847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URL scanner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AC9A81-E2BC-4C93-8035-B76066F2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86000"/>
            <a:ext cx="28479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DNS, SSL and HTTP probing with entropy, homograph, WHOIS and geolocation checks.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5D629-654D-41A0-8EB4-D31C7B88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14750"/>
            <a:ext cx="319087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692D7-D7DC-4E7A-B723-24568C69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14750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CD16C0-8BF8-46B1-A0E2-6E8709AA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86200"/>
            <a:ext cx="2847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Unified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BD48A-BDDD-4F32-8BEB-29E2A3A1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38625"/>
            <a:ext cx="28479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Findings can feed reports, incident evidence and analyst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54252344"/>
      </p:ext>
    </p:extLst>
  </p:cSld>
  <p:transition spd="med" advClick="1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78F9EF-C7B0-4560-828E-B2B74A0B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Hands-on analysis environments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851D8-5FBB-4B41-B7F9-D69D1168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5E689-3771-4D84-907F-69CEBE3A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Disposable labs provide a safe place to observe behavior while the platform captures the resulting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7C20A-B833-4542-9A9D-3BECBE69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4071A-4E1B-43FC-B4FD-D78A3AA9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B8D7A-15EF-4E07-BEA3-5001569D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992AA-5B0C-48EA-9162-AB49D3A9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476750" cy="2809875"/>
          </a:xfrm>
          <a:prstGeom xmlns:a="http://schemas.openxmlformats.org/drawingml/2006/main" prst="roundRect">
            <a:avLst>
              <a:gd name="adj" fmla="val 5424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19CD5-A753-41A6-BF3E-67C6B271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5687F-3F7C-46DA-8754-2965B07B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413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Analysis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4EB3B-DD7B-46AB-8EC3-C07944E6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3385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Interactive terminal inside a disposable Linux sandbox. The sandbox uses an internal, egress-free network. Commands and outbound connection attempts feed the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BB215-AC53-4B76-9122-E9CBF6D6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52625"/>
            <a:ext cx="4476750" cy="2809875"/>
          </a:xfrm>
          <a:prstGeom xmlns:a="http://schemas.openxmlformats.org/drawingml/2006/main" prst="roundRect">
            <a:avLst>
              <a:gd name="adj" fmla="val 5424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7B823-3528-46CE-9B46-7DE2B8A1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52625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A777D-163E-49F4-AF9E-A4D7AB73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24075"/>
            <a:ext cx="413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Virtual Lab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98AF8-5F7F-4F33-B257-675802A9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76500"/>
            <a:ext cx="413385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Provision Kali as a local Docker desktop, or Windows / Kali in AWS mode. Apache Guacamole streams the session in the browser.</a:t>
            </a:r>
          </a:p>
        </p:txBody>
      </p: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086350" y="3357563"/>
            <a:ext cx="2019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BFC77-6B44-435C-9085-F1497CE9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9112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1CB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63366-00F8-4D14-AB87-8E68A5AF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48275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EGRESS-FREE SANDBOX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792413-7885-469E-AEAC-4A641895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91125"/>
            <a:ext cx="2524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CB6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5E679-A13C-421F-B1C1-B33EB40B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48275"/>
            <a:ext cx="2371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BROWSER-STREAMED DESKTOP</a:t>
            </a:r>
          </a:p>
        </p:txBody>
      </p:sp>
    </p:spTree>
    <p:extLst>
      <p:ext uri="{BB962C8B-B14F-4D97-AF65-F5344CB8AC3E}">
        <p14:creationId xmlns:p14="http://schemas.microsoft.com/office/powerpoint/2010/main" val="1441724416"/>
      </p:ext>
    </p:extLst>
  </p:cSld>
  <p:transition spd="med" advClick="1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DE418-2150-4A10-8C76-DC7FAB1D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Operator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511F9-024F-4B16-8363-556CB797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828E0-8898-42E9-997E-AE714549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 dark-theme dashboard puts investigations, telemetry, governance and tools behind one authenticated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C3696-2A7D-41BC-84AC-DBDC05E0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56732-C052-4DC8-B309-1AEF7D5B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28B1C-1559-4974-BAD8-BC66B6CE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8ae0733d14a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7650" y="1695450"/>
            <a:ext cx="3000375" cy="3000375"/>
          </a:xfrm>
          <a:prstGeom xmlns:a="http://schemas.openxmlformats.org/drawingml/2006/main" prst="roundRect">
            <a:avLst>
              <a:gd name="adj" fmla="val 507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A5810-42B0-4D13-8A35-CEF58F8E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Command Center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57A10-0A29-4BB6-AB13-5DC280B3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Tactical overview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Investigations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Event log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92CC0-9C81-4366-833F-CDAFD17B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66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CB6CE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B6CE6"/>
                </a:solidFill>
                <a:latin typeface="Arial"/>
                <a:ea typeface="Arial"/>
                <a:cs typeface="Arial"/>
              </a:rPr>
              <a:t>Grid monitoring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1C5EB-6019-4FF3-BE40-B5AFD9C7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8600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Honeypot nodes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Splunk Blue Team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Geo intelligence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CF578-1742-42B3-81A0-10B7A96C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9FE87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FE870"/>
                </a:solidFill>
                <a:latin typeface="Arial"/>
                <a:ea typeface="Arial"/>
                <a:cs typeface="Arial"/>
              </a:rPr>
              <a:t>Intelligence + 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69081-3C2F-4E62-903C-C0ADA8A7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MITRE matrix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Detection validation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Behavior profiling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GRC and SOC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ED73C-539F-4BE7-91D7-DB2FB649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Tools suite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996AD-9742-4289-88C9-7FA9E0C4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2912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Binary analysis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URL scanner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APK inspector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Virtual Lab</a:t>
            </a:r>
          </a:p>
        </p:txBody>
      </p:sp>
    </p:spTree>
    <p:extLst>
      <p:ext uri="{BB962C8B-B14F-4D97-AF65-F5344CB8AC3E}">
        <p14:creationId xmlns:p14="http://schemas.microsoft.com/office/powerpoint/2010/main" val="646841844"/>
      </p:ext>
    </p:extLst>
  </p:cSld>
  <p:transition spd="med" advClick="1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ABAB23-383A-47C9-93B2-ED3B4116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Security controls built into the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5D1EB-F648-4EFF-99B7-2D377E3D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8519C-AE82-4606-B2ED-9CC1A1BD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The deployment assumes the honeypots will be attacked and limits the blast radius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EC1DA-0141-4FB7-B091-3B60DE76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1942D-D443-42C5-AA25-68B67146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1A970-94DE-4D1F-8062-2CBB6E96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11F6A-015C-4AD2-AFBC-860A16B3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85DB2-DE2B-4BC3-80F8-2971FC5C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DC4AD-FA69-4455-AE34-7F460969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800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Network separation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28041-5B1E-44AF-ABFF-699F0E1A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8003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Honeypot and application networks do not bridge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EF46C-72E2-4C35-B68C-53DD4AC5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31432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2577B-D94B-4E78-BF36-41E8AB02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6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BAF6B-98B3-4C40-8D5C-1BD00C84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2800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Read-only rule inputs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81176C-59B2-459A-ACAB-DAA53139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33625"/>
            <a:ext cx="28003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Detection rules, YARA rules and scenarios mount read-only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7F7C0-5B5A-4A0D-86B8-63084BD9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31432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D1B03-6A2C-4C48-83E6-75693B63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E229F-925A-483A-B8C0-7D02B499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81200"/>
            <a:ext cx="2800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Hardened containers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B2F32-E930-4406-89D8-F214DDB1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33625"/>
            <a:ext cx="28003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No-new-privileges, reduced Linux capabilities, memory and PID limits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29460A-D8E1-48BF-A558-1342378B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1432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808A0A-6761-49DE-9F96-7577232E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761000-673D-4D59-B97E-390DC1BE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2800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Protected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55BE5-0196-483C-9A7F-1937F440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28003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Quarantine and incident evidence stay out of Nginx-served paths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9916EE-D5FF-4AF4-ADCD-537520A1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10000"/>
            <a:ext cx="31432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11522B-29AA-4C8E-BAEE-9053B452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100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471D51-1C7E-4A44-A565-12F06A30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81450"/>
            <a:ext cx="2800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Guarded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7E5294-C1C6-4A78-B5DD-741CFF7D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33875"/>
            <a:ext cx="28003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Authentication, audit logging and rate limiting support API operations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D252BC-9001-4DE3-B340-617A2476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76262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8FD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FD0EA"/>
                </a:solidFill>
                <a:latin typeface="Arial"/>
                <a:ea typeface="Arial"/>
                <a:cs typeface="Arial"/>
              </a:rPr>
              <a:t>Deployment note: keep port 8000 off untrusted networks and use a reverse proxy with TLS for public exposure.</a:t>
            </a:r>
          </a:p>
        </p:txBody>
      </p:sp>
    </p:spTree>
    <p:extLst>
      <p:ext uri="{BB962C8B-B14F-4D97-AF65-F5344CB8AC3E}">
        <p14:creationId xmlns:p14="http://schemas.microsoft.com/office/powerpoint/2010/main" val="1334191225"/>
      </p:ext>
    </p:extLst>
  </p:cSld>
  <p:transition spd="med" advClick="1">
    <p:fade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F6ED1-A871-43BA-A040-F79D3FFE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BE095-67BA-4B43-85C5-DEB67A8C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E78B3-71D0-4649-B8A5-01420827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The platform combines a Python control plane with containerized sensors, services and a static operator 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2EC39-3823-430F-85F1-897E85E4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C659F-4304-418E-9965-5105ACED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83565-2DF5-429C-B85A-1F8858A4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809750"/>
                <a:gridCol w="3762375"/>
                <a:gridCol w="5400675"/>
              </a:tblGrid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6D1E7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1036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6D1E7"/>
                          </a:solidFill>
                          <a:latin typeface="Arial"/>
                          <a:ea typeface="Arial"/>
                          <a:cs typeface="Arial"/>
                        </a:rPr>
                        <a:t>Selected technology</a:t>
                      </a:r>
                    </a:p>
                  </a:txBody>
                  <a:tcPr marL="91440" marR="91440" marT="45720" marB="45720">
                    <a:solidFill>
                      <a:srgbClr val="1036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6D1E7"/>
                          </a:solidFill>
                          <a:latin typeface="Arial"/>
                          <a:ea typeface="Arial"/>
                          <a:cs typeface="Arial"/>
                        </a:rPr>
                        <a:t>Platform role</a:t>
                      </a:r>
                    </a:p>
                  </a:txBody>
                  <a:tcPr marL="91440" marR="91440" marT="45720" marB="45720">
                    <a:solidFill>
                      <a:srgbClr val="10364E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3F8FB"/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</a:p>
                  </a:txBody>
                  <a:tcPr marL="91440" marR="91440" marT="45720" marB="45720">
                    <a:solidFill>
                      <a:srgbClr val="0924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Python 3.11, FastAPI, SQLAlchemy, aiomysql</a:t>
                      </a:r>
                    </a:p>
                  </a:txBody>
                  <a:tcPr marL="91440" marR="91440" marT="45720" marB="45720">
                    <a:solidFill>
                      <a:srgbClr val="0924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Async APIs, collection, detection and incident services</a:t>
                      </a:r>
                    </a:p>
                  </a:txBody>
                  <a:tcPr marL="91440" marR="91440" marT="45720" marB="45720">
                    <a:solidFill>
                      <a:srgbClr val="092437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3F8FB"/>
                          </a:solidFill>
                          <a:latin typeface="Arial"/>
                          <a:ea typeface="Arial"/>
                          <a:cs typeface="Arial"/>
                        </a:rPr>
                        <a:t>Data</a:t>
                      </a:r>
                    </a:p>
                  </a:txBody>
                  <a:tcPr marL="91440" marR="91440" marT="45720" marB="45720">
                    <a:solidFill>
                      <a:srgbClr val="0D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MariaDB 11, PostgreSQL for Guacamole</a:t>
                      </a:r>
                    </a:p>
                  </a:txBody>
                  <a:tcPr marL="91440" marR="91440" marT="45720" marB="45720">
                    <a:solidFill>
                      <a:srgbClr val="0D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Application persistence and remote desktop support</a:t>
                      </a:r>
                    </a:p>
                  </a:txBody>
                  <a:tcPr marL="91440" marR="91440" marT="45720" marB="45720">
                    <a:solidFill>
                      <a:srgbClr val="0D2B3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3F8FB"/>
                          </a:solidFill>
                          <a:latin typeface="Arial"/>
                          <a:ea typeface="Arial"/>
                          <a:cs typeface="Arial"/>
                        </a:rPr>
                        <a:t>Frontend</a:t>
                      </a:r>
                    </a:p>
                  </a:txBody>
                  <a:tcPr marL="91440" marR="91440" marT="45720" marB="45720">
                    <a:solidFill>
                      <a:srgbClr val="0924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HTML, CSS, JavaScript, Nginx, Chart.js</a:t>
                      </a:r>
                    </a:p>
                  </a:txBody>
                  <a:tcPr marL="91440" marR="91440" marT="45720" marB="45720">
                    <a:solidFill>
                      <a:srgbClr val="0924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Operator dashboard and live visualizations</a:t>
                      </a:r>
                    </a:p>
                  </a:txBody>
                  <a:tcPr marL="91440" marR="91440" marT="45720" marB="45720">
                    <a:solidFill>
                      <a:srgbClr val="092437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3F8FB"/>
                          </a:solidFill>
                          <a:latin typeface="Arial"/>
                          <a:ea typeface="Arial"/>
                          <a:cs typeface="Arial"/>
                        </a:rPr>
                        <a:t>Detection</a:t>
                      </a:r>
                    </a:p>
                  </a:txBody>
                  <a:tcPr marL="91440" marR="91440" marT="45720" marB="45720">
                    <a:solidFill>
                      <a:srgbClr val="0D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YAML, Sigma, NetworkX, MITRE mapping</a:t>
                      </a:r>
                    </a:p>
                  </a:txBody>
                  <a:tcPr marL="91440" marR="91440" marT="45720" marB="45720">
                    <a:solidFill>
                      <a:srgbClr val="0D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Explainable rules, correlation and behavior analysis</a:t>
                      </a:r>
                    </a:p>
                  </a:txBody>
                  <a:tcPr marL="91440" marR="91440" marT="45720" marB="45720">
                    <a:solidFill>
                      <a:srgbClr val="0D2B3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3F8FB"/>
                          </a:solidFill>
                          <a:latin typeface="Arial"/>
                          <a:ea typeface="Arial"/>
                          <a:cs typeface="Arial"/>
                        </a:rPr>
                        <a:t>Analysis</a:t>
                      </a:r>
                    </a:p>
                  </a:txBody>
                  <a:tcPr marL="91440" marR="91440" marT="45720" marB="45720">
                    <a:solidFill>
                      <a:srgbClr val="0924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YARA, ClamAV, MobSF, optional CAPE</a:t>
                      </a:r>
                    </a:p>
                  </a:txBody>
                  <a:tcPr marL="91440" marR="91440" marT="45720" marB="45720">
                    <a:solidFill>
                      <a:srgbClr val="0924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Binary, APK and malware analysis</a:t>
                      </a:r>
                    </a:p>
                  </a:txBody>
                  <a:tcPr marL="91440" marR="91440" marT="45720" marB="45720">
                    <a:solidFill>
                      <a:srgbClr val="092437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3F8FB"/>
                          </a:solidFill>
                          <a:latin typeface="Arial"/>
                          <a:ea typeface="Arial"/>
                          <a:cs typeface="Arial"/>
                        </a:rPr>
                        <a:t>Operations</a:t>
                      </a:r>
                    </a:p>
                  </a:txBody>
                  <a:tcPr marL="91440" marR="91440" marT="45720" marB="45720">
                    <a:solidFill>
                      <a:srgbClr val="0D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Docker Compose, Guacamole, Boto3</a:t>
                      </a:r>
                    </a:p>
                  </a:txBody>
                  <a:tcPr marL="91440" marR="91440" marT="45720" marB="45720">
                    <a:solidFill>
                      <a:srgbClr val="0D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Local orchestration, labs and optional AWS mode</a:t>
                      </a:r>
                    </a:p>
                  </a:txBody>
                  <a:tcPr marL="91440" marR="91440" marT="45720" marB="45720">
                    <a:solidFill>
                      <a:srgbClr val="0D2B3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661678"/>
      </p:ext>
    </p:extLst>
  </p:cSld>
  <p:transition spd="med" advClick="1">
    <p:fade/>
  </p:transition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C5BE0A-523E-4DD5-BB4F-BAF61D62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Deployment modes and operating entry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65DF1-C511-4B05-A023-ED361DE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8590C-F0C7-4716-98A6-C134A122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Local mode starts the full honeynet with Docker Compose; AWS mode adds cloud telemetry and cloud VMs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B7202-56DC-4FFD-8695-3E7EEE20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3EC82-B2B4-4E2B-A5B8-E31B4A0E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4470F-3504-4D0B-AE3C-5F3F5D87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A386B-E65D-4B03-BD26-394A4F2C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8100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B99BB-8437-499C-939E-AEF94034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81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73A52-D868-4B03-86B3-1E42AFC2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3467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Local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13848-004C-4BC3-9F0B-2AA828E1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34671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docker compose 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Telemetry: local telemetry/raw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Virtual Lab: Kali Docker container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Cost: local infrastructure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617A1-9932-4C5D-9A97-4B159CDA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38100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C6AD5-6969-4013-91B9-A11A211F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381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587E8-E16F-4643-9518-758D9034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3467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AWS 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8468C-FAAF-462A-A3CF-3DA7B900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33625"/>
            <a:ext cx="34671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INFRA_PROVIDER=aws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Telemetry: S3 pipeline poller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Virtual Lab: EC2 Windows / Kali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Cost: AWS account usage</a:t>
            </a:r>
          </a:p>
        </p:txBody>
      </p: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19600" y="30480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5FEE4-5F34-4281-9B68-37885891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36D1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FEA2A3-1928-4A5E-A1C8-4240F59B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Dashboard  :5500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FDB2CE-C23D-49BA-AD5B-290620CC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4825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1CB6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EF1B6-718F-4461-910B-29966314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054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API  :8000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01D9F-C457-486B-B61C-4D339FAE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48250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CB6C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8EE64-A9E8-4182-A8B1-CC434A6A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054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MobSF  :5055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3D86F-4C9E-4D40-A48F-8C32FD2D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4825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67630D-F95E-4EF4-BB50-07547682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Guacamole  :8080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A32785-7B11-4542-9B12-4CA2AE34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48250"/>
            <a:ext cx="1866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9FE87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46AD97-7D96-4051-9709-82A0127A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054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phpMyAdmin  :8081</a:t>
            </a:r>
          </a:p>
        </p:txBody>
      </p:sp>
    </p:spTree>
    <p:extLst>
      <p:ext uri="{BB962C8B-B14F-4D97-AF65-F5344CB8AC3E}">
        <p14:creationId xmlns:p14="http://schemas.microsoft.com/office/powerpoint/2010/main" val="698865810"/>
      </p:ext>
    </p:extLst>
  </p:cSld>
  <p:transition spd="med" advClick="1">
    <p:fade/>
  </p:transition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D37B1B-FF64-4708-872E-9485B570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Presentation 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A08A6-C942-4379-99D7-E5C6FF56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329AC-4F08-42D0-B875-F174DE3E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 concise walkthrough that shows how the system converts a controlled signal into an explainable outcome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0E231-8C64-4C25-A069-461C9180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920CC-CAF7-4392-8500-368638A7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564A9-E4FA-45AA-8D8D-09B6335A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C8BD9-D224-4CD2-8768-A713F74F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857375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C7FF9-86D0-4004-9425-1D373CA7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EB45A-72B2-4F35-A90F-EE55E669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Start stack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FCB07-585F-47B4-AECF-52973FE7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5144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Run setup and open the operator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8FDAA-FECE-4674-802B-5CADDD23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C4A31-0DEA-42DB-B400-635E3E15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588A2-EA61-46F0-8E52-E306AD03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19375"/>
            <a:ext cx="1857375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A3F8C-E74C-4E6D-BF0D-73B9A0E0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4B56F-93FD-4BCF-8E7B-7C3DD959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Generate 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96D5D8-F8C4-42A0-811F-D6231036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15144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Replay telemetry or execute an authorized local scenario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3DE134-2797-402B-B57F-F607276B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8497C-640A-4AAB-ADF2-81E1C16A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6287B-4A2C-4CF4-AAC1-BD726740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19375"/>
            <a:ext cx="1857375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9CD77-70BA-4C20-A0DA-E6A8789F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629DBC-9AD0-4D30-BA45-13A38B63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3433D-C535-4F0F-8A98-D28D0E05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43250"/>
            <a:ext cx="15144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Trace event, detection, timeline and MITRE 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779B46-56E3-466E-B3A6-1F266316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18C845-A932-4753-8255-147693A5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4BA49F-5860-4F74-B09B-0AA7E124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1857375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20B90D-3230-43D8-9B1F-DAE6FB83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3DAA3C-9F2F-4833-BCE4-6C915C2F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B7B6AE-F32E-4F7F-A319-772E8DF3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43250"/>
            <a:ext cx="15144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Review pass / partial / fail and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A3C366-5CC1-4DB4-97C2-B6C2AC5A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CD4768-D2D4-4C16-AD52-4B278DB3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159FD1-A9F0-4219-A5FF-BE72C6D8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1857375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E415D7-976A-4F12-8E7A-D3BA161A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E2947F-AF34-489E-8804-1D594CA5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DF1855-803D-4B93-97EE-3A06E888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43250"/>
            <a:ext cx="15144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Export an evidence-backed PDF or readiness assessment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E66530-056C-4B9E-83FF-D5623988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A7EB67-EE48-4913-AAC5-B2B4CAED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79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428875" y="3476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714875" y="3476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000875" y="3476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286875" y="3476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head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965460-81AF-456B-8C5D-35E08C74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8637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1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Shadow Trust packages the complete security-operations loop: observe the attacker, explain the detection, preserve the evidence and improve coverage.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BA3FF9-DAB6-4B94-BEF1-2F4624C7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9607885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2026-09-11T08:25:20.3900000Z</dcterms:created>
  <dcterms:modified xsi:type="dcterms:W3CDTF">2026-09-11T08:25:20.3900000Z</dcterms:modified>
</coreProperties>
</file>