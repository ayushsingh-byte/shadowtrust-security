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db7350ae634a32" /><Relationship Type="http://schemas.openxmlformats.org/officeDocument/2006/relationships/extended-properties" Target="/docProps/app.xml" Id="R4c83757292e64411" /><Relationship Type="http://schemas.openxmlformats.org/officeDocument/2006/relationships/officeDocument" Target="/ppt/presentation.xml" Id="R7be515ab7c314c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8e179326734cd6"/>
  </p:sldMasterIdLst>
  <p:notesMasterIdLst>
    <p:notesMasterId xmlns:r="http://schemas.openxmlformats.org/officeDocument/2006/relationships" r:id="R3329e87ff86c4db3"/>
  </p:notesMasterIdLst>
  <p:sldIdLst>
    <p:sldId xmlns:r="http://schemas.openxmlformats.org/officeDocument/2006/relationships" id="256" r:id="R3476f6390de94f55"/>
    <p:sldId xmlns:r="http://schemas.openxmlformats.org/officeDocument/2006/relationships" id="257" r:id="R694165247a644f8d"/>
    <p:sldId xmlns:r="http://schemas.openxmlformats.org/officeDocument/2006/relationships" id="258" r:id="Rc1c411f99036494a"/>
    <p:sldId xmlns:r="http://schemas.openxmlformats.org/officeDocument/2006/relationships" id="259" r:id="R06222a1c86eb40f2"/>
    <p:sldId xmlns:r="http://schemas.openxmlformats.org/officeDocument/2006/relationships" id="260" r:id="R0af434933fa94248"/>
    <p:sldId xmlns:r="http://schemas.openxmlformats.org/officeDocument/2006/relationships" id="261" r:id="Rc0bec093774a4e64"/>
    <p:sldId xmlns:r="http://schemas.openxmlformats.org/officeDocument/2006/relationships" id="262" r:id="R29786e9ef1b646b0"/>
    <p:sldId xmlns:r="http://schemas.openxmlformats.org/officeDocument/2006/relationships" id="263" r:id="R76e51e5fe0a64769"/>
    <p:sldId xmlns:r="http://schemas.openxmlformats.org/officeDocument/2006/relationships" id="264" r:id="R997c125b7b074d01"/>
    <p:sldId xmlns:r="http://schemas.openxmlformats.org/officeDocument/2006/relationships" id="265" r:id="R78c4988e0fb54d60"/>
    <p:sldId xmlns:r="http://schemas.openxmlformats.org/officeDocument/2006/relationships" id="266" r:id="R0987cfbf134b4a26"/>
    <p:sldId xmlns:r="http://schemas.openxmlformats.org/officeDocument/2006/relationships" id="267" r:id="R41e48ed1aa2542b9"/>
    <p:sldId xmlns:r="http://schemas.openxmlformats.org/officeDocument/2006/relationships" id="268" r:id="Rd6ec313a5ac4440e"/>
    <p:sldId xmlns:r="http://schemas.openxmlformats.org/officeDocument/2006/relationships" id="269" r:id="Rc8c9e922d41e427c"/>
    <p:sldId xmlns:r="http://schemas.openxmlformats.org/officeDocument/2006/relationships" id="270" r:id="R9d0f1d7924e74dac"/>
    <p:sldId xmlns:r="http://schemas.openxmlformats.org/officeDocument/2006/relationships" id="271" r:id="R9f8482a0e7a7404d"/>
    <p:sldId xmlns:r="http://schemas.openxmlformats.org/officeDocument/2006/relationships" id="272" r:id="R2c74211e3c754163"/>
    <p:sldId xmlns:r="http://schemas.openxmlformats.org/officeDocument/2006/relationships" id="273" r:id="R2c5606f5fb2a43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e072e07d55408c" /><Relationship Type="http://schemas.openxmlformats.org/officeDocument/2006/relationships/slideMaster" Target="/ppt/slideMasters/slideMaster1.xml" Id="Rb48e179326734cd6" /><Relationship Type="http://schemas.openxmlformats.org/officeDocument/2006/relationships/notesMaster" Target="/ppt/notesMasters/notesMaster1.xml" Id="R3329e87ff86c4db3" /><Relationship Type="http://schemas.openxmlformats.org/officeDocument/2006/relationships/presProps" Target="/ppt/presProps.xml" Id="Ra4bb6768e0cf4c76" /><Relationship Type="http://schemas.openxmlformats.org/officeDocument/2006/relationships/tableStyles" Target="/ppt/tableStyles.xml" Id="Rc796ed14251744ad" /><Relationship Type="http://schemas.openxmlformats.org/officeDocument/2006/relationships/slide" Target="/ppt/slides/slide1.xml" Id="R3476f6390de94f55" /><Relationship Type="http://schemas.openxmlformats.org/officeDocument/2006/relationships/slide" Target="/ppt/slides/slide2.xml" Id="R694165247a644f8d" /><Relationship Type="http://schemas.openxmlformats.org/officeDocument/2006/relationships/slide" Target="/ppt/slides/slide3.xml" Id="Rc1c411f99036494a" /><Relationship Type="http://schemas.openxmlformats.org/officeDocument/2006/relationships/slide" Target="/ppt/slides/slide4.xml" Id="R06222a1c86eb40f2" /><Relationship Type="http://schemas.openxmlformats.org/officeDocument/2006/relationships/slide" Target="/ppt/slides/slide5.xml" Id="R0af434933fa94248" /><Relationship Type="http://schemas.openxmlformats.org/officeDocument/2006/relationships/slide" Target="/ppt/slides/slide6.xml" Id="Rc0bec093774a4e64" /><Relationship Type="http://schemas.openxmlformats.org/officeDocument/2006/relationships/slide" Target="/ppt/slides/slide7.xml" Id="R29786e9ef1b646b0" /><Relationship Type="http://schemas.openxmlformats.org/officeDocument/2006/relationships/slide" Target="/ppt/slides/slide8.xml" Id="R76e51e5fe0a64769" /><Relationship Type="http://schemas.openxmlformats.org/officeDocument/2006/relationships/slide" Target="/ppt/slides/slide9.xml" Id="R997c125b7b074d01" /><Relationship Type="http://schemas.openxmlformats.org/officeDocument/2006/relationships/slide" Target="/ppt/slides/slide10.xml" Id="R78c4988e0fb54d60" /><Relationship Type="http://schemas.openxmlformats.org/officeDocument/2006/relationships/slide" Target="/ppt/slides/slide11.xml" Id="R0987cfbf134b4a26" /><Relationship Type="http://schemas.openxmlformats.org/officeDocument/2006/relationships/slide" Target="/ppt/slides/slide12.xml" Id="R41e48ed1aa2542b9" /><Relationship Type="http://schemas.openxmlformats.org/officeDocument/2006/relationships/slide" Target="/ppt/slides/slide13.xml" Id="Rd6ec313a5ac4440e" /><Relationship Type="http://schemas.openxmlformats.org/officeDocument/2006/relationships/slide" Target="/ppt/slides/slide14.xml" Id="Rc8c9e922d41e427c" /><Relationship Type="http://schemas.openxmlformats.org/officeDocument/2006/relationships/slide" Target="/ppt/slides/slide15.xml" Id="R9d0f1d7924e74dac" /><Relationship Type="http://schemas.openxmlformats.org/officeDocument/2006/relationships/slide" Target="/ppt/slides/slide16.xml" Id="R9f8482a0e7a7404d" /><Relationship Type="http://schemas.openxmlformats.org/officeDocument/2006/relationships/slide" Target="/ppt/slides/slide17.xml" Id="R2c74211e3c754163" /><Relationship Type="http://schemas.openxmlformats.org/officeDocument/2006/relationships/slide" Target="/ppt/slides/slide18.xml" Id="R2c5606f5fb2a43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b40f2a2c4943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6de6c93d64428d" /><Relationship Type="http://schemas.openxmlformats.org/officeDocument/2006/relationships/notesMaster" Target="/ppt/notesMasters/notesMaster1.xml" Id="R988d630f334043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5c4773ba2c493a" /><Relationship Type="http://schemas.openxmlformats.org/officeDocument/2006/relationships/notesMaster" Target="/ppt/notesMasters/notesMaster1.xml" Id="R3d1073f456f148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e54549bb844531" /><Relationship Type="http://schemas.openxmlformats.org/officeDocument/2006/relationships/notesMaster" Target="/ppt/notesMasters/notesMaster1.xml" Id="R4cfdbf243a9f4a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23f46de1ac4c40" /><Relationship Type="http://schemas.openxmlformats.org/officeDocument/2006/relationships/notesMaster" Target="/ppt/notesMasters/notesMaster1.xml" Id="R9e9570ed24464a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984153eb73456c" /><Relationship Type="http://schemas.openxmlformats.org/officeDocument/2006/relationships/notesMaster" Target="/ppt/notesMasters/notesMaster1.xml" Id="R0a883343d9b046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d9e418c19948d1" /><Relationship Type="http://schemas.openxmlformats.org/officeDocument/2006/relationships/notesMaster" Target="/ppt/notesMasters/notesMaster1.xml" Id="Rcb5ca8c9250046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fd6345935b4531" /><Relationship Type="http://schemas.openxmlformats.org/officeDocument/2006/relationships/notesMaster" Target="/ppt/notesMasters/notesMaster1.xml" Id="Ra04b3f2bb63a42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c2e46e61d14707" /><Relationship Type="http://schemas.openxmlformats.org/officeDocument/2006/relationships/notesMaster" Target="/ppt/notesMasters/notesMaster1.xml" Id="R8cf44ca0887047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52f05fb33548f5" /><Relationship Type="http://schemas.openxmlformats.org/officeDocument/2006/relationships/notesMaster" Target="/ppt/notesMasters/notesMaster1.xml" Id="Re92b232054c94e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d21ec88c664c9d" /><Relationship Type="http://schemas.openxmlformats.org/officeDocument/2006/relationships/notesMaster" Target="/ppt/notesMasters/notesMaster1.xml" Id="R809366a20ad448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9f72f9e7fc443e" /><Relationship Type="http://schemas.openxmlformats.org/officeDocument/2006/relationships/notesMaster" Target="/ppt/notesMasters/notesMaster1.xml" Id="Rbeaa83f80e2b40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663541702a54019" /><Relationship Type="http://schemas.openxmlformats.org/officeDocument/2006/relationships/notesMaster" Target="/ppt/notesMasters/notesMaster1.xml" Id="R0477f3cfd3df4f2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7050d2803a4b0d" /><Relationship Type="http://schemas.openxmlformats.org/officeDocument/2006/relationships/notesMaster" Target="/ppt/notesMasters/notesMaster1.xml" Id="Rf7d1dfec49b84a4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8c7c0bcc6674491" /><Relationship Type="http://schemas.openxmlformats.org/officeDocument/2006/relationships/notesMaster" Target="/ppt/notesMasters/notesMaster1.xml" Id="R6bc61103436f45d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07cd7f1553b4d5b" /><Relationship Type="http://schemas.openxmlformats.org/officeDocument/2006/relationships/notesMaster" Target="/ppt/notesMasters/notesMaster1.xml" Id="Ree0e48eef99b4dc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3cb88c9dd0d4969" /><Relationship Type="http://schemas.openxmlformats.org/officeDocument/2006/relationships/notesMaster" Target="/ppt/notesMasters/notesMaster1.xml" Id="R4a27734215854ac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3bb8d6b52c6419d" /><Relationship Type="http://schemas.openxmlformats.org/officeDocument/2006/relationships/notesMaster" Target="/ppt/notesMasters/notesMaster1.xml" Id="Rce5b2aff949d4d6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2a209f657254e67" /><Relationship Type="http://schemas.openxmlformats.org/officeDocument/2006/relationships/notesMaster" Target="/ppt/notesMasters/notesMaster1.xml" Id="R76b656e0175c48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README.md. Opening slide. Present the platform as a compact SOC that turns real honeypot activity into usable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Overview and Security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Feature highlights, Reports &amp; compliance, Testing.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Feature highlights; docker-compose.yml sensor definitions.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Architecture and docker-compose.yml.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docker-compose.yml security model comments; README.md Architecture and Security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Feature highlights and Project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Feature highlights, Reports &amp; compliance; backend/detections/*.yml.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Dashboard and Reports &amp; compliance.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Feature highlights; backend/app/ai_engine/gnn_profiler.py; backend/ai_engine/mitre_map.py.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Feature highlights and Reports &amp; compliance.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Analysis tools and Tech stack; backend/requirements.txt.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Analysis tools and Tech stack; docker-compose.yml VM Lab comments.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Dashboard and Quick start; frontend/*.html.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docker-compose.yml Security model; README.md Security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Tech stack and Project structure; backend/requirements.txt.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Quick start, Local mode vs AWS mode, docker-compose.yml.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Quick start, Feature highlights, Dashboard.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c4e8a464de4a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80048ec63e43f4" /><Relationship Type="http://schemas.openxmlformats.org/officeDocument/2006/relationships/slideLayout" Target="/ppt/slideLayouts/slideLayout1.xml" Id="R10fd4a0b6e004b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fd4a0b6e004b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cef8276404d08" /><Relationship Type="http://schemas.openxmlformats.org/officeDocument/2006/relationships/image" Target="/ppt/media/image.jpeg" Id="R2ae0b0df6e35439e" /><Relationship Type="http://schemas.openxmlformats.org/officeDocument/2006/relationships/notesSlide" Target="/ppt/notesSlides/notesSlide1.xml" Id="Rcc71d585cd9f40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9c9fd21a14b4d" /><Relationship Type="http://schemas.openxmlformats.org/officeDocument/2006/relationships/image" Target="/ppt/media/image.png" Id="Re71d0335db4645ec" /><Relationship Type="http://schemas.openxmlformats.org/officeDocument/2006/relationships/notesSlide" Target="/ppt/notesSlides/notesSlide2.xml" Id="R0eb378e9606343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04c637dd84b05" /><Relationship Type="http://schemas.openxmlformats.org/officeDocument/2006/relationships/notesSlide" Target="/ppt/notesSlides/notesSlide3.xml" Id="Rbb64caa6dad744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a7d2323bd042f4" /><Relationship Type="http://schemas.openxmlformats.org/officeDocument/2006/relationships/notesSlide" Target="/ppt/notesSlides/notesSlide4.xml" Id="R6e0660fc5efa44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ebff88c0846dc" /><Relationship Type="http://schemas.openxmlformats.org/officeDocument/2006/relationships/image" Target="/ppt/media/image2.jpeg" Id="Ra160b69caa14456b" /><Relationship Type="http://schemas.openxmlformats.org/officeDocument/2006/relationships/notesSlide" Target="/ppt/notesSlides/notesSlide5.xml" Id="R2e0c8553f65445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d7685951249a7" /><Relationship Type="http://schemas.openxmlformats.org/officeDocument/2006/relationships/notesSlide" Target="/ppt/notesSlides/notesSlide6.xml" Id="R0457f20d185f47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827ca06c14171" /><Relationship Type="http://schemas.openxmlformats.org/officeDocument/2006/relationships/notesSlide" Target="/ppt/notesSlides/notesSlide7.xml" Id="Rcccdd0b452b146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0e1620f1c49de" /><Relationship Type="http://schemas.openxmlformats.org/officeDocument/2006/relationships/notesSlide" Target="/ppt/notesSlides/notesSlide8.xml" Id="R8c9ecde0a31546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8ea7b2fc242d9" /><Relationship Type="http://schemas.openxmlformats.org/officeDocument/2006/relationships/notesSlide" Target="/ppt/notesSlides/notesSlide9.xml" Id="R5d76a382d53f43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62824f53241e1" /><Relationship Type="http://schemas.openxmlformats.org/officeDocument/2006/relationships/notesSlide" Target="/ppt/notesSlides/notesSlide10.xml" Id="Rf5d6ab1d8ac14d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04204aedf45ed" /><Relationship Type="http://schemas.openxmlformats.org/officeDocument/2006/relationships/notesSlide" Target="/ppt/notesSlides/notesSlide11.xml" Id="Rdf6b129c447342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5c3c652c349c3" /><Relationship Type="http://schemas.openxmlformats.org/officeDocument/2006/relationships/image" Target="/ppt/media/image3.jpeg" Id="R83d9aa95c47d4cef" /><Relationship Type="http://schemas.openxmlformats.org/officeDocument/2006/relationships/notesSlide" Target="/ppt/notesSlides/notesSlide12.xml" Id="Raae07cfd589b4a3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6c58281da4a3d" /><Relationship Type="http://schemas.openxmlformats.org/officeDocument/2006/relationships/notesSlide" Target="/ppt/notesSlides/notesSlide13.xml" Id="Rdd9a9058cd304aa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d5fce5f804dc3" /><Relationship Type="http://schemas.openxmlformats.org/officeDocument/2006/relationships/image" Target="/ppt/media/image2.png" Id="Rb87058dc57304824" /><Relationship Type="http://schemas.openxmlformats.org/officeDocument/2006/relationships/notesSlide" Target="/ppt/notesSlides/notesSlide14.xml" Id="Ra975735f70104c9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bfb31906b4be5" /><Relationship Type="http://schemas.openxmlformats.org/officeDocument/2006/relationships/notesSlide" Target="/ppt/notesSlides/notesSlide15.xml" Id="R42a3bd8d4a3844c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0be08680f4c77" /><Relationship Type="http://schemas.openxmlformats.org/officeDocument/2006/relationships/notesSlide" Target="/ppt/notesSlides/notesSlide16.xml" Id="R9ad824b438ed469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6c354e154445e" /><Relationship Type="http://schemas.openxmlformats.org/officeDocument/2006/relationships/notesSlide" Target="/ppt/notesSlides/notesSlide17.xml" Id="R15fe6b84e9a64ea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440a88ffc47f8" /><Relationship Type="http://schemas.openxmlformats.org/officeDocument/2006/relationships/notesSlide" Target="/ppt/notesSlides/notesSlide18.xml" Id="Ra6bde06035144e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e0b0df6e35439e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50C45-7FF1-49BE-B590-61E0C537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827">
                  <a:alpha val="96000"/>
                </a:srgbClr>
              </a:gs>
              <a:gs pos="70000">
                <a:srgbClr val="061827">
                  <a:alpha val="64000"/>
                </a:srgbClr>
              </a:gs>
              <a:gs pos="100000">
                <a:srgbClr val="061827">
                  <a:alpha val="6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51CF6-90BC-4791-B297-29A7B0BB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27146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52"/>
          </a:solidFill>
          <a:ln xmlns:a="http://schemas.openxmlformats.org/drawingml/2006/main" w="9525">
            <a:solidFill>
              <a:srgbClr val="36D1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E549E-F6A3-41A7-B887-3F93D8D2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5350"/>
            <a:ext cx="2562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HONEYPOT-DRIVEN SOC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C262F3-1E2E-4D76-A868-1129551A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500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Shadow Trust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338D7-0575-4C12-81C1-BCE5D00A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657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0">
                <a:solidFill>
                  <a:srgbClr val="8FD0E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8FD0EA"/>
                </a:solidFill>
                <a:latin typeface="Arial"/>
                <a:ea typeface="Arial"/>
                <a:cs typeface="Arial"/>
              </a:rPr>
              <a:t>Deception, detection, investigation and compliance in one local-first security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6DD3C-E024-43EC-95F0-4BF2A48B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6CE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8F4A1-61BA-48A0-883D-E0EDEF90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Project 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81C559-0A72-4921-83A6-DE15CFA0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561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Real telemetry. Explainable detections. Evidence-ready operations.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36B56B-F08F-480C-8098-2218E2D0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2293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47452336"/>
      </p:ext>
    </p:extLst>
  </p:cSld>
  <p:transition spd="med" advClick="1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0B2413-527F-4092-A3A4-2407D588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Why Shadow Trust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BDB88-D73B-4802-8457-CE577046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D007D-3557-4E94-BC36-BFF8EAB0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Security teams need actionable evidence from attack activity, not a dashboard built on simulated numbers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FC0E9-5F96-4BFB-9824-30DD5797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728A1-3B9B-4CE5-B513-6485E3CC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C2D2"/>
                </a:solidFill>
                <a:latin typeface="Arial"/>
                <a:ea typeface="Arial"/>
                <a:cs typeface="Arial"/>
              </a:rPr>
              <a:t>SHADOW TRUST  |  SECURITY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18B4B7-7B22-40D8-8ABC-0A12B386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d0335db4645e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86700" y="1752600"/>
            <a:ext cx="3086100" cy="3086100"/>
          </a:xfrm>
          <a:prstGeom xmlns:a="http://schemas.openxmlformats.org/drawingml/2006/main" prst="roundRect">
            <a:avLst>
              <a:gd name="adj" fmla="val 493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EC57C-FC2B-4D5E-B4B7-6435DC34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476750" cy="194310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C2A38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6D467D-3AE7-42F1-B6C9-68E3F147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47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8A4B1-47E7-4E24-A602-B349840A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413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The operational gap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67272-6A05-4595-96A0-89A7F90B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71725"/>
            <a:ext cx="41338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Internet-facing services receive noisy scans, password attacks and payload attempts. Teams need a safe way to observe attacker behavior and turn it into cases they can investigate.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BD93AF-812C-4412-97E5-7A6F0FAE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476750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851A2F-07AF-426B-A41B-D8E3E95F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47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610050-DFC2-4FB0-A61D-ADAF78BC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413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The platform 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E5AF1D-59A5-47CE-BCDB-EF848A6B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41338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Shadow Trust runs real honeypots, normalizes their logs, applies rules and correlations, then exposes incident evidence, ATT&amp;CK coverage and reports to analysts.</a:t>
            </a:r>
          </a:p>
        </p:txBody>
      </p: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H="1">
            <a:off x="381000" y="2819400"/>
            <a:ext cx="4933950" cy="214312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055B77-946C-4AB5-8CB0-E8DE46DC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383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Design principle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0F1560-0619-456B-B7CF-577D03AB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812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Every metric traces to a real query or a real engine. When an external capability has not been configured, the interface reports that state instead of fabricating output.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FDCAEA-B509-4C5A-BE14-204D6612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86250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52"/>
          </a:solidFill>
          <a:ln xmlns:a="http://schemas.openxmlformats.org/drawingml/2006/main" w="9525">
            <a:solidFill>
              <a:srgbClr val="1CB6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B39955-C2FF-4967-BD01-2D975AEC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34340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LOCAL-FIRST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B9BF98-28E0-453A-9606-69DEE4E3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862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52"/>
          </a:solidFill>
          <a:ln xmlns:a="http://schemas.openxmlformats.org/drawingml/2006/main" w="9525">
            <a:solidFill>
              <a:srgbClr val="CB6C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C82C56-DCF5-4F7B-9B23-E9F8870F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43400"/>
            <a:ext cx="137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EVIDENCE-READY</a:t>
            </a:r>
          </a:p>
        </p:txBody>
      </p:sp>
    </p:spTree>
    <p:extLst>
      <p:ext uri="{BB962C8B-B14F-4D97-AF65-F5344CB8AC3E}">
        <p14:creationId xmlns:p14="http://schemas.microsoft.com/office/powerpoint/2010/main" val="985718180"/>
      </p:ext>
    </p:extLst>
  </p:cSld>
  <p:transition spd="med" advClick="1">
    <p:fade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1A7B95-ABCA-4205-B80E-AA839958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Platform at a glance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F7289-AA60-4021-9D48-A4AA1A6A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78831-C61C-40ED-B222-C7758D4F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A single laptop deployment combines deception, detection, investigation and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F2A00-FCDC-4521-A194-50F5BDDB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E3FC3-7035-42EF-BD6B-7265DD6C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C2D2"/>
                </a:solidFill>
                <a:latin typeface="Arial"/>
                <a:ea typeface="Arial"/>
                <a:cs typeface="Arial"/>
              </a:rPr>
              <a:t>SHADOW TRUST  |  SECURITY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3C83F-7B32-4444-9895-A2935B49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1A4C1-F691-43CC-AF16-C9E822F7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8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A8978-0DD0-4B40-ABB2-F4BB0E20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attack-facing sensors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F9593-4EDC-4711-85E0-58BD227E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097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8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9FE87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9FE870"/>
                </a:solidFill>
                <a:latin typeface="Arial"/>
                <a:ea typeface="Arial"/>
                <a:cs typeface="Arial"/>
              </a:rPr>
              <a:t>133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C7AE6D-9094-4546-BDB0-B58D4792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8600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automated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4F69E-DD51-43CF-83CF-627C7FB3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097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8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CB6CE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CB6CE6"/>
                </a:solidFill>
                <a:latin typeface="Arial"/>
                <a:ea typeface="Arial"/>
                <a:cs typeface="Arial"/>
              </a:rPr>
              <a:t>49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8B5DCF-813B-473E-9B25-7F2E5D96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8600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SOC 2 criteria mapped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7EE02E-2ACE-4A18-B242-4B9CFB44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8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C857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B7A431-225C-4AF8-A626-37196182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live evidence collectors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10194F-C33B-49B5-9D38-1F0B6EA8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A5E9BF-CE87-4CDF-AB2D-698FA584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048000" cy="1885950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380046-CD65-4635-A4E8-A22EC585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973662-5F3E-4BD3-91AA-A35856BB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48075"/>
            <a:ext cx="2705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Deception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CB4CC0-1559-4D8B-B5FD-039D6B8C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2705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Cowrie, Dionaea and Honeytrap capture session activity, credentials, payloads and connection attempts.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098053-FC1C-4C38-AF5D-05E774F8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76625"/>
            <a:ext cx="3048000" cy="1885950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880979-530A-4FF9-8254-1276DA44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76625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6CE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27CC7E-678F-409C-8E38-3CD642C1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48075"/>
            <a:ext cx="2705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Detection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58F37A-B32C-4500-BCB8-97E6AF38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00500"/>
            <a:ext cx="2705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YAML and Sigma-compatible rules generate explainable detections, incidents and validation results.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2CC945-905F-4350-8ADC-42ADFF47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76625"/>
            <a:ext cx="3048000" cy="1885950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BA59BC-05C8-4BC0-8742-C07BE862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76625"/>
            <a:ext cx="304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391A4B-B3F1-4CDF-BDD5-2EA22DE0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48075"/>
            <a:ext cx="2705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Investigation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367E36-5217-46E1-AE1E-038D758C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00500"/>
            <a:ext cx="2705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Behavior profiling, MITRE mapping, malware tools, labs, reports and compliance evidence support analysts.</a:t>
            </a:r>
          </a:p>
        </p:txBody>
      </p:sp>
      <p:cxnSp>
        <p:nvCxnSpPr>
          <p:cNvPr id="57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657600" y="44196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467600" y="44196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414460076"/>
      </p:ext>
    </p:extLst>
  </p:cSld>
  <p:transition spd="med" advClick="1"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F8962D-BBFD-4164-8BDA-B4D46FA0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Attack-facing sensor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64581-EBF5-49D3-91FF-85791548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41181-6067-4900-B875-FDF46D9A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Three specialized honeypots receive attacker traffic while keeping the application network out of reach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FD6C2-23E1-431F-8880-DFB94F94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8AE37-7899-43D8-A289-9A59F799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C2D2"/>
                </a:solidFill>
                <a:latin typeface="Arial"/>
                <a:ea typeface="Arial"/>
                <a:cs typeface="Arial"/>
              </a:rPr>
              <a:t>SHADOW TRUST  |  SECURITY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33C6B-95AF-4757-BE2D-4E84A367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C0B5D-1185-4CF3-ABE6-7CE0AA4F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19250"/>
            <a:ext cx="4000500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222834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B7F8D2-1AC2-4CAE-BAFB-5E2526F9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1925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1F19F2-7A80-4212-AE02-4C5D707B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90700"/>
            <a:ext cx="3657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Internet / controlled test traffic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9595C-05E4-4ED3-A274-D2A8E3EA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43125"/>
            <a:ext cx="3657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Scans, brute-force attempts, service probes and payload delivery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C1290-BD47-4AF1-A601-DF6CD0B1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2857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AA934A-FD95-4310-9294-84356C8D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37B71-E608-4D22-95B9-0D4063F5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2514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Cowrie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B3059F-217B-4EB3-9922-99D44DFB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48125"/>
            <a:ext cx="2514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SSH / Telnet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Commands, sessions and captured credentials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78FC39-1559-4241-8579-B188F796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2857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565DDF-ADCB-49B3-B93B-0E5FCCFD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6CE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B7E337-473F-4931-9B17-32090A5E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95700"/>
            <a:ext cx="2514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Dionaea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DC7D15-2868-42BD-81F0-3132F1F5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48125"/>
            <a:ext cx="2514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SMB / FTP / MSSQL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Malware-capture and connection records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372B8D-F9BD-4AFA-B826-34D51CE6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24250"/>
            <a:ext cx="2857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84C7C5-1C0D-49B3-9122-D1F4FA9C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242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CC425A-7BCF-4904-B7C4-F02F2596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95700"/>
            <a:ext cx="2514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Honeytrap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0937F4-45A0-4C68-BC01-742458FF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48125"/>
            <a:ext cx="2514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Multi-port services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Additional reconnaissance and probe coverage</a:t>
            </a:r>
          </a:p>
        </p:txBody>
      </p:sp>
      <p:cxnSp>
        <p:nvCxnSpPr>
          <p:cNvPr id="49" name=""/>
          <p:cNvCxnSpPr>
            <a:stCxn xmlns:a="http://schemas.openxmlformats.org/drawingml/2006/main" id="7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2038350" y="2428875"/>
            <a:ext cx="405765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6B6B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7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6096000" y="2428875"/>
            <a:ext cx="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6B6B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6096000" y="2428875"/>
            <a:ext cx="405765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6B6B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A432F2-690D-43A5-AC9E-425323A2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9117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32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8FD0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FD0EA"/>
                </a:solidFill>
                <a:latin typeface="Arial"/>
                <a:ea typeface="Arial"/>
                <a:cs typeface="Arial"/>
              </a:rPr>
              <a:t>Sensor outputs are written as newline-delimited JSON for collection. The sensors live only on the isolated honeynet_edge network.</a:t>
            </a:r>
          </a:p>
        </p:txBody>
      </p:sp>
    </p:spTree>
    <p:extLst>
      <p:ext uri="{BB962C8B-B14F-4D97-AF65-F5344CB8AC3E}">
        <p14:creationId xmlns:p14="http://schemas.microsoft.com/office/powerpoint/2010/main" val="1971677614"/>
      </p:ext>
    </p:extLst>
  </p:cSld>
  <p:transition spd="med" advClick="1"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7C2FB8-ED5B-44E3-A299-6BE4DA3D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0809A-FD11-4C9D-8822-358A51AF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8251B-80F8-43CD-9D40-F5CAEB3B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The local-first path moves from isolated telemetry to an authenticated analyst workspace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C60FD-8F54-4AD1-808E-E98220CA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892A0-21A0-4027-A73E-D4DD536D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C2D2"/>
                </a:solidFill>
                <a:latin typeface="Arial"/>
                <a:ea typeface="Arial"/>
                <a:cs typeface="Arial"/>
              </a:rPr>
              <a:t>SHADOW TRUST  |  SECURITY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C9346-B2A4-4A38-A5E1-974F29E7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60b69caa14456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53450" y="1714500"/>
            <a:ext cx="2428875" cy="2428875"/>
          </a:xfrm>
          <a:prstGeom xmlns:a="http://schemas.openxmlformats.org/drawingml/2006/main" prst="roundRect">
            <a:avLst>
              <a:gd name="adj" fmla="val 627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0B6C4-7CFA-4BD0-ACBD-EFBA8D74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809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05D772-DA67-4237-B572-1A961ACA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A3DA45-4AEF-466D-9F7D-306B34E0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14575"/>
            <a:ext cx="1466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Honeynet edge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F07B0-EA16-4476-B23A-BD1E82D9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466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Cowrie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Dionaea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Honeytrap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E8020-1216-4CBB-987E-944FAECB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43125"/>
            <a:ext cx="1809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4AA330-72D8-4B93-A478-3F9C2644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431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B6A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B53414-C0F3-4BAD-B8ED-D1733C93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14575"/>
            <a:ext cx="1466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Raw telemetry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F49C5E-4B65-41E1-BDC5-6366D896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67000"/>
            <a:ext cx="1466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Read-only log mount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telemetry/raw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EDA84D-30DE-4A5A-A5FC-7836488B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52625"/>
            <a:ext cx="21907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3779EB-2590-4F1F-94D6-0202DE6D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52625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6CE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0961AC-BDFB-4AD6-82DF-A3287408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24075"/>
            <a:ext cx="1847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FastAPI backend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8E8314-5B0B-4F3E-92D0-19B4821D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76500"/>
            <a:ext cx="18478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Collector, normalizer, detection engine, incidents, reports and APIs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B889E2-A60C-41C7-B1C0-023129C9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762500"/>
            <a:ext cx="2190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9C7946-848C-4A84-849E-496B468C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76250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46ADA5-B685-4D95-AF00-22F5C73B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33950"/>
            <a:ext cx="1847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MariaDB 11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659332-6DE0-443D-B129-DCBECA08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286375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4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Application data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Events, sessions, evidence and users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543072-6B2C-4160-8057-04FD58A0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19625"/>
            <a:ext cx="238125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CECAD2-6040-4C9B-AAB6-4E8B6A95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19625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B544B6-2DB0-4978-B8F7-EA72A4B5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91075"/>
            <a:ext cx="2038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Operator UI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A122AB-D05C-4405-B73C-6445F6DD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43500"/>
            <a:ext cx="2038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Nginx-served dashboard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Authenticated REST + SSE</a:t>
            </a:r>
          </a:p>
        </p:txBody>
      </p:sp>
      <p:cxnSp>
        <p:nvCxnSpPr>
          <p:cNvPr id="60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419350" y="29527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010150" y="29527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tail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16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6886575" y="3952875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C857"/>
            </a:solidFill>
            <a:prstDash val="solid"/>
            <a:tail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16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981950" y="2952750"/>
            <a:ext cx="838200" cy="22621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E870"/>
            </a:solidFill>
            <a:prstDash val="solid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B00D1E-08F6-4C1F-AE5E-A8E19252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Optional services add APK analysis, remote desktop labs and AWS telemetry / VM orchestration.</a:t>
            </a:r>
          </a:p>
        </p:txBody>
      </p:sp>
    </p:spTree>
    <p:extLst>
      <p:ext uri="{BB962C8B-B14F-4D97-AF65-F5344CB8AC3E}">
        <p14:creationId xmlns:p14="http://schemas.microsoft.com/office/powerpoint/2010/main" val="1217750858"/>
      </p:ext>
    </p:extLst>
  </p:cSld>
  <p:transition spd="med" advClick="1">
    <p:fade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D9F6B4-6BB0-4D81-BD20-C7870509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Trust boundaries and containment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8AAF0-E354-4E77-A513-CAE81CDB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14BBA-E5FD-4CDA-968B-8D4147F4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The edge network and application network do not bridge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202CC-85D5-4389-A25C-C35E8F67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092BE-08AC-4E23-A5E9-EAC843A4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C2D2"/>
                </a:solidFill>
                <a:latin typeface="Arial"/>
                <a:ea typeface="Arial"/>
                <a:cs typeface="Arial"/>
              </a:rPr>
              <a:t>SHADOW TRUST  |  SECURITY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C4A64-7D40-4F52-9F26-24BB80D2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D46EA0-9486-40F5-B906-2E762A15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4714875" cy="371475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0A2736"/>
          </a:solidFill>
          <a:ln xmlns:a="http://schemas.openxmlformats.org/drawingml/2006/main" w="19050">
            <a:solidFill>
              <a:srgbClr val="36D1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AD981-A608-4FA8-B3B7-95B03084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honeynet_edge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C1AC1-5E28-4E4B-A856-B7DD242E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Attack-facing sensors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Cowrie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Dionaea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Honeytrap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Compromise is assumed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244B0F-3071-443D-AEC0-DCB11186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762125"/>
            <a:ext cx="4714875" cy="371475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102635"/>
          </a:solidFill>
          <a:ln xmlns:a="http://schemas.openxmlformats.org/drawingml/2006/main" w="19050">
            <a:solidFill>
              <a:srgbClr val="9FE87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3A18EE-EEDE-472A-8E30-C6DACF77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383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9FE87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FE870"/>
                </a:solidFill>
                <a:latin typeface="Arial"/>
                <a:ea typeface="Arial"/>
                <a:cs typeface="Arial"/>
              </a:rPr>
              <a:t>honeynet_app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36D0E6-C1AE-4279-9399-20463854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667000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Backend and database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Frontend / Nginx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MariaDB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Guacamole stack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MobSF / lab services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E77C6A-F077-4667-8320-1E5F7758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62300"/>
            <a:ext cx="14478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361D27"/>
          </a:solidFill>
          <a:ln xmlns:a="http://schemas.openxmlformats.org/drawingml/2006/main" w="19050">
            <a:solidFill>
              <a:srgbClr val="FF6B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354AB4-C1E1-4012-A30F-90C0641F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3375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25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NO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NETWORK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4F2258-18B4-4692-A062-E6C928C1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886450"/>
            <a:ext cx="838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8FD0E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8FD0EA"/>
                </a:solidFill>
                <a:latin typeface="Arial"/>
                <a:ea typeface="Arial"/>
                <a:cs typeface="Arial"/>
              </a:rPr>
              <a:t>Permitted channel: sensors write log files; the backend reads them through a read-only mount</a:t>
            </a:r>
          </a:p>
        </p:txBody>
      </p:sp>
    </p:spTree>
    <p:extLst>
      <p:ext uri="{BB962C8B-B14F-4D97-AF65-F5344CB8AC3E}">
        <p14:creationId xmlns:p14="http://schemas.microsoft.com/office/powerpoint/2010/main" val="222166624"/>
      </p:ext>
    </p:extLst>
  </p:cSld>
  <p:transition spd="med" advClick="1">
    <p:fade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7EB72E-30EF-48B7-8432-9951E7D0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Telemetry ingestion and normalization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4EBCB-22AE-46CB-971C-4A630E4B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21DA0-8B50-4A83-9962-944579D8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A cursor-based collector turns sensor-specific logs into a shared investigation schema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6384F-975A-4501-A247-2886855F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4F1CB-E25B-4347-A09D-BE5AEE3B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C2D2"/>
                </a:solidFill>
                <a:latin typeface="Arial"/>
                <a:ea typeface="Arial"/>
                <a:cs typeface="Arial"/>
              </a:rPr>
              <a:t>SHADOW TRUST  |  SECURITY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190AF-0718-4C57-BDB5-717709DD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D59BA-54BF-47F4-A10D-0B952912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19375"/>
            <a:ext cx="1857375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59097-4C4D-4EC5-B08A-791745FA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19375"/>
            <a:ext cx="1857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6DD31E-00E6-47E2-92C1-DB42051E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90825"/>
            <a:ext cx="1514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Sensor log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8D604B-2BAA-4684-9E99-E1228221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43250"/>
            <a:ext cx="15144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Cowrie, Dionaea or Honeytrap writes raw 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661217-1FAD-4F92-BADF-ACEC25F4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952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B1D4D0-B06E-42D9-84A6-E66A8284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0764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374BC1-C789-46EC-ACEF-06016FC0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619375"/>
            <a:ext cx="1857375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E00198-354D-4FB9-BFDC-11BA9B59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619375"/>
            <a:ext cx="1857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B6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CA53B6-7EDB-48CC-89C0-AA1EC49A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90825"/>
            <a:ext cx="1514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Tail + cursor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450336-3B65-48B3-ACD5-13BB9D55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43250"/>
            <a:ext cx="15144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Collector reads only new records every few seconds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82DF5A-721E-4012-93D0-991E7CFD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952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B6A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190FCC-2EEB-4122-B628-F287699F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0764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B2E92D-8B91-4AA2-B0C7-48B6FCFE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619375"/>
            <a:ext cx="1857375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23EA32-51D3-429F-854B-9F3FF502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619375"/>
            <a:ext cx="1857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6CE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F6603F-99D3-4B4A-9DD0-133C1A23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790825"/>
            <a:ext cx="1514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Normalize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20C15C-8878-4958-A589-0620B597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143250"/>
            <a:ext cx="15144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Map fields into a sensor-agnostic event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BBBC71-967D-4859-B10C-29A61BF4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952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6CE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38F883-39B2-481C-81F8-4E5C61E3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0764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ECEAAA-3AE6-4C02-B070-D9E51370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619375"/>
            <a:ext cx="1857375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B641B0-7651-4553-8374-30990CA8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619375"/>
            <a:ext cx="1857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F001E0-C5D6-4C77-B6FC-3EE1FA73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790825"/>
            <a:ext cx="1514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Deduplicate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FC8E6D-ED2F-45A9-96E1-980E3078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143250"/>
            <a:ext cx="15144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Content hash blocks duplicate records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AACD2C-02BD-41BD-9F70-19722EE3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52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F694DD-0888-4351-A2C4-ED8EDFBB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764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E03129-D838-40A9-BC4F-5CFAB111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619375"/>
            <a:ext cx="1857375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8E236C-99FB-43B8-ADAC-81D75A8E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619375"/>
            <a:ext cx="1857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646F9A-32B4-4AA4-BF3A-923783B9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790825"/>
            <a:ext cx="1514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Persist + stream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A43BC2-D976-43E9-99F9-8D004A02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143250"/>
            <a:ext cx="15144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Store for queries and publish live updates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1E6CFD-753D-46B9-87AC-46B2BAA3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952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4BFC12-6833-42E7-9A05-C61E6632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0764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cxnSp>
        <p:nvCxnSpPr>
          <p:cNvPr id="78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381250" y="3524250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tail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13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686300" y="3524250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tail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6991350" y="3524250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296400" y="3524250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tailEnd type="triangle" w="sm" len="sm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B43B4C-8CB6-4DAC-8CB4-62EC38CA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95875"/>
            <a:ext cx="923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8FD0E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FD0EA"/>
                </a:solidFill>
                <a:latin typeface="Arial"/>
                <a:ea typeface="Arial"/>
                <a:cs typeface="Arial"/>
              </a:rPr>
              <a:t>The system retains raw telemetry while also building structured events, sessions and correlated evidence for the analyst workflow.</a:t>
            </a:r>
          </a:p>
        </p:txBody>
      </p:sp>
    </p:spTree>
    <p:extLst>
      <p:ext uri="{BB962C8B-B14F-4D97-AF65-F5344CB8AC3E}">
        <p14:creationId xmlns:p14="http://schemas.microsoft.com/office/powerpoint/2010/main" val="875767266"/>
      </p:ext>
    </p:extLst>
  </p:cSld>
  <p:transition spd="med" advClick="1">
    <p:fade/>
  </p:transition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D8DB66-2A59-425D-9048-9A2416CF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Detection to incident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AE6BE-CD6A-4428-A639-B2515110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E8187-27C1-4C02-9307-F60C1FFC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Rules, correlation and evidence explain why an alert exists and how it relates to the attack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D8AED-599D-4089-9307-1C82D2EA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8C70F-FEF7-46B1-8D37-5E27813A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C2D2"/>
                </a:solidFill>
                <a:latin typeface="Arial"/>
                <a:ea typeface="Arial"/>
                <a:cs typeface="Arial"/>
              </a:rPr>
              <a:t>SHADOW TRUST  |  SECURITY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5C751-7267-4DB3-A3B2-B806E0D3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6745D-EB65-4AC0-8010-C3CA1FDB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809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6C806-6B80-4903-86BA-CBFC7314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B33203-3D44-4427-8F63-0F92CBA5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1466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9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Normalized event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97153B-D438-471A-A354-B380430A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1466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Protocol, source, session, command or payload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08B1B0-0252-469B-B5A7-7CDC3AE3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76500"/>
            <a:ext cx="1809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EE4E43-0D5A-4BEA-95BF-518AD5BF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765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6CE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1EC6B-B91B-469E-8268-3F2A2FBC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47950"/>
            <a:ext cx="1466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Rule evaluation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7DC0D7-3FC4-458C-B6B8-65AF4E06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00375"/>
            <a:ext cx="1466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YAML detections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Sigma support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Correlation cycle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AAA5AE-4E57-4091-A448-8E8C1EE4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76500"/>
            <a:ext cx="1809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4BF563-3F84-4F16-8F5C-E45A9657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765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224070-3E20-4F5E-8CF8-EB4D17E1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47950"/>
            <a:ext cx="1466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Detection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39B725-BC76-47B2-8052-56721A49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00375"/>
            <a:ext cx="1466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Risk breakdown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Technique candidates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Linked indicators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A424A4-DB77-41AC-90FE-FC4A582C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76500"/>
            <a:ext cx="1809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DB4817-605A-4034-83CD-62DA9BD0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765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781581-DEE9-4A5B-8094-7A32EBC7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1466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Incident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FBCD90-20DD-4BEB-A5A9-A0B8EBCC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0375"/>
            <a:ext cx="1466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Timeline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Evidence chain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Analyst audit trail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3773B4-AEC1-4644-9048-B323CB6E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76500"/>
            <a:ext cx="1809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9C4D75-241B-441A-8F9D-1A305581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765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9D960D-05DC-4BC6-B9DB-277504EF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47950"/>
            <a:ext cx="1466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3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Response record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C0E8ED-65DC-45CF-9445-142928C1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00375"/>
            <a:ext cx="1466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Report download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Validation result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GRC evidence</a:t>
            </a:r>
          </a:p>
        </p:txBody>
      </p:sp>
      <p:cxnSp>
        <p:nvCxnSpPr>
          <p:cNvPr id="58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419350" y="32861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572000" y="32861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724650" y="32861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877300" y="32861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6FB136-6C65-4BFA-A1A1-EF6B3B7A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The incident view preserves the reconstruction path rather than reducing an attack to a single unexplained severity score.</a:t>
            </a:r>
          </a:p>
        </p:txBody>
      </p:sp>
    </p:spTree>
    <p:extLst>
      <p:ext uri="{BB962C8B-B14F-4D97-AF65-F5344CB8AC3E}">
        <p14:creationId xmlns:p14="http://schemas.microsoft.com/office/powerpoint/2010/main" val="1128018419"/>
      </p:ext>
    </p:extLst>
  </p:cSld>
  <p:transition spd="med" advClick="1">
    <p:fade/>
  </p:transition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0F471D-725B-47F8-B4ED-53405337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Analyst investigation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48257-CC06-4839-841E-32420681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7B3D4-16E7-426B-86AC-00573165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The operator can move from an alert to a defensible case without leaving the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3DEDA-8A15-43BC-9760-E9D0B7AD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8D7E2-B492-4ABD-BAD0-36F5ADDB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C2D2"/>
                </a:solidFill>
                <a:latin typeface="Arial"/>
                <a:ea typeface="Arial"/>
                <a:cs typeface="Arial"/>
              </a:rPr>
              <a:t>SHADOW TRUST  |  SECURITY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1FF457-12AD-4440-A464-BB3CA5B5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DAD7E-6CC6-46D7-9F98-0D259B8C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1857375" cy="1857375"/>
          </a:xfrm>
          <a:prstGeom xmlns:a="http://schemas.openxmlformats.org/drawingml/2006/main" prst="roundRect">
            <a:avLst>
              <a:gd name="adj" fmla="val 8205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F2B57-D568-4083-8D9C-4CC03E80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1857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958623-3EFF-4E01-87BC-A99E5305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1514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C6BAD-9B65-4D74-8B62-9BF6F4D5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05125"/>
            <a:ext cx="15144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Open live events, health and dashboard signals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DF194-24E6-4E59-A520-11A35F00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D54391-A07A-417F-A0E6-AA3A8F2C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857375" cy="1857375"/>
          </a:xfrm>
          <a:prstGeom xmlns:a="http://schemas.openxmlformats.org/drawingml/2006/main" prst="roundRect">
            <a:avLst>
              <a:gd name="adj" fmla="val 8205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46D450-167B-4FD1-A909-3CC1286A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857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B6A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C6222-79D9-4537-AC71-34AB0330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52700"/>
            <a:ext cx="1514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3C49E7-82F5-4A5B-A186-99DD345A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05125"/>
            <a:ext cx="15144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Pivot into session, source IP, credentials and IOCs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4F6837-1D89-4FF5-BA52-8C4EACD9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5262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CB6A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CB6A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CE59AA-0A8C-4916-BDE2-E5899608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81250"/>
            <a:ext cx="1857375" cy="1857375"/>
          </a:xfrm>
          <a:prstGeom xmlns:a="http://schemas.openxmlformats.org/drawingml/2006/main" prst="roundRect">
            <a:avLst>
              <a:gd name="adj" fmla="val 8205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6E8921-CC1D-4B5D-B146-728D0880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81250"/>
            <a:ext cx="1857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6CE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041282-8F31-41ED-A8AD-2FCA5AA8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52700"/>
            <a:ext cx="1514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4D6798-34C4-4697-99E6-3C3AD325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05125"/>
            <a:ext cx="15144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Read timeline, risk breakdown and MITRE coverage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7E0449-E482-4112-8FE5-6EAE4878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5262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CB6CE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B6CE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F38575-1493-4A6A-AA85-9296150D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0"/>
            <a:ext cx="1857375" cy="1857375"/>
          </a:xfrm>
          <a:prstGeom xmlns:a="http://schemas.openxmlformats.org/drawingml/2006/main" prst="roundRect">
            <a:avLst>
              <a:gd name="adj" fmla="val 8205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3C084D-B33B-4E62-B981-A95B4E45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0"/>
            <a:ext cx="1857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B8A1FD-A613-4CE3-9461-18FA4954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52700"/>
            <a:ext cx="1514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35083A-41EF-49FA-AA80-E3356293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05125"/>
            <a:ext cx="15144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Run an authorized local scenario to measure detections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F12008-1C00-4663-9862-A476817A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95262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C85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FCE64F-C74B-4EA6-89CA-CF94B684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81250"/>
            <a:ext cx="1857375" cy="1857375"/>
          </a:xfrm>
          <a:prstGeom xmlns:a="http://schemas.openxmlformats.org/drawingml/2006/main" prst="roundRect">
            <a:avLst>
              <a:gd name="adj" fmla="val 8205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2F928E-C464-48DD-939E-E3AF71A9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81250"/>
            <a:ext cx="1857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7E63F7-F430-494B-BD5E-365A1237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52700"/>
            <a:ext cx="1514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Document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D92434-27A6-4F38-B7DC-47FDC834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905125"/>
            <a:ext cx="15144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Generate evidence-backed report and audit record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E674F4-477A-4CF7-8601-A76AD710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952625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9FE87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FE87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cxnSp>
        <p:nvCxnSpPr>
          <p:cNvPr id="68" name="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428875" y="3309938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714875" y="3309938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17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000875" y="3309938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22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286875" y="3309938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tail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815B8A-A350-47CB-8E88-B97450E3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91125"/>
            <a:ext cx="885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9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8FD0E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FD0EA"/>
                </a:solidFill>
                <a:latin typeface="Arial"/>
                <a:ea typeface="Arial"/>
                <a:cs typeface="Arial"/>
              </a:rPr>
              <a:t>Outcome: analysts can connect attack activity with evidence, coverage and an auditable action trail.</a:t>
            </a:r>
          </a:p>
        </p:txBody>
      </p:sp>
    </p:spTree>
    <p:extLst>
      <p:ext uri="{BB962C8B-B14F-4D97-AF65-F5344CB8AC3E}">
        <p14:creationId xmlns:p14="http://schemas.microsoft.com/office/powerpoint/2010/main" val="1479000413"/>
      </p:ext>
    </p:extLst>
  </p:cSld>
  <p:transition spd="med" advClick="1">
    <p:fade/>
  </p:transition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0839CD-72DC-49EA-B3CC-A5397A85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Behavior profiling and MITRE mapping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EF65D-3884-4200-A1C8-5A223AC5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3B234-4811-4189-BA3C-AE77FA96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The platform describes what the attacker did from observed signals without claiming named-APT attribution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36860-46DA-4D47-B247-0F50047A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B8B51-3709-4C71-9D2B-BD78FCF2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C2D2"/>
                </a:solidFill>
                <a:latin typeface="Arial"/>
                <a:ea typeface="Arial"/>
                <a:cs typeface="Arial"/>
              </a:rPr>
              <a:t>SHADOW TRUST  |  SECURITY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53F35-EDDC-4C91-B4BA-7FD83393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D0154-26DA-4B70-8E28-0409FA86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238500" cy="252412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0FA0D7-4869-4A98-A008-8884785C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7942B9-BFBA-4828-BF4D-DB78E6CB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24075"/>
            <a:ext cx="2895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Observed interaction graph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2F99BE-87D6-48FE-98BA-256DA39E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895600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Nodes represent sessions, sources, commands or targets. Edges capture observed relationships across attacker activity.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2176DB-A9D1-4175-877F-1D02C60D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2381250" cy="25241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25A93-E2A7-4FE2-A260-973BFF07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6CE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5C3CAC-6803-47DF-BC10-6D923431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24075"/>
            <a:ext cx="2038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Measured signals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872170-EF3B-427B-ADFE-DC73C906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76500"/>
            <a:ext cx="2038350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Centrality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Command patterns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Credential behavior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Session timing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9F5F9E-B55D-4301-A87D-B3C2DDFC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52625"/>
            <a:ext cx="3476625" cy="252412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EDEED4-B2AD-47A0-A59D-6D707F6F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52625"/>
            <a:ext cx="3476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CADAEC-4B65-427A-AABC-8F45D304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24075"/>
            <a:ext cx="3133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Actionable classification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3B7630-30F3-4021-AFED-0311DA75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76500"/>
            <a:ext cx="3133725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Automated scanner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Credential-stuffing bot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Hands-on-keyboard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Mapped ATT&amp;CK techniques</a:t>
            </a:r>
          </a:p>
        </p:txBody>
      </p: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848100" y="3214688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858000" y="3214688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FE810E-CC9C-4E73-AA6E-EA662B6E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6730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89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Classification remains evidence-led: observed behavior supports operational triage, while attribution requires separate intelligence and validation.</a:t>
            </a:r>
          </a:p>
        </p:txBody>
      </p:sp>
    </p:spTree>
    <p:extLst>
      <p:ext uri="{BB962C8B-B14F-4D97-AF65-F5344CB8AC3E}">
        <p14:creationId xmlns:p14="http://schemas.microsoft.com/office/powerpoint/2010/main" val="1072337225"/>
      </p:ext>
    </p:extLst>
  </p:cSld>
  <p:transition spd="med" advClick="1">
    <p:fade/>
  </p:transition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6E487D-8312-4411-B48B-2CD7865B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Detection validation and SOC 2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19959-F2F7-42BB-85A0-B638D84B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6EC5C-C65A-4492-AD88-65127E1B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Security controls are tested against controlled scenarios and tied to live evidence collectors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CB8C6-9FC3-45D5-89D1-3203F9B1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6B1AA-2AD6-4873-A3C4-C92F8CD2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C2D2"/>
                </a:solidFill>
                <a:latin typeface="Arial"/>
                <a:ea typeface="Arial"/>
                <a:cs typeface="Arial"/>
              </a:rPr>
              <a:t>SHADOW TRUST  |  SECURITY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E0BBF4-E4F5-4038-A6D0-5B9FD77D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5E6AD-7EFD-4D6C-AB48-F85505B8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619375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40550C-53C5-427B-977E-F1303FB7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619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E281B-D269-43F8-8255-D0C9593A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2276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Controlled scenario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B03BB-3171-4F77-9692-CDF1D613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227647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Authorized local attack scenario targets 127.0.0.1 and exercises a known detection path.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CCAC1-AC34-42EB-BB27-91C6050A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90750"/>
            <a:ext cx="2619375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007578-B03B-49FC-A364-B2202045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90750"/>
            <a:ext cx="2619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071680-1C67-466B-84BA-689FBB2E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62200"/>
            <a:ext cx="2276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Detection grade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F6094-BA6B-4087-95E4-6E802F98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14625"/>
            <a:ext cx="227647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After one detection cycle, the system reports PASS, PARTIAL or FAIL with rate and ATT&amp;CK coverage.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328AE8-15BB-47BB-A487-CCE32CF0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3286125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8BD4CB-9FE1-4508-AAE7-BB99092B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3286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9FCCC5-C304-4B0F-A836-02869C3A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62200"/>
            <a:ext cx="29432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Readiness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B0922F-8272-4CFE-82AC-6C1F9926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14625"/>
            <a:ext cx="29432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49 Trust Services Criteria map to 25 live collectors. Controls may score met, partial, gap or manual.</a:t>
            </a:r>
          </a:p>
        </p:txBody>
      </p: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228975" y="3238500"/>
            <a:ext cx="790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638925" y="3238500"/>
            <a:ext cx="790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772E5F-E076-43D7-ACA7-0488F612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95875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8FD0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FD0EA"/>
                </a:solidFill>
                <a:latin typeface="Arial"/>
                <a:ea typeface="Arial"/>
                <a:cs typeface="Arial"/>
              </a:rPr>
              <a:t>The readiness assessment helps identify gaps. It does not replace an independent SOC 2 examination by a licensed CPA firm.</a:t>
            </a:r>
          </a:p>
        </p:txBody>
      </p:sp>
    </p:spTree>
    <p:extLst>
      <p:ext uri="{BB962C8B-B14F-4D97-AF65-F5344CB8AC3E}">
        <p14:creationId xmlns:p14="http://schemas.microsoft.com/office/powerpoint/2010/main" val="1674447"/>
      </p:ext>
    </p:extLst>
  </p:cSld>
  <p:transition spd="med" advClick="1">
    <p:fade/>
  </p:transition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C47859-8306-4B52-9FAE-45D60D2C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Threat analysis toolkit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FB1D4-B58D-4317-BD32-CF2080FE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A57BC-F24A-4E73-85EC-CD3A3B05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Static and dynamic workflows share the same investigation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37702-D431-45F2-887F-C5CB9E60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FB94E-C5BA-4D24-B2F2-8A94128A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C2D2"/>
                </a:solidFill>
                <a:latin typeface="Arial"/>
                <a:ea typeface="Arial"/>
                <a:cs typeface="Arial"/>
              </a:rPr>
              <a:t>SHADOW TRUST  |  SECURITY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B704A-8D0C-487F-88C3-97179035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d9aa95c47d4ce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4850" y="1666875"/>
            <a:ext cx="2667000" cy="266700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5C1A20-28D3-4C23-B811-433DA68F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3476625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035790-452D-45CB-82EF-EEB0DF07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3476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50E44-F464-4FCA-A63A-4F865B30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33575"/>
            <a:ext cx="3133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Binary 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5CD31D-715E-4FEB-8E53-55D23F93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31337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Static parsing, YARA, ClamAV and secret-pattern checks. CAPE detonation becomes available when configured.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9D2F39-D0BB-40AB-B1D2-905CC201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476625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A21252-18DC-4F5C-B608-71AB1E3E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476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6CE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A1633E-639C-41B4-9F69-B2F674BE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133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APK inspector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3DEF85-0B9C-40D2-BF58-D90C195F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38625"/>
            <a:ext cx="31337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MobSF-backed Android analysis with a locally hosted service endpoint.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B05083-FBAB-46DB-8DD5-072A00BF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62125"/>
            <a:ext cx="3190875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B81878-6722-4243-AA6C-7024FCFF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62125"/>
            <a:ext cx="3190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014CD6-4345-480E-9ED2-78F3E0FB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933575"/>
            <a:ext cx="2847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URL scanner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C4CDB1-AFB5-42F2-B42A-2B43BCC8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86000"/>
            <a:ext cx="28479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DNS, SSL and HTTP probing with entropy, homograph, WHOIS and geolocation checks.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A372B1-BA75-4D52-810D-B13B0811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14750"/>
            <a:ext cx="3190875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E270BF-AAB3-4300-82A5-AE4735A3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14750"/>
            <a:ext cx="3190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EDF30D-7FD0-4313-9AF7-C0619205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886200"/>
            <a:ext cx="28479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Unified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C9C006-7770-484A-9140-1C64CA64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238625"/>
            <a:ext cx="28479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Findings can feed reports, incident evidence and analyst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99691868"/>
      </p:ext>
    </p:extLst>
  </p:cSld>
  <p:transition spd="med" advClick="1">
    <p:fade/>
  </p:transition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DDC53F-5508-4B4C-A775-30DB4C6B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Hands-on analysis environments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D1C36-BA9A-4C2F-B6AB-7685BF0B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22B7F-9DD8-4657-8541-A314DF1D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Disposable labs provide a safe place to observe behavior while the platform captures the resulting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6275B-2151-4FAA-8921-0C719379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94438-5CF9-4C23-8A2B-88CD1F39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C2D2"/>
                </a:solidFill>
                <a:latin typeface="Arial"/>
                <a:ea typeface="Arial"/>
                <a:cs typeface="Arial"/>
              </a:rPr>
              <a:t>SHADOW TRUST  |  SECURITY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65198-5F87-44F2-AF49-E4637281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2D13F6-CF69-4D6D-8A14-E6DE92C8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476750" cy="2809875"/>
          </a:xfrm>
          <a:prstGeom xmlns:a="http://schemas.openxmlformats.org/drawingml/2006/main" prst="roundRect">
            <a:avLst>
              <a:gd name="adj" fmla="val 5424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CC33E-9CEC-439F-88E1-616E3807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47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E97E6-64C8-4B9E-8E27-5274A174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24075"/>
            <a:ext cx="413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Analysis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5B4055-6FC7-4A93-9D3C-1B114D47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133850" cy="2181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Interactive terminal inside a disposable Linux sandbox. The sandbox uses an internal, egress-free network. Commands and outbound connection attempts feed the pipeline.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4B41DA-85D6-4641-A40A-D92E7DC8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52625"/>
            <a:ext cx="4476750" cy="2809875"/>
          </a:xfrm>
          <a:prstGeom xmlns:a="http://schemas.openxmlformats.org/drawingml/2006/main" prst="roundRect">
            <a:avLst>
              <a:gd name="adj" fmla="val 5424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05BE2A-EF71-4A32-8D47-E3F269E2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52625"/>
            <a:ext cx="447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6CE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8C844C-95A3-49D7-B935-96EFB003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24075"/>
            <a:ext cx="413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Virtual Lab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F2F086-5785-47D6-8D68-DC088CA5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76500"/>
            <a:ext cx="4133850" cy="2181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Provision Kali as a local Docker desktop, or Windows / Kali in AWS mode. Apache Guacamole streams the session in the browser.</a:t>
            </a:r>
          </a:p>
        </p:txBody>
      </p: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086350" y="3357563"/>
            <a:ext cx="2019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53901B-AA4E-4252-A0BE-A21A64CD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91125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52"/>
          </a:solidFill>
          <a:ln xmlns:a="http://schemas.openxmlformats.org/drawingml/2006/main" w="9525">
            <a:solidFill>
              <a:srgbClr val="1CB6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1016C6-595E-40ED-878C-6CBC5D50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48275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EGRESS-FREE SANDBOX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B3885F-9711-4F4A-9CC3-5D0623C6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191125"/>
            <a:ext cx="25241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52"/>
          </a:solidFill>
          <a:ln xmlns:a="http://schemas.openxmlformats.org/drawingml/2006/main" w="9525">
            <a:solidFill>
              <a:srgbClr val="CB6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28F191-FB53-465A-8184-0F3D09F0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48275"/>
            <a:ext cx="2371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BROWSER-STREAMED DESKTOP</a:t>
            </a:r>
          </a:p>
        </p:txBody>
      </p:sp>
    </p:spTree>
    <p:extLst>
      <p:ext uri="{BB962C8B-B14F-4D97-AF65-F5344CB8AC3E}">
        <p14:creationId xmlns:p14="http://schemas.microsoft.com/office/powerpoint/2010/main" val="1902864832"/>
      </p:ext>
    </p:extLst>
  </p:cSld>
  <p:transition spd="med" advClick="1">
    <p:fade/>
  </p:transition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3F3103-AB35-4211-A801-DDA586D2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Operator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829C0-5CD0-474C-B8BB-A97B161B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1D4A0-AEA1-4F71-9F9C-B0A481EB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A dark-theme dashboard puts investigations, telemetry, governance and tools behind one authenticated interface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4EB07-FDAE-4900-9D81-6A42FB6F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6E7E9-B7F2-4D62-ACD1-CCBD8D81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C2D2"/>
                </a:solidFill>
                <a:latin typeface="Arial"/>
                <a:ea typeface="Arial"/>
                <a:cs typeface="Arial"/>
              </a:rPr>
              <a:t>SHADOW TRUST  |  SECURITY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B2266-5356-4E05-94EF-C2F3975A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7058dc5730482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67650" y="1695450"/>
            <a:ext cx="3000375" cy="3000375"/>
          </a:xfrm>
          <a:prstGeom xmlns:a="http://schemas.openxmlformats.org/drawingml/2006/main" prst="roundRect">
            <a:avLst>
              <a:gd name="adj" fmla="val 507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E8C5A8-79A4-45EC-BB67-97505207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Command Center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EFF156-3A1F-40C6-97AC-2E3A67DE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57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Tactical overview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Investigations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Event log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Reports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1D99FF-7552-4AF6-986D-4E10564F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66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CB6CE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B6CE6"/>
                </a:solidFill>
                <a:latin typeface="Arial"/>
                <a:ea typeface="Arial"/>
                <a:cs typeface="Arial"/>
              </a:rPr>
              <a:t>Grid monitoring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037DC9-2C26-4F87-9FB9-668B938E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86000"/>
            <a:ext cx="257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Honeypot nodes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Splunk Blue Team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Geo intelligence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917991-CA51-4318-A272-D8AEE710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9FE87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9FE870"/>
                </a:solidFill>
                <a:latin typeface="Arial"/>
                <a:ea typeface="Arial"/>
                <a:cs typeface="Arial"/>
              </a:rPr>
              <a:t>Intelligence + 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154BC-D5F4-4A5A-AE7A-32EAFB94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MITRE matrix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Detection validation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Behavior profiling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GRC and SOC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BE79F6-14A0-47B7-A458-AC068CAE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FC85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C857"/>
                </a:solidFill>
                <a:latin typeface="Arial"/>
                <a:ea typeface="Arial"/>
                <a:cs typeface="Arial"/>
              </a:rPr>
              <a:t>Tools suite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5DD10F-3BE1-4D13-923C-07FBE312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29125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Binary analysis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URL scanner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APK inspector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425" b="0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F8FB"/>
                </a:solidFill>
                <a:latin typeface="Arial"/>
                <a:ea typeface="Arial"/>
                <a:cs typeface="Arial"/>
              </a:rPr>
              <a:t>Virtual Lab</a:t>
            </a:r>
          </a:p>
        </p:txBody>
      </p:sp>
    </p:spTree>
    <p:extLst>
      <p:ext uri="{BB962C8B-B14F-4D97-AF65-F5344CB8AC3E}">
        <p14:creationId xmlns:p14="http://schemas.microsoft.com/office/powerpoint/2010/main" val="173261525"/>
      </p:ext>
    </p:extLst>
  </p:cSld>
  <p:transition spd="med" advClick="1">
    <p:fade/>
  </p:transition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229730-A556-4395-A15E-DCABFCEE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Security controls built into the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CE9FC1-AF70-4D4A-B6E7-51EA8B3F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2C020-D537-477C-9DCB-20EE496E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The deployment assumes the honeypots will be attacked and limits the blast radius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CD69E-948A-4CBC-9014-D0846CD2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A8178D-AF9C-494E-B396-DBA440A0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C2D2"/>
                </a:solidFill>
                <a:latin typeface="Arial"/>
                <a:ea typeface="Arial"/>
                <a:cs typeface="Arial"/>
              </a:rPr>
              <a:t>SHADOW TRUST  |  SECURITY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989716-E145-4178-832C-A44FA26C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80F534-621C-4EA6-89E3-33722E13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1432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5CE6D-0696-413C-9B6C-E4931783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A72C3-E3A0-4217-811F-F6DF3E33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2800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Network separation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C49933-42EB-4D0C-B899-C25DFB51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28003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Honeypot and application networks do not bridge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76FD83-D9BF-45C3-9E96-B46D5882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09750"/>
            <a:ext cx="31432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63A414-4F59-4B3B-83FF-FED4DE71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0975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B6A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C69E9C-B34D-458D-8DD2-5578EA7C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81200"/>
            <a:ext cx="2800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Read-only rule inputs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A46DF9-D700-4516-B887-CAC6723B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33625"/>
            <a:ext cx="28003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Detection rules, YARA rules and scenarios mount read-only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53F397-D4ED-4EF6-9876-76A0532C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09750"/>
            <a:ext cx="31432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5C92C5-C8A4-43E8-A4C8-98FC825E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0975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6CE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F4925D-BC51-4B71-B95B-D037C196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81200"/>
            <a:ext cx="2800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Hardened containers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D0A05F-2D95-4D59-8209-DBE31A74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33625"/>
            <a:ext cx="28003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No-new-privileges, reduced Linux capabilities, memory and PID limits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214DD9-D9AF-49FA-8419-75168586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31432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231514-D4C6-46FB-9CB7-D60864E2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7473A4-A5F0-4699-BD9A-3D6C2D2F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2800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Protected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C08F4A-E707-4748-98FD-E4D04A3B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3875"/>
            <a:ext cx="28003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Quarantine and incident evidence stay out of Nginx-served paths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CE658D-9F26-4255-BFD2-6A50A6FF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10000"/>
            <a:ext cx="31432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C0BBE0-1C2D-4F00-BF36-1D7D1AB8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100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335014-A418-434D-89BE-C6608383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81450"/>
            <a:ext cx="2800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Guarded access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A80DCE-2242-4C63-91C1-886A787D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33875"/>
            <a:ext cx="28003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Authentication, audit logging and rate limiting support API operations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4E29A0-3365-4183-98B5-3DEFE35D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762625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8FD0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FD0EA"/>
                </a:solidFill>
                <a:latin typeface="Arial"/>
                <a:ea typeface="Arial"/>
                <a:cs typeface="Arial"/>
              </a:rPr>
              <a:t>Deployment note: keep port 8000 off untrusted networks and use a reverse proxy with TLS for public exposure.</a:t>
            </a:r>
          </a:p>
        </p:txBody>
      </p:sp>
    </p:spTree>
    <p:extLst>
      <p:ext uri="{BB962C8B-B14F-4D97-AF65-F5344CB8AC3E}">
        <p14:creationId xmlns:p14="http://schemas.microsoft.com/office/powerpoint/2010/main" val="129743608"/>
      </p:ext>
    </p:extLst>
  </p:cSld>
  <p:transition spd="med" advClick="1">
    <p:fade/>
  </p:transition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A5DD7-86C0-4FBB-9F8D-0A78A685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Technology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7EECF-14FB-4D4F-8517-5321D88A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DD5128-B6F8-4753-AB68-63732719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The platform combines a Python control plane with containerized sensors, services and a static operator 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38005-7807-41CA-8421-1A13BB34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11067-D2E6-4624-9667-BB471F20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C2D2"/>
                </a:solidFill>
                <a:latin typeface="Arial"/>
                <a:ea typeface="Arial"/>
                <a:cs typeface="Arial"/>
              </a:rPr>
              <a:t>SHADOW TRUST  |  SECURITY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09223E-3B9B-4C45-9FB0-7B22E958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809750"/>
                <a:gridCol w="3762375"/>
                <a:gridCol w="5400675"/>
              </a:tblGrid>
              <a:tr h="5851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6D1E7"/>
                          </a:solidFill>
                          <a:latin typeface="Arial"/>
                          <a:ea typeface="Arial"/>
                          <a:cs typeface="Arial"/>
                        </a:rPr>
                        <a:t>Layer</a:t>
                      </a:r>
                    </a:p>
                  </a:txBody>
                  <a:tcPr marL="91440" marR="91440" marT="45720" marB="45720">
                    <a:solidFill>
                      <a:srgbClr val="1036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6D1E7"/>
                          </a:solidFill>
                          <a:latin typeface="Arial"/>
                          <a:ea typeface="Arial"/>
                          <a:cs typeface="Arial"/>
                        </a:rPr>
                        <a:t>Selected technology</a:t>
                      </a:r>
                    </a:p>
                  </a:txBody>
                  <a:tcPr marL="91440" marR="91440" marT="45720" marB="45720">
                    <a:solidFill>
                      <a:srgbClr val="1036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6D1E7"/>
                          </a:solidFill>
                          <a:latin typeface="Arial"/>
                          <a:ea typeface="Arial"/>
                          <a:cs typeface="Arial"/>
                        </a:rPr>
                        <a:t>Platform role</a:t>
                      </a:r>
                    </a:p>
                  </a:txBody>
                  <a:tcPr marL="91440" marR="91440" marT="45720" marB="45720">
                    <a:solidFill>
                      <a:srgbClr val="10364E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3F8FB"/>
                          </a:solidFill>
                          <a:latin typeface="Arial"/>
                          <a:ea typeface="Arial"/>
                          <a:cs typeface="Arial"/>
                        </a:rPr>
                        <a:t>Backend</a:t>
                      </a:r>
                    </a:p>
                  </a:txBody>
                  <a:tcPr marL="91440" marR="91440" marT="45720" marB="45720">
                    <a:solidFill>
                      <a:srgbClr val="0924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A8C2D2"/>
                          </a:solidFill>
                          <a:latin typeface="Arial"/>
                          <a:ea typeface="Arial"/>
                          <a:cs typeface="Arial"/>
                        </a:rPr>
                        <a:t>Python 3.11, FastAPI, SQLAlchemy, aiomysql</a:t>
                      </a:r>
                    </a:p>
                  </a:txBody>
                  <a:tcPr marL="91440" marR="91440" marT="45720" marB="45720">
                    <a:solidFill>
                      <a:srgbClr val="0924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A8C2D2"/>
                          </a:solidFill>
                          <a:latin typeface="Arial"/>
                          <a:ea typeface="Arial"/>
                          <a:cs typeface="Arial"/>
                        </a:rPr>
                        <a:t>Async APIs, collection, detection and incident services</a:t>
                      </a:r>
                    </a:p>
                  </a:txBody>
                  <a:tcPr marL="91440" marR="91440" marT="45720" marB="45720">
                    <a:solidFill>
                      <a:srgbClr val="092437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3F8FB"/>
                          </a:solidFill>
                          <a:latin typeface="Arial"/>
                          <a:ea typeface="Arial"/>
                          <a:cs typeface="Arial"/>
                        </a:rPr>
                        <a:t>Data</a:t>
                      </a:r>
                    </a:p>
                  </a:txBody>
                  <a:tcPr marL="91440" marR="91440" marT="45720" marB="45720">
                    <a:solidFill>
                      <a:srgbClr val="0D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A8C2D2"/>
                          </a:solidFill>
                          <a:latin typeface="Arial"/>
                          <a:ea typeface="Arial"/>
                          <a:cs typeface="Arial"/>
                        </a:rPr>
                        <a:t>MariaDB 11, PostgreSQL for Guacamole</a:t>
                      </a:r>
                    </a:p>
                  </a:txBody>
                  <a:tcPr marL="91440" marR="91440" marT="45720" marB="45720">
                    <a:solidFill>
                      <a:srgbClr val="0D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A8C2D2"/>
                          </a:solidFill>
                          <a:latin typeface="Arial"/>
                          <a:ea typeface="Arial"/>
                          <a:cs typeface="Arial"/>
                        </a:rPr>
                        <a:t>Application persistence and remote desktop support</a:t>
                      </a:r>
                    </a:p>
                  </a:txBody>
                  <a:tcPr marL="91440" marR="91440" marT="45720" marB="45720">
                    <a:solidFill>
                      <a:srgbClr val="0D2B3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3F8FB"/>
                          </a:solidFill>
                          <a:latin typeface="Arial"/>
                          <a:ea typeface="Arial"/>
                          <a:cs typeface="Arial"/>
                        </a:rPr>
                        <a:t>Frontend</a:t>
                      </a:r>
                    </a:p>
                  </a:txBody>
                  <a:tcPr marL="91440" marR="91440" marT="45720" marB="45720">
                    <a:solidFill>
                      <a:srgbClr val="0924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A8C2D2"/>
                          </a:solidFill>
                          <a:latin typeface="Arial"/>
                          <a:ea typeface="Arial"/>
                          <a:cs typeface="Arial"/>
                        </a:rPr>
                        <a:t>HTML, CSS, JavaScript, Nginx, Chart.js</a:t>
                      </a:r>
                    </a:p>
                  </a:txBody>
                  <a:tcPr marL="91440" marR="91440" marT="45720" marB="45720">
                    <a:solidFill>
                      <a:srgbClr val="0924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A8C2D2"/>
                          </a:solidFill>
                          <a:latin typeface="Arial"/>
                          <a:ea typeface="Arial"/>
                          <a:cs typeface="Arial"/>
                        </a:rPr>
                        <a:t>Operator dashboard and live visualizations</a:t>
                      </a:r>
                    </a:p>
                  </a:txBody>
                  <a:tcPr marL="91440" marR="91440" marT="45720" marB="45720">
                    <a:solidFill>
                      <a:srgbClr val="092437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3F8FB"/>
                          </a:solidFill>
                          <a:latin typeface="Arial"/>
                          <a:ea typeface="Arial"/>
                          <a:cs typeface="Arial"/>
                        </a:rPr>
                        <a:t>Detection</a:t>
                      </a:r>
                    </a:p>
                  </a:txBody>
                  <a:tcPr marL="91440" marR="91440" marT="45720" marB="45720">
                    <a:solidFill>
                      <a:srgbClr val="0D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A8C2D2"/>
                          </a:solidFill>
                          <a:latin typeface="Arial"/>
                          <a:ea typeface="Arial"/>
                          <a:cs typeface="Arial"/>
                        </a:rPr>
                        <a:t>YAML, Sigma, NetworkX, MITRE mapping</a:t>
                      </a:r>
                    </a:p>
                  </a:txBody>
                  <a:tcPr marL="91440" marR="91440" marT="45720" marB="45720">
                    <a:solidFill>
                      <a:srgbClr val="0D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A8C2D2"/>
                          </a:solidFill>
                          <a:latin typeface="Arial"/>
                          <a:ea typeface="Arial"/>
                          <a:cs typeface="Arial"/>
                        </a:rPr>
                        <a:t>Explainable rules, correlation and behavior analysis</a:t>
                      </a:r>
                    </a:p>
                  </a:txBody>
                  <a:tcPr marL="91440" marR="91440" marT="45720" marB="45720">
                    <a:solidFill>
                      <a:srgbClr val="0D2B3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3F8FB"/>
                          </a:solidFill>
                          <a:latin typeface="Arial"/>
                          <a:ea typeface="Arial"/>
                          <a:cs typeface="Arial"/>
                        </a:rPr>
                        <a:t>Analysis</a:t>
                      </a:r>
                    </a:p>
                  </a:txBody>
                  <a:tcPr marL="91440" marR="91440" marT="45720" marB="45720">
                    <a:solidFill>
                      <a:srgbClr val="0924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A8C2D2"/>
                          </a:solidFill>
                          <a:latin typeface="Arial"/>
                          <a:ea typeface="Arial"/>
                          <a:cs typeface="Arial"/>
                        </a:rPr>
                        <a:t>YARA, ClamAV, MobSF, optional CAPE</a:t>
                      </a:r>
                    </a:p>
                  </a:txBody>
                  <a:tcPr marL="91440" marR="91440" marT="45720" marB="45720">
                    <a:solidFill>
                      <a:srgbClr val="0924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A8C2D2"/>
                          </a:solidFill>
                          <a:latin typeface="Arial"/>
                          <a:ea typeface="Arial"/>
                          <a:cs typeface="Arial"/>
                        </a:rPr>
                        <a:t>Binary, APK and malware analysis</a:t>
                      </a:r>
                    </a:p>
                  </a:txBody>
                  <a:tcPr marL="91440" marR="91440" marT="45720" marB="45720">
                    <a:solidFill>
                      <a:srgbClr val="092437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3F8FB"/>
                          </a:solidFill>
                          <a:latin typeface="Arial"/>
                          <a:ea typeface="Arial"/>
                          <a:cs typeface="Arial"/>
                        </a:rPr>
                        <a:t>Operations</a:t>
                      </a:r>
                    </a:p>
                  </a:txBody>
                  <a:tcPr marL="91440" marR="91440" marT="45720" marB="45720">
                    <a:solidFill>
                      <a:srgbClr val="0D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A8C2D2"/>
                          </a:solidFill>
                          <a:latin typeface="Arial"/>
                          <a:ea typeface="Arial"/>
                          <a:cs typeface="Arial"/>
                        </a:rPr>
                        <a:t>Docker Compose, Guacamole, Boto3</a:t>
                      </a:r>
                    </a:p>
                  </a:txBody>
                  <a:tcPr marL="91440" marR="91440" marT="45720" marB="45720">
                    <a:solidFill>
                      <a:srgbClr val="0D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A8C2D2"/>
                          </a:solidFill>
                          <a:latin typeface="Arial"/>
                          <a:ea typeface="Arial"/>
                          <a:cs typeface="Arial"/>
                        </a:rPr>
                        <a:t>Local orchestration, labs and optional AWS mode</a:t>
                      </a:r>
                    </a:p>
                  </a:txBody>
                  <a:tcPr marL="91440" marR="91440" marT="45720" marB="45720">
                    <a:solidFill>
                      <a:srgbClr val="0D2B3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8108412"/>
      </p:ext>
    </p:extLst>
  </p:cSld>
  <p:transition spd="med" advClick="1">
    <p:fade/>
  </p:transition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39D3F7-AEE9-494F-8962-7907BE02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Deployment modes and operating entry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0362F-F977-4C20-BACE-68E8076D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3C817-7BB4-4ED2-9F10-D1AA8EA5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Local mode starts the full honeynet with Docker Compose; AWS mode adds cloud telemetry and cloud VMs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488E4-16A1-4EBA-8219-88CACF93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56350-3C15-48E8-AF9C-88EFA5A0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C2D2"/>
                </a:solidFill>
                <a:latin typeface="Arial"/>
                <a:ea typeface="Arial"/>
                <a:cs typeface="Arial"/>
              </a:rPr>
              <a:t>SHADOW TRUST  |  SECURITY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E447B1-4C52-4CEC-9EBE-03AB9CBC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1A224-488D-4808-94EE-30289C06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8100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C2FD7-2342-43CD-A05D-8E590FA0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810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7631F-45D1-46D2-95D2-23C454F7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3467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Local mode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22DF8-7C38-425C-875A-21AAFDF2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34671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docker compose 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Telemetry: local telemetry/raw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Virtual Lab: Kali Docker container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Cost: local infrastructure only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51806-19AD-4AEE-8539-83B9623F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09750"/>
            <a:ext cx="38100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AA10FB-9849-4037-8151-2A6D35BC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09750"/>
            <a:ext cx="3810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6CE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333131-BEEE-4608-AC3E-4D9C4CB6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81200"/>
            <a:ext cx="3467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AWS mode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7471D5-3A29-472A-A956-006E8B44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33625"/>
            <a:ext cx="34671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INFRA_PROVIDER=aws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Telemetry: S3 pipeline poller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Virtual Lab: EC2 Windows / Kali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Cost: AWS account usage</a:t>
            </a:r>
          </a:p>
        </p:txBody>
      </p: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419600" y="3048000"/>
            <a:ext cx="3352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612455-4D52-4369-ACF0-0F7CB680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52"/>
          </a:solidFill>
          <a:ln xmlns:a="http://schemas.openxmlformats.org/drawingml/2006/main" w="9525">
            <a:solidFill>
              <a:srgbClr val="36D1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21EA05-AA67-4E45-B6D0-EA80E337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137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Dashboard  :5500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557A5C-E2E6-4477-AD22-36FBC560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048250"/>
            <a:ext cx="1162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52"/>
          </a:solidFill>
          <a:ln xmlns:a="http://schemas.openxmlformats.org/drawingml/2006/main" w="9525">
            <a:solidFill>
              <a:srgbClr val="1CB6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EDCB60-2856-486B-AE87-425D7D15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1054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API  :8000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C912DC-7DE6-4BBC-937D-8598CF44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48250"/>
            <a:ext cx="1352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52"/>
          </a:solidFill>
          <a:ln xmlns:a="http://schemas.openxmlformats.org/drawingml/2006/main" w="9525">
            <a:solidFill>
              <a:srgbClr val="CB6C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05FD05-EC87-42FF-BB05-0650382E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1054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MobSF  :5055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34B7A0-5AE1-476D-89B2-2E8CFB78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048250"/>
            <a:ext cx="1714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52"/>
          </a:solidFill>
          <a:ln xmlns:a="http://schemas.openxmlformats.org/drawingml/2006/main" w="9525">
            <a:solidFill>
              <a:srgbClr val="FFC85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FB680B-0A2D-4BFD-A8A8-AD5D3538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054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Guacamole  :8080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EF9286-48C1-46F3-A627-6B61A46E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48250"/>
            <a:ext cx="1866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52"/>
          </a:solidFill>
          <a:ln xmlns:a="http://schemas.openxmlformats.org/drawingml/2006/main" w="9525">
            <a:solidFill>
              <a:srgbClr val="9FE87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32F972-31A7-459A-BE78-4A96E092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054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phpMyAdmin  :8081</a:t>
            </a:r>
          </a:p>
        </p:txBody>
      </p:sp>
    </p:spTree>
    <p:extLst>
      <p:ext uri="{BB962C8B-B14F-4D97-AF65-F5344CB8AC3E}">
        <p14:creationId xmlns:p14="http://schemas.microsoft.com/office/powerpoint/2010/main" val="196552582"/>
      </p:ext>
    </p:extLst>
  </p:cSld>
  <p:transition spd="med" advClick="1">
    <p:fade/>
  </p:transition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6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A60682-3353-4C47-9A61-517B6D48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Presentation demo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C23C3-AE23-4F3D-9D5A-EA3E36AF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3D34CE-F0C4-45B7-8D22-7D110F7D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A concise walkthrough that shows how the system converts a controlled signal into an explainable outcome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9EB20-58E2-45B9-B2F4-0B5F03FC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87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ED1B1-5BB6-4718-B6DD-397587CF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9130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8C2D2"/>
                </a:solidFill>
                <a:latin typeface="Arial"/>
                <a:ea typeface="Arial"/>
                <a:cs typeface="Arial"/>
              </a:rPr>
              <a:t>SHADOW TRUST  |  SECURITY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F3F82-D89E-4BF8-AD17-0E188D07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0BC57-0C1A-4F16-AB9F-9B0B9EC7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857375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ADED3-420C-4AA6-A596-5A72ADB9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857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69DA8C-75A7-47C4-9451-912BE49E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90825"/>
            <a:ext cx="1514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Start stack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713441-A7F8-40AC-9064-82C1457F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5144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Run setup and open the operator 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CCC7BA-E10E-4F6F-B71B-6C6ECC57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000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1E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C9B702-8A18-4124-A39A-2A5674AC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114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D28DF9-2B6B-416F-8CA3-99D28B40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19375"/>
            <a:ext cx="1857375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56E9CD-8247-4450-85F8-77B39E81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19375"/>
            <a:ext cx="1857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726CFD-E36E-44F6-B390-583D2F0C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90825"/>
            <a:ext cx="1514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Generate signal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5F4A56-A18E-4561-8704-C0568C99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43250"/>
            <a:ext cx="15144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Replay telemetry or execute an authorized local scenario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33E5FC-D0D8-48D5-B109-1C950E39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000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8D89A0-C511-4994-8259-5AD0F74A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114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965943-703B-4E4D-B5B9-F4FC3B1B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19375"/>
            <a:ext cx="1857375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DCB991-BE8A-4793-983E-5E819E51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19375"/>
            <a:ext cx="1857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6CE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DBD0D7-E427-46C6-A6D8-A38CFB6A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90825"/>
            <a:ext cx="1514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Investigate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5B4147-DAA4-4A7D-9BD4-D7A34C96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43250"/>
            <a:ext cx="15144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Trace event, detection, timeline and MITRE coverage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CDEF33-34AF-46B3-919B-2F97423D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000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6CE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B05159-9BE4-4B55-8B41-7699C288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114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F06280-C34A-4F32-849F-B0953E72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1857375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4AB591-A02D-44A6-8EF7-175A6F63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1857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93D6F5-7493-46F6-B8A8-2FEA2142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90825"/>
            <a:ext cx="1514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71303F-F3E5-4779-AD83-155380C2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43250"/>
            <a:ext cx="15144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Review pass / partial / fail and evidence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5565D5-D912-4BF3-904F-9A86F586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000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C5D019-368C-4CCC-A451-CF8FB2A7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114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7D0C12-F270-4EAD-BE45-EDEAA9AC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19375"/>
            <a:ext cx="1857375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C2A3E"/>
          </a:solidFill>
          <a:ln xmlns:a="http://schemas.openxmlformats.org/drawingml/2006/main" w="9525">
            <a:solidFill>
              <a:srgbClr val="2A587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C04BD9-D31A-4F1F-8CC4-899720F6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19375"/>
            <a:ext cx="1857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FC8633-3EA8-4642-8A3D-A2C4C3DE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90825"/>
            <a:ext cx="1514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3FD7D2-791B-46D0-9D0E-E74D4F06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143250"/>
            <a:ext cx="15144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A8C2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8C2D2"/>
                </a:solidFill>
                <a:latin typeface="Arial"/>
                <a:ea typeface="Arial"/>
                <a:cs typeface="Arial"/>
              </a:rPr>
              <a:t>Export an evidence-backed PDF or readiness assessment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A96AF-F6E0-4F43-98D9-2075496E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0002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E870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C43574-F30E-4E25-9960-3DC24935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114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cxnSp>
        <p:nvCxnSpPr>
          <p:cNvPr id="79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428875" y="34766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tail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13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714875" y="34766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000875" y="34766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tail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286875" y="34766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1E7"/>
            </a:solidFill>
            <a:prstDash val="solid"/>
            <a:tailEnd type="triangle" w="sm" len="sm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D9AB81-576D-4D7D-9EF8-5FA5D66F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8637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1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3F8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F8FB"/>
                </a:solidFill>
                <a:latin typeface="Arial"/>
                <a:ea typeface="Arial"/>
                <a:cs typeface="Arial"/>
              </a:rPr>
              <a:t>Shadow Trust packages the complete security-operations loop: observe the attacker, explain the detection, preserve the evidence and improve coverage.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D71C67-23C3-48B7-B6C7-461DEA1B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6D1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6D1E7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7848729"/>
      </p:ext>
    </p:extLst>
  </p:cSld>
  <p:transition spd="med" advClick="1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2026-09-11T08:27:35.6140000Z</dcterms:created>
  <dcterms:modified xsi:type="dcterms:W3CDTF">2026-09-11T08:27:35.6140000Z</dcterms:modified>
</coreProperties>
</file>